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2" r:id="rId4"/>
    <p:sldId id="260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2"/>
    <p:restoredTop sz="88675"/>
  </p:normalViewPr>
  <p:slideViewPr>
    <p:cSldViewPr snapToGrid="0">
      <p:cViewPr varScale="1">
        <p:scale>
          <a:sx n="73" d="100"/>
          <a:sy n="73" d="100"/>
        </p:scale>
        <p:origin x="1027" y="43"/>
      </p:cViewPr>
      <p:guideLst/>
    </p:cSldViewPr>
  </p:slid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DE195-31E1-F341-BDAF-D84DA7A60D42}" type="datetimeFigureOut">
              <a:t>2026/4/27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B078B-B495-434F-BBCF-3FC380F8FA06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073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特权级已经是上个学期理论课的内容了</a:t>
            </a:r>
            <a:r>
              <a:rPr lang="zh-CN" altLang="en-US"/>
              <a:t>，所以还是用几页</a:t>
            </a:r>
            <a:r>
              <a:rPr lang="en-US" altLang="zh-CN"/>
              <a:t> PPT</a:t>
            </a:r>
            <a:r>
              <a:rPr lang="zh-CN" altLang="en-US"/>
              <a:t> 帮大家复习一下。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B078B-B495-434F-BBCF-3FC380F8FA06}" type="slidenum">
              <a:rPr lang="en-CN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939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这张</a:t>
            </a:r>
            <a:r>
              <a:rPr lang="en-US" altLang="zh-CN" dirty="0"/>
              <a:t>PPT</a:t>
            </a:r>
            <a:r>
              <a:rPr lang="zh-CN" altLang="en-US" dirty="0"/>
              <a:t>来自去年助教宝林</a:t>
            </a:r>
            <a:r>
              <a:rPr lang="en-US" altLang="zh-CN" dirty="0"/>
              <a:t>gg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B078B-B495-434F-BBCF-3FC380F8FA06}" type="slidenum">
              <a:rPr lang="en-US" altLang="zh-CN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49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这些问题我们在实现中断处理的时候已经解决了</a:t>
            </a:r>
            <a:r>
              <a:rPr lang="zh-CN" altLang="en-US"/>
              <a:t>。这次的一些不同就是多了虚拟内存和新的特权模式</a:t>
            </a:r>
            <a:r>
              <a:rPr lang="en-US" altLang="zh-CN"/>
              <a:t>U-mode</a:t>
            </a:r>
            <a:r>
              <a:rPr lang="zh-CN" altLang="en-US"/>
              <a:t> ，还需要管理两个栈。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B078B-B495-434F-BBCF-3FC380F8FA06}" type="slidenum">
              <a:rPr lang="en-CN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969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FA6D-B883-4BD9-428A-03194302B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869AD-3ADA-A7C1-A52A-4C8DECD95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181E-995F-CEA9-00FC-51DBA0592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t>2026/4/27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7E404-5ED9-73E4-A12B-4D241EDA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322D9-6FA8-845F-9DB7-FBE98766C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382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7195C-DDFF-ECA6-0CE5-91B43DD2C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E311A-FC93-AFD4-0471-8BE02238A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6AE8A-0A49-5CD3-A4D5-0B5943842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t>2026/4/27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DA7FA-A1AA-B48A-82E5-AA67039C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57A2F-0530-E667-0089-C6B71978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5737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F7953-6010-7838-F30F-99CD0448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B0766-D18F-B352-C0C9-08248E254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DD0E7-31A9-2EE5-196A-9245969A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t>2026/4/27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C998C-BD24-B402-0CEA-BFDEDC0A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058FC-83F9-AF37-1921-33C0B660A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37987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FD2A5-22DF-7E59-9412-4985650A9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3885E-B549-041B-75D2-90A81134B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2819A-76EB-90C3-EDF7-A9BA81B76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17305-2BD8-CCDF-8B71-80FAAB74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t>2026/4/27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509AC-6D51-F8AF-51B6-5F1BD060B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97034-7FB4-77E1-265E-07A57E60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0889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337AD-128D-F79E-65D7-6727A3143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94EF6-F1EC-FBAC-F37A-B8FCE7FD7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152CB-00BA-A8C7-959A-2B9B9796D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0599F-2228-4379-2E98-56FF5DA66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77F25-ECBE-A828-CBE2-B5689F9BEB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D449A6-8E8A-C2A7-FFEC-0D6378D03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t>2026/4/27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C6F8A-2E22-A8F7-C9C9-B4007604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E7AF2-F3AF-1351-A5C5-361F683E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08208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4C30-28FF-F163-4872-E46E3BD4F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7BEFDD-3E52-CC4A-2C7D-F46D4D23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t>2026/4/27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3E892-A3E6-A36D-9ABC-1EC7125B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B8D54-4603-13FE-6939-29058B2D3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6542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5B5D7-9D95-C31D-714C-FD266303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t>2026/4/27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BA93D9-37E3-A712-6FF3-47E10EC0D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12636-6C82-259C-2896-3E8A3FF4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36165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8A98-EABB-099E-1C8F-920E7621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FB4F6-89C3-C5C0-2462-8F3148A47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31740-29B3-55FE-B4D7-1FD6187B4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CE685-7605-0E80-F69B-E7332565A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t>2026/4/27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744F3-07B1-0682-1A1C-E3CA25B1C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019E0-7DA0-F992-40D5-BBA4AD253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402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C9A3-BDED-DBDC-3E48-331BA2844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6B00E6-A1D0-3978-89B8-88283E6E3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49306-44D0-3C0D-F388-EF2826203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BA459-AE04-2CFE-1237-26157406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t>2026/4/27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5D454-A9A9-208A-E846-394CBFE7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3E60A-27C9-B21E-C62C-71EC0829A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48262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386D0-E20E-FA89-4F8E-7973E2B8A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4E482-89B8-20CE-3EA2-FB7568C8D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069-F1F9-91AB-B5CE-C336FC7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t>2026/4/27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FF9B1-786E-77FF-469E-13D25A86D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F7C32-4414-FA6B-0160-2E76483E4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78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CA4AE3-C83C-9BD0-CE24-CDA8B7C23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82910-6B07-878A-4236-E48E5D0AA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1A189-0E03-8FBD-4E31-98C73FD83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C28A-3622-B344-98A9-BD964218D813}" type="datetimeFigureOut">
              <a:t>2026/4/27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D22D2-015B-E467-504F-75129317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587F9-22B6-3638-453F-4FF12C186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A22CD-01FC-5747-982D-7D1CF94D61B1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084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FEB62-70D0-9E16-246D-A036F4A6A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B66F7-65B1-1D1C-2878-8FE7791B2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1C7A9-C380-7DBA-CE26-A4D088C58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59C28A-3622-B344-98A9-BD964218D813}" type="datetimeFigureOut">
              <a:t>2026/4/27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E8B89-2F88-B369-44DA-8EB90EA28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C4B09-05E6-1FD2-3FFE-3D94EFC71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A22CD-01FC-5747-982D-7D1CF94D61B1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5218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08EE-C65B-5B10-6CD6-1FFEB2DE8F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/>
              <a:t>Lab4: User Mode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8B13D-9CD3-F7F0-1F18-7924B3ECDE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ZJU Sys3 @</a:t>
            </a:r>
            <a:r>
              <a:rPr lang="en-US" dirty="0"/>
              <a:t>Saure/</a:t>
            </a:r>
            <a:r>
              <a:rPr lang="en-US" altLang="zh-CN" dirty="0"/>
              <a:t>Cao Yu</a:t>
            </a:r>
            <a:endParaRPr lang="en-CN" dirty="0"/>
          </a:p>
          <a:p>
            <a:r>
              <a:rPr lang="en-CN" dirty="0"/>
              <a:t>Apr.2</a:t>
            </a:r>
            <a:r>
              <a:rPr lang="en-US" dirty="0"/>
              <a:t>7</a:t>
            </a:r>
            <a:r>
              <a:rPr lang="en-CN" dirty="0"/>
              <a:t> 202</a:t>
            </a:r>
            <a:r>
              <a:rPr lang="en-US" dirty="0"/>
              <a:t>6</a:t>
            </a:r>
            <a:endParaRPr lang="en-CN" dirty="0"/>
          </a:p>
        </p:txBody>
      </p:sp>
      <p:pic>
        <p:nvPicPr>
          <p:cNvPr id="4" name="Picture 3" descr="A blue logo with a bird and text&#10;&#10;AI-generated content may be incorrect.">
            <a:extLst>
              <a:ext uri="{FF2B5EF4-FFF2-40B4-BE49-F238E27FC236}">
                <a16:creationId xmlns:a16="http://schemas.microsoft.com/office/drawing/2014/main" id="{F472000E-6CF9-4E8E-1CFC-A5E2DE662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4866" y="282223"/>
            <a:ext cx="1230489" cy="123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606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FE1E6-5618-7FA1-CA39-1A381D53C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Why Privilege Levels?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9594E-EA09-5C2A-5614-93D3B3615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5024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Privilege levels are used to provide </a:t>
            </a:r>
            <a:r>
              <a:rPr lang="en-US">
                <a:solidFill>
                  <a:srgbClr val="00B0F0"/>
                </a:solidFill>
              </a:rPr>
              <a:t>protection between different components of the software stack</a:t>
            </a:r>
            <a:r>
              <a:rPr lang="en-US"/>
              <a:t>, and attempts to perform operations not permitted by the current privilege mode will cause an exception to be raised. These exceptions will normally cause </a:t>
            </a:r>
            <a:r>
              <a:rPr lang="en-US">
                <a:solidFill>
                  <a:srgbClr val="00B0F0"/>
                </a:solidFill>
              </a:rPr>
              <a:t>traps into an underlying execution environment</a:t>
            </a:r>
            <a:r>
              <a:rPr lang="en-US"/>
              <a:t>.</a:t>
            </a:r>
          </a:p>
          <a:p>
            <a:endParaRPr lang="en-CN"/>
          </a:p>
        </p:txBody>
      </p:sp>
      <p:pic>
        <p:nvPicPr>
          <p:cNvPr id="4" name="Picture 3" descr="A blue logo with a bird and text&#10;&#10;AI-generated content may be incorrect.">
            <a:extLst>
              <a:ext uri="{FF2B5EF4-FFF2-40B4-BE49-F238E27FC236}">
                <a16:creationId xmlns:a16="http://schemas.microsoft.com/office/drawing/2014/main" id="{1B441435-16DE-B0B4-3F36-8A9403BB9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4866" y="282223"/>
            <a:ext cx="1230489" cy="123048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9091225-4CCC-FC89-9FCC-9CB99F873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094" y="2249539"/>
            <a:ext cx="4773706" cy="3503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F1B178-5025-658D-7F2A-0EF9D5E06BEE}"/>
              </a:ext>
            </a:extLst>
          </p:cNvPr>
          <p:cNvSpPr txBox="1"/>
          <p:nvPr/>
        </p:nvSpPr>
        <p:spPr>
          <a:xfrm>
            <a:off x="8667302" y="5371857"/>
            <a:ext cx="1411881" cy="370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>
                <a:solidFill>
                  <a:schemeClr val="bg1"/>
                </a:solidFill>
              </a:rPr>
              <a:t>Application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89B8F-2189-EC28-68DC-C13EFF3CCE1F}"/>
              </a:ext>
            </a:extLst>
          </p:cNvPr>
          <p:cNvSpPr txBox="1"/>
          <p:nvPr/>
        </p:nvSpPr>
        <p:spPr>
          <a:xfrm>
            <a:off x="8667302" y="4270421"/>
            <a:ext cx="1411881" cy="370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>
                <a:solidFill>
                  <a:schemeClr val="bg1"/>
                </a:solidFill>
              </a:rPr>
              <a:t>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6DDBFA-0CC9-1CEB-424D-44B476E820C8}"/>
              </a:ext>
            </a:extLst>
          </p:cNvPr>
          <p:cNvSpPr txBox="1"/>
          <p:nvPr/>
        </p:nvSpPr>
        <p:spPr>
          <a:xfrm>
            <a:off x="8667302" y="3137812"/>
            <a:ext cx="1411881" cy="370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>
                <a:solidFill>
                  <a:schemeClr val="bg1"/>
                </a:solidFill>
              </a:rPr>
              <a:t>OpenSBI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2CF46-30A1-4447-8259-F3B86B2DA92A}"/>
              </a:ext>
            </a:extLst>
          </p:cNvPr>
          <p:cNvSpPr txBox="1"/>
          <p:nvPr/>
        </p:nvSpPr>
        <p:spPr>
          <a:xfrm>
            <a:off x="0" y="6499819"/>
            <a:ext cx="9767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>
                <a:solidFill>
                  <a:schemeClr val="bg1">
                    <a:lumMod val="75000"/>
                  </a:schemeClr>
                </a:solidFill>
              </a:rPr>
              <a:t>Image source: 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https://www.cs.mu.edu/\~brylow/cosc3250/Spring2023/Projects/Project5.html</a:t>
            </a:r>
            <a:endParaRPr lang="en-CN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623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80A2F-F1B8-3E26-B36B-EA08F4C4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Some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FDFB0-853F-7FD4-511B-D07D3A8ED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45727" cy="4351338"/>
          </a:xfrm>
        </p:spPr>
        <p:txBody>
          <a:bodyPr/>
          <a:lstStyle/>
          <a:p>
            <a:r>
              <a:rPr lang="en-CN"/>
              <a:t>(trap) How to keep state of the lower privilege mode?</a:t>
            </a:r>
          </a:p>
          <a:p>
            <a:r>
              <a:rPr lang="en-CN"/>
              <a:t>(return-from-trap) How to restore state of the lower privilege mode?</a:t>
            </a:r>
          </a:p>
          <a:p>
            <a:r>
              <a:rPr lang="en-CN"/>
              <a:t>How to pass information between different privilege mode?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4890399-49F8-4950-9414-A860384C0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094" y="2249539"/>
            <a:ext cx="4773706" cy="3503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CF6331-BEAC-CB3B-25A2-82AD14064D44}"/>
              </a:ext>
            </a:extLst>
          </p:cNvPr>
          <p:cNvSpPr txBox="1"/>
          <p:nvPr/>
        </p:nvSpPr>
        <p:spPr>
          <a:xfrm>
            <a:off x="8667302" y="5371857"/>
            <a:ext cx="1411881" cy="370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>
                <a:solidFill>
                  <a:schemeClr val="bg1"/>
                </a:solidFill>
              </a:rPr>
              <a:t>Application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039305-023A-7C36-3355-6745D51C8355}"/>
              </a:ext>
            </a:extLst>
          </p:cNvPr>
          <p:cNvSpPr txBox="1"/>
          <p:nvPr/>
        </p:nvSpPr>
        <p:spPr>
          <a:xfrm>
            <a:off x="8667302" y="4270421"/>
            <a:ext cx="1411881" cy="370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>
                <a:solidFill>
                  <a:schemeClr val="bg1"/>
                </a:solidFill>
              </a:rPr>
              <a:t>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6C103-4F5B-879D-81FA-DEA87D2A4257}"/>
              </a:ext>
            </a:extLst>
          </p:cNvPr>
          <p:cNvSpPr txBox="1"/>
          <p:nvPr/>
        </p:nvSpPr>
        <p:spPr>
          <a:xfrm>
            <a:off x="8667302" y="3137812"/>
            <a:ext cx="1411881" cy="370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>
                <a:solidFill>
                  <a:schemeClr val="bg1"/>
                </a:solidFill>
              </a:rPr>
              <a:t>OpenSBI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2310E7-0C98-988F-100B-470D24B24F3B}"/>
              </a:ext>
            </a:extLst>
          </p:cNvPr>
          <p:cNvSpPr txBox="1"/>
          <p:nvPr/>
        </p:nvSpPr>
        <p:spPr>
          <a:xfrm>
            <a:off x="0" y="6499819"/>
            <a:ext cx="9767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>
                <a:solidFill>
                  <a:schemeClr val="bg1">
                    <a:lumMod val="75000"/>
                  </a:schemeClr>
                </a:solidFill>
              </a:rPr>
              <a:t>Image source: 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https://www.cs.mu.edu/\~brylow/cosc3250/Spring2023/Projects/Project5.html</a:t>
            </a:r>
            <a:endParaRPr lang="en-CN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597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53865-45ED-F047-E9ED-5D7B02467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System Calls</a:t>
            </a:r>
            <a:r>
              <a:rPr lang="en-US" dirty="0"/>
              <a:t>(1)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1F9DE-2D0F-8135-10CF-5C4CF266E156}"/>
              </a:ext>
            </a:extLst>
          </p:cNvPr>
          <p:cNvSpPr txBox="1"/>
          <p:nvPr/>
        </p:nvSpPr>
        <p:spPr>
          <a:xfrm>
            <a:off x="0" y="6499819"/>
            <a:ext cx="5673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>
                    <a:lumMod val="75000"/>
                  </a:schemeClr>
                </a:solidFill>
              </a:rPr>
              <a:t>Image source: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https://www.kernel.org/doc/man-pages/</a:t>
            </a:r>
            <a:endParaRPr lang="en-CN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3EBF9F7-E73C-F233-C4B1-A6B5FEEEF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118" y="1588458"/>
            <a:ext cx="4875205" cy="49113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0C9092E-ED02-2D45-37B0-1AF6BEE39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781" y="1373310"/>
            <a:ext cx="5312937" cy="534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17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9F9EB-5D41-41B3-D2D7-C422829A4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D62CA-9BE4-DC1B-1DF7-B2C311E8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System Calls</a:t>
            </a:r>
            <a:r>
              <a:rPr lang="en-US" dirty="0"/>
              <a:t>(2)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0E17F-160F-6B7B-48C1-7F23B4651A08}"/>
              </a:ext>
            </a:extLst>
          </p:cNvPr>
          <p:cNvSpPr txBox="1"/>
          <p:nvPr/>
        </p:nvSpPr>
        <p:spPr>
          <a:xfrm>
            <a:off x="0" y="6499819"/>
            <a:ext cx="5673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>
                    <a:lumMod val="75000"/>
                  </a:schemeClr>
                </a:solidFill>
              </a:rPr>
              <a:t>Image source: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https://www.kernel.org/doc/man-pages/</a:t>
            </a:r>
            <a:endParaRPr lang="en-CN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A90115-930C-CAAF-949D-CC6B16361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39" y="1690688"/>
            <a:ext cx="4229690" cy="13336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063FD70-BB6F-06A1-EB21-A6873A784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39" y="3479598"/>
            <a:ext cx="6096851" cy="105742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D39B85D-F867-DFDF-725D-F8D793745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285" y="2323955"/>
            <a:ext cx="4725059" cy="66684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40DA53-4B5D-67C9-C5D1-63D261944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0285" y="4537021"/>
            <a:ext cx="5858693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09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3CBDA-FE77-A3E9-782B-2A3FCA05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920DEF6-D974-95EF-FA75-B91CDB8E4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891" y="1148381"/>
            <a:ext cx="9188618" cy="5351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030014-1723-4ECA-3965-985BFB7D9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7351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一些寄存器设置： </a:t>
            </a:r>
            <a:r>
              <a:rPr lang="en-US" altLang="zh-CN" sz="3600" b="1" dirty="0" err="1"/>
              <a:t>sstatus</a:t>
            </a:r>
            <a:r>
              <a:rPr lang="en-US" altLang="zh-CN" sz="3600" b="1" dirty="0"/>
              <a:t>/</a:t>
            </a:r>
            <a:r>
              <a:rPr lang="en-US" altLang="zh-CN" sz="3600" b="1" dirty="0" err="1"/>
              <a:t>sstatus.SUM</a:t>
            </a:r>
            <a:r>
              <a:rPr lang="en-US" altLang="zh-CN" sz="3600" b="1" dirty="0"/>
              <a:t>/</a:t>
            </a:r>
            <a:r>
              <a:rPr lang="en-US" altLang="zh-CN" sz="3600" b="1" dirty="0" err="1"/>
              <a:t>sstatus.SPP</a:t>
            </a:r>
            <a:endParaRPr lang="en-C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13EBA9-0963-DBBB-C414-729719F9B9B5}"/>
              </a:ext>
            </a:extLst>
          </p:cNvPr>
          <p:cNvSpPr txBox="1"/>
          <p:nvPr/>
        </p:nvSpPr>
        <p:spPr>
          <a:xfrm>
            <a:off x="0" y="6499819"/>
            <a:ext cx="716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>
                    <a:lumMod val="75000"/>
                  </a:schemeClr>
                </a:solidFill>
              </a:rPr>
              <a:t>https://docs.riscv.org/reference/isa/priv/supervisor.html#sstatus</a:t>
            </a:r>
          </a:p>
        </p:txBody>
      </p:sp>
    </p:spTree>
    <p:extLst>
      <p:ext uri="{BB962C8B-B14F-4D97-AF65-F5344CB8AC3E}">
        <p14:creationId xmlns:p14="http://schemas.microsoft.com/office/powerpoint/2010/main" val="320912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9E20-FDB5-4DB1-72DF-687566454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5348C-6571-023F-C7D2-6637E749A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7351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一些寄存器设置： </a:t>
            </a:r>
            <a:r>
              <a:rPr lang="en-US" altLang="zh-CN" sz="3600" b="1" dirty="0" err="1"/>
              <a:t>sstatus</a:t>
            </a:r>
            <a:r>
              <a:rPr lang="en-US" altLang="zh-CN" sz="3600" b="1" dirty="0"/>
              <a:t>/</a:t>
            </a:r>
            <a:r>
              <a:rPr lang="en-US" altLang="zh-CN" sz="3600" b="1" dirty="0" err="1"/>
              <a:t>sstatus.SUM</a:t>
            </a:r>
            <a:r>
              <a:rPr lang="en-US" altLang="zh-CN" sz="3600" b="1" dirty="0"/>
              <a:t>/</a:t>
            </a:r>
            <a:r>
              <a:rPr lang="en-US" altLang="zh-CN" sz="3600" b="1" dirty="0" err="1"/>
              <a:t>sstatus.SPP</a:t>
            </a:r>
            <a:endParaRPr lang="en-C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39022-43CE-476B-EB30-20D0899870B5}"/>
              </a:ext>
            </a:extLst>
          </p:cNvPr>
          <p:cNvSpPr txBox="1"/>
          <p:nvPr/>
        </p:nvSpPr>
        <p:spPr>
          <a:xfrm>
            <a:off x="0" y="6499819"/>
            <a:ext cx="716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>
                    <a:lumMod val="75000"/>
                  </a:schemeClr>
                </a:solidFill>
              </a:rPr>
              <a:t>https://docs.riscv.org/reference/isa/priv/supervisor.html#sstatus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69542A-E720-2A47-87EC-ED8A98358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45" y="1404485"/>
            <a:ext cx="10123055" cy="47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5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2DB0-37B2-9FB7-7AA9-DEB6AC9A8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8D01C-179C-5116-4207-F9EE3C4AF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7351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一些寄存器设置： </a:t>
            </a:r>
            <a:r>
              <a:rPr lang="en-US" altLang="zh-CN" sz="3600" b="1" dirty="0" err="1"/>
              <a:t>sstatus</a:t>
            </a:r>
            <a:r>
              <a:rPr lang="en-US" altLang="zh-CN" sz="3600" b="1" dirty="0"/>
              <a:t>/</a:t>
            </a:r>
            <a:r>
              <a:rPr lang="en-US" altLang="zh-CN" sz="3600" b="1" dirty="0" err="1"/>
              <a:t>sstatus.SUM</a:t>
            </a:r>
            <a:r>
              <a:rPr lang="en-US" altLang="zh-CN" sz="3600" b="1" dirty="0"/>
              <a:t>/</a:t>
            </a:r>
            <a:r>
              <a:rPr lang="en-US" altLang="zh-CN" sz="3600" b="1" dirty="0" err="1"/>
              <a:t>sstatus.SPP</a:t>
            </a:r>
            <a:endParaRPr lang="en-C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45579-C85B-C803-20B6-C339EDFECE36}"/>
              </a:ext>
            </a:extLst>
          </p:cNvPr>
          <p:cNvSpPr txBox="1"/>
          <p:nvPr/>
        </p:nvSpPr>
        <p:spPr>
          <a:xfrm>
            <a:off x="0" y="6499819"/>
            <a:ext cx="716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>
                    <a:lumMod val="75000"/>
                  </a:schemeClr>
                </a:solidFill>
              </a:rPr>
              <a:t>https://docs.riscv.org/reference/isa/priv/supervisor.html#sstatus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9A4303-606C-112C-86EF-A019969D2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685946"/>
            <a:ext cx="11126753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583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D3B90-5C52-2401-394D-B385CFAB9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74D2-C71F-0528-AE31-6969062C3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7351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一些寄存器设置： </a:t>
            </a:r>
            <a:r>
              <a:rPr lang="en-US" altLang="zh-CN" sz="3600" b="1" dirty="0" err="1"/>
              <a:t>scause</a:t>
            </a:r>
            <a:r>
              <a:rPr lang="en-US" altLang="zh-CN" sz="3600" b="1" dirty="0"/>
              <a:t>(1)</a:t>
            </a:r>
            <a:endParaRPr lang="en-C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EDD8FF-64E4-3A5A-718B-55B1FDF698FA}"/>
              </a:ext>
            </a:extLst>
          </p:cNvPr>
          <p:cNvSpPr txBox="1"/>
          <p:nvPr/>
        </p:nvSpPr>
        <p:spPr>
          <a:xfrm>
            <a:off x="0" y="6499819"/>
            <a:ext cx="716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>
                    <a:lumMod val="75000"/>
                  </a:schemeClr>
                </a:solidFill>
              </a:rPr>
              <a:t>https://docs.riscv.org/reference/isa/priv/supervisor.html#scause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ED74B1-FD64-AE6A-3ABA-166D32529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282" y="1363940"/>
            <a:ext cx="8585436" cy="486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5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8C22F-F44C-8BAB-0A21-246F9FC2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E54EB-62EA-FEFD-74EA-60ED1ED5F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7351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一些寄存器设置： </a:t>
            </a:r>
            <a:r>
              <a:rPr lang="en-US" altLang="zh-CN" sz="3600" b="1" dirty="0" err="1"/>
              <a:t>scause</a:t>
            </a:r>
            <a:r>
              <a:rPr lang="en-US" altLang="zh-CN" sz="3600" b="1" dirty="0"/>
              <a:t>(2)</a:t>
            </a:r>
            <a:endParaRPr lang="en-C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DDEBDE-29B0-3E64-3D78-587B87E5A3E0}"/>
              </a:ext>
            </a:extLst>
          </p:cNvPr>
          <p:cNvSpPr txBox="1"/>
          <p:nvPr/>
        </p:nvSpPr>
        <p:spPr>
          <a:xfrm>
            <a:off x="0" y="6499819"/>
            <a:ext cx="716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>
                    <a:lumMod val="75000"/>
                  </a:schemeClr>
                </a:solidFill>
              </a:rPr>
              <a:t>https://docs.riscv.org/reference/isa/priv/supervisor.html#scause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947E7F-65CF-AA57-0763-7671C1CB6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027" y="1264830"/>
            <a:ext cx="5335653" cy="488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72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5E5DF-603A-9603-6BE9-95941BD37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C1C0-8171-A4B3-F705-B20881CE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7351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权限设置： </a:t>
            </a:r>
            <a:r>
              <a:rPr lang="en-US" altLang="zh-CN" sz="3600" b="1" dirty="0"/>
              <a:t>PTE</a:t>
            </a:r>
            <a:endParaRPr lang="en-C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E9B09-3692-38F3-9E68-7590BBE9468C}"/>
              </a:ext>
            </a:extLst>
          </p:cNvPr>
          <p:cNvSpPr txBox="1"/>
          <p:nvPr/>
        </p:nvSpPr>
        <p:spPr>
          <a:xfrm>
            <a:off x="0" y="6499819"/>
            <a:ext cx="716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>
                    <a:lumMod val="75000"/>
                  </a:schemeClr>
                </a:solidFill>
              </a:rPr>
              <a:t>https://docs.riscv.org/reference/isa/priv/supervisor.html#translation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34E0FF-54C3-11FF-C7AE-D4BBD62CD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613" y="1228064"/>
            <a:ext cx="8938181" cy="517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888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FA088-AD46-0D29-D6F4-5A5C0B1E1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87A71-B112-D2B7-9ECA-B9285D1A1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7351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/>
              <a:t>权限设置： </a:t>
            </a:r>
            <a:r>
              <a:rPr lang="en-US" altLang="zh-CN" sz="3600" b="1" dirty="0"/>
              <a:t>PTE.U</a:t>
            </a:r>
            <a:endParaRPr lang="en-C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16D853-6D8D-2152-DC23-4CEC9C866256}"/>
              </a:ext>
            </a:extLst>
          </p:cNvPr>
          <p:cNvSpPr txBox="1"/>
          <p:nvPr/>
        </p:nvSpPr>
        <p:spPr>
          <a:xfrm>
            <a:off x="0" y="6499819"/>
            <a:ext cx="716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>
                    <a:lumMod val="75000"/>
                  </a:schemeClr>
                </a:solidFill>
              </a:rPr>
              <a:t>https://docs.riscv.org/reference/isa/priv/supervisor.html#translation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A73C56-B081-FA01-73A5-E8942371D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714525"/>
            <a:ext cx="10869542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846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18809-61AE-DA4B-41C9-517AA199D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2490-45BA-71E2-0BB0-87D28987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2" y="8620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PTE.X/W/R: </a:t>
            </a:r>
            <a:r>
              <a:rPr lang="zh-CN" altLang="en-US" sz="3600" b="1" dirty="0"/>
              <a:t>一个彩蛋</a:t>
            </a:r>
            <a:endParaRPr lang="en-CN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639BDD-DA37-6A98-A8F4-9B67C535C39A}"/>
              </a:ext>
            </a:extLst>
          </p:cNvPr>
          <p:cNvSpPr txBox="1"/>
          <p:nvPr/>
        </p:nvSpPr>
        <p:spPr>
          <a:xfrm>
            <a:off x="0" y="6499819"/>
            <a:ext cx="716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bg1">
                    <a:lumMod val="75000"/>
                  </a:schemeClr>
                </a:solidFill>
              </a:rPr>
              <a:t>https://docs.riscv.org/reference/isa/priv/supervisor.html#translation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8409F6-C704-BE3E-3E44-22E32A0B3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30" y="1055392"/>
            <a:ext cx="8878584" cy="439083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ED12359-5752-62FF-E15F-76436CA317E2}"/>
              </a:ext>
            </a:extLst>
          </p:cNvPr>
          <p:cNvSpPr txBox="1"/>
          <p:nvPr/>
        </p:nvSpPr>
        <p:spPr>
          <a:xfrm>
            <a:off x="3344947" y="5617942"/>
            <a:ext cx="3910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《</a:t>
            </a:r>
            <a:r>
              <a:rPr lang="en-US" altLang="zh-CN" i="1" dirty="0"/>
              <a:t>Reserved for future use.</a:t>
            </a:r>
            <a:r>
              <a:rPr lang="en-US" altLang="zh-CN" dirty="0"/>
              <a:t>》</a:t>
            </a:r>
            <a:r>
              <a:rPr lang="zh-CN" altLang="en-US" dirty="0"/>
              <a:t>（确信）</a:t>
            </a:r>
          </a:p>
        </p:txBody>
      </p:sp>
    </p:spTree>
    <p:extLst>
      <p:ext uri="{BB962C8B-B14F-4D97-AF65-F5344CB8AC3E}">
        <p14:creationId xmlns:p14="http://schemas.microsoft.com/office/powerpoint/2010/main" val="3387498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3800</TotalTime>
  <Words>486</Words>
  <Application>Microsoft Office PowerPoint</Application>
  <PresentationFormat>宽屏</PresentationFormat>
  <Paragraphs>44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Lab4: User Mode</vt:lpstr>
      <vt:lpstr>Why Privilege Levels?</vt:lpstr>
      <vt:lpstr>Some Question</vt:lpstr>
      <vt:lpstr>System Calls(1)</vt:lpstr>
      <vt:lpstr>System Calls(2)</vt:lpstr>
      <vt:lpstr>一些寄存器设置： sstatus/sstatus.SUM/sstatus.SPP</vt:lpstr>
      <vt:lpstr>一些寄存器设置： sstatus/sstatus.SUM/sstatus.SPP</vt:lpstr>
      <vt:lpstr>一些寄存器设置： sstatus/sstatus.SUM/sstatus.SPP</vt:lpstr>
      <vt:lpstr>一些寄存器设置： scause(1)</vt:lpstr>
      <vt:lpstr>一些寄存器设置： scause(2)</vt:lpstr>
      <vt:lpstr>权限设置： PTE</vt:lpstr>
      <vt:lpstr>权限设置： PTE.U</vt:lpstr>
      <vt:lpstr>PTE.X/W/R: 一个彩蛋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Baolin Zhu</dc:creator>
  <cp:lastModifiedBy>Wenshuo Wang</cp:lastModifiedBy>
  <cp:revision>27</cp:revision>
  <dcterms:created xsi:type="dcterms:W3CDTF">2025-04-09T09:27:28Z</dcterms:created>
  <dcterms:modified xsi:type="dcterms:W3CDTF">2026-04-27T02:20:11Z</dcterms:modified>
</cp:coreProperties>
</file>