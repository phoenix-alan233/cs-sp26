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58" r:id="rId3"/>
    <p:sldId id="359" r:id="rId5"/>
    <p:sldId id="360" r:id="rId6"/>
    <p:sldId id="361" r:id="rId7"/>
    <p:sldId id="362" r:id="rId8"/>
    <p:sldId id="377" r:id="rId9"/>
    <p:sldId id="379" r:id="rId10"/>
    <p:sldId id="378"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420" y="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EB0CC7-23B6-416D-8CC2-C5718ACC76C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258450-89CB-412A-9AA9-FE877EEE0DE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Start</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C538A16-44D0-4638-ACD6-43A88F095A2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90C782F-F9D2-44A1-BC3F-04F6BB5CC0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A88CC23-743B-4CDD-8A77-7335E521C2AA}"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718218" y="202011"/>
            <a:ext cx="8655953" cy="601075"/>
          </a:xfrm>
          <a:prstGeom prst="rect">
            <a:avLst/>
          </a:prstGeom>
        </p:spPr>
        <p:txBody>
          <a:bodyPr lIns="0" rIns="0" anchor="ctr">
            <a:normAutofit/>
          </a:bodyPr>
          <a:lstStyle>
            <a:lvl1pPr>
              <a:defRPr sz="2800" b="1">
                <a:latin typeface="方正粗雅宋简体" panose="02000000000000000000" pitchFamily="2" charset="-122"/>
                <a:ea typeface="方正粗雅宋简体" panose="02000000000000000000" pitchFamily="2" charset="-122"/>
              </a:defRPr>
            </a:lvl1pPr>
          </a:lstStyle>
          <a:p>
            <a:r>
              <a:rPr lang="zh-CN" altLang="en-US" dirty="0"/>
              <a:t>单击此处编辑母版标题样式</a:t>
            </a:r>
            <a:endParaRPr lang="zh-CN" altLang="en-US" dirty="0"/>
          </a:p>
        </p:txBody>
      </p:sp>
      <p:sp>
        <p:nvSpPr>
          <p:cNvPr id="5" name="灯片编号占位符 4"/>
          <p:cNvSpPr>
            <a:spLocks noGrp="1"/>
          </p:cNvSpPr>
          <p:nvPr>
            <p:ph type="sldNum" sz="quarter" idx="12"/>
          </p:nvPr>
        </p:nvSpPr>
        <p:spPr>
          <a:xfrm>
            <a:off x="9137021" y="6494335"/>
            <a:ext cx="2743200" cy="341761"/>
          </a:xfrm>
          <a:prstGeom prst="rect">
            <a:avLst/>
          </a:prstGeom>
        </p:spPr>
        <p:txBody>
          <a:bodyPr/>
          <a:lstStyle>
            <a:lvl1pPr algn="r">
              <a:defRPr sz="1100" b="1" i="0">
                <a:solidFill>
                  <a:schemeClr val="accent1"/>
                </a:solidFill>
              </a:defRPr>
            </a:lvl1pPr>
          </a:lstStyle>
          <a:p>
            <a:fld id="{1AAC388E-FA9E-4A2C-95EA-1F6B3A07935A}" type="slidenum">
              <a:rPr lang="zh-CN" altLang="en-US" smtClean="0"/>
            </a:fld>
            <a:endParaRPr lang="zh-CN" altLang="en-US" dirty="0"/>
          </a:p>
        </p:txBody>
      </p:sp>
      <p:grpSp>
        <p:nvGrpSpPr>
          <p:cNvPr id="6" name="Group 74"/>
          <p:cNvGrpSpPr>
            <a:grpSpLocks noChangeAspect="1"/>
          </p:cNvGrpSpPr>
          <p:nvPr userDrawn="1"/>
        </p:nvGrpSpPr>
        <p:grpSpPr bwMode="auto">
          <a:xfrm>
            <a:off x="9961824" y="317195"/>
            <a:ext cx="1557337" cy="433207"/>
            <a:chOff x="954" y="660"/>
            <a:chExt cx="1269" cy="353"/>
          </a:xfrm>
        </p:grpSpPr>
        <p:sp>
          <p:nvSpPr>
            <p:cNvPr id="7" name="Freeform 75"/>
            <p:cNvSpPr/>
            <p:nvPr userDrawn="1"/>
          </p:nvSpPr>
          <p:spPr bwMode="auto">
            <a:xfrm>
              <a:off x="1968" y="833"/>
              <a:ext cx="45" cy="46"/>
            </a:xfrm>
            <a:custGeom>
              <a:avLst/>
              <a:gdLst>
                <a:gd name="T0" fmla="*/ 10 w 36"/>
                <a:gd name="T1" fmla="*/ 35 h 37"/>
                <a:gd name="T2" fmla="*/ 6 w 36"/>
                <a:gd name="T3" fmla="*/ 25 h 37"/>
                <a:gd name="T4" fmla="*/ 0 w 36"/>
                <a:gd name="T5" fmla="*/ 11 h 37"/>
                <a:gd name="T6" fmla="*/ 23 w 36"/>
                <a:gd name="T7" fmla="*/ 4 h 37"/>
                <a:gd name="T8" fmla="*/ 28 w 36"/>
                <a:gd name="T9" fmla="*/ 9 h 37"/>
                <a:gd name="T10" fmla="*/ 30 w 36"/>
                <a:gd name="T11" fmla="*/ 29 h 37"/>
                <a:gd name="T12" fmla="*/ 10 w 3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10" y="35"/>
                  </a:moveTo>
                  <a:cubicBezTo>
                    <a:pt x="3" y="34"/>
                    <a:pt x="7" y="31"/>
                    <a:pt x="6" y="25"/>
                  </a:cubicBezTo>
                  <a:cubicBezTo>
                    <a:pt x="5" y="20"/>
                    <a:pt x="0" y="14"/>
                    <a:pt x="0" y="11"/>
                  </a:cubicBezTo>
                  <a:cubicBezTo>
                    <a:pt x="1" y="0"/>
                    <a:pt x="15" y="0"/>
                    <a:pt x="23" y="4"/>
                  </a:cubicBezTo>
                  <a:cubicBezTo>
                    <a:pt x="25" y="4"/>
                    <a:pt x="26" y="7"/>
                    <a:pt x="28" y="9"/>
                  </a:cubicBezTo>
                  <a:cubicBezTo>
                    <a:pt x="32" y="14"/>
                    <a:pt x="36" y="23"/>
                    <a:pt x="30" y="29"/>
                  </a:cubicBezTo>
                  <a:cubicBezTo>
                    <a:pt x="25" y="34"/>
                    <a:pt x="17" y="37"/>
                    <a:pt x="10"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8" name="Freeform 76"/>
            <p:cNvSpPr/>
            <p:nvPr userDrawn="1"/>
          </p:nvSpPr>
          <p:spPr bwMode="auto">
            <a:xfrm>
              <a:off x="1837" y="698"/>
              <a:ext cx="160" cy="165"/>
            </a:xfrm>
            <a:custGeom>
              <a:avLst/>
              <a:gdLst>
                <a:gd name="T0" fmla="*/ 33 w 129"/>
                <a:gd name="T1" fmla="*/ 133 h 133"/>
                <a:gd name="T2" fmla="*/ 32 w 129"/>
                <a:gd name="T3" fmla="*/ 133 h 133"/>
                <a:gd name="T4" fmla="*/ 33 w 129"/>
                <a:gd name="T5" fmla="*/ 130 h 133"/>
                <a:gd name="T6" fmla="*/ 55 w 129"/>
                <a:gd name="T7" fmla="*/ 116 h 133"/>
                <a:gd name="T8" fmla="*/ 67 w 129"/>
                <a:gd name="T9" fmla="*/ 99 h 133"/>
                <a:gd name="T10" fmla="*/ 25 w 129"/>
                <a:gd name="T11" fmla="*/ 115 h 133"/>
                <a:gd name="T12" fmla="*/ 8 w 129"/>
                <a:gd name="T13" fmla="*/ 108 h 133"/>
                <a:gd name="T14" fmla="*/ 8 w 129"/>
                <a:gd name="T15" fmla="*/ 107 h 133"/>
                <a:gd name="T16" fmla="*/ 8 w 129"/>
                <a:gd name="T17" fmla="*/ 92 h 133"/>
                <a:gd name="T18" fmla="*/ 60 w 129"/>
                <a:gd name="T19" fmla="*/ 80 h 133"/>
                <a:gd name="T20" fmla="*/ 75 w 129"/>
                <a:gd name="T21" fmla="*/ 72 h 133"/>
                <a:gd name="T22" fmla="*/ 77 w 129"/>
                <a:gd name="T23" fmla="*/ 14 h 133"/>
                <a:gd name="T24" fmla="*/ 99 w 129"/>
                <a:gd name="T25" fmla="*/ 16 h 133"/>
                <a:gd name="T26" fmla="*/ 103 w 129"/>
                <a:gd name="T27" fmla="*/ 21 h 133"/>
                <a:gd name="T28" fmla="*/ 104 w 129"/>
                <a:gd name="T29" fmla="*/ 21 h 133"/>
                <a:gd name="T30" fmla="*/ 103 w 129"/>
                <a:gd name="T31" fmla="*/ 35 h 133"/>
                <a:gd name="T32" fmla="*/ 98 w 129"/>
                <a:gd name="T33" fmla="*/ 65 h 133"/>
                <a:gd name="T34" fmla="*/ 126 w 129"/>
                <a:gd name="T35" fmla="*/ 54 h 133"/>
                <a:gd name="T36" fmla="*/ 123 w 129"/>
                <a:gd name="T37" fmla="*/ 69 h 133"/>
                <a:gd name="T38" fmla="*/ 95 w 129"/>
                <a:gd name="T39" fmla="*/ 81 h 133"/>
                <a:gd name="T40" fmla="*/ 82 w 129"/>
                <a:gd name="T41" fmla="*/ 111 h 133"/>
                <a:gd name="T42" fmla="*/ 75 w 129"/>
                <a:gd name="T43" fmla="*/ 118 h 133"/>
                <a:gd name="T44" fmla="*/ 56 w 129"/>
                <a:gd name="T45" fmla="*/ 128 h 133"/>
                <a:gd name="T46" fmla="*/ 33 w 129"/>
                <a:gd name="T47"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 h="133">
                  <a:moveTo>
                    <a:pt x="33" y="133"/>
                  </a:moveTo>
                  <a:cubicBezTo>
                    <a:pt x="33" y="133"/>
                    <a:pt x="33" y="133"/>
                    <a:pt x="32" y="133"/>
                  </a:cubicBezTo>
                  <a:cubicBezTo>
                    <a:pt x="32" y="132"/>
                    <a:pt x="32" y="131"/>
                    <a:pt x="33" y="130"/>
                  </a:cubicBezTo>
                  <a:cubicBezTo>
                    <a:pt x="35" y="130"/>
                    <a:pt x="55" y="117"/>
                    <a:pt x="55" y="116"/>
                  </a:cubicBezTo>
                  <a:cubicBezTo>
                    <a:pt x="60" y="111"/>
                    <a:pt x="66" y="106"/>
                    <a:pt x="67" y="99"/>
                  </a:cubicBezTo>
                  <a:cubicBezTo>
                    <a:pt x="53" y="104"/>
                    <a:pt x="40" y="114"/>
                    <a:pt x="25" y="115"/>
                  </a:cubicBezTo>
                  <a:cubicBezTo>
                    <a:pt x="18" y="113"/>
                    <a:pt x="13" y="110"/>
                    <a:pt x="8" y="108"/>
                  </a:cubicBezTo>
                  <a:cubicBezTo>
                    <a:pt x="8" y="107"/>
                    <a:pt x="8" y="107"/>
                    <a:pt x="8" y="107"/>
                  </a:cubicBezTo>
                  <a:cubicBezTo>
                    <a:pt x="1" y="102"/>
                    <a:pt x="0" y="95"/>
                    <a:pt x="8" y="92"/>
                  </a:cubicBezTo>
                  <a:cubicBezTo>
                    <a:pt x="23" y="96"/>
                    <a:pt x="46" y="85"/>
                    <a:pt x="60" y="80"/>
                  </a:cubicBezTo>
                  <a:cubicBezTo>
                    <a:pt x="63" y="78"/>
                    <a:pt x="72" y="75"/>
                    <a:pt x="75" y="72"/>
                  </a:cubicBezTo>
                  <a:cubicBezTo>
                    <a:pt x="78" y="52"/>
                    <a:pt x="76" y="33"/>
                    <a:pt x="77" y="14"/>
                  </a:cubicBezTo>
                  <a:cubicBezTo>
                    <a:pt x="82" y="0"/>
                    <a:pt x="90" y="10"/>
                    <a:pt x="99" y="16"/>
                  </a:cubicBezTo>
                  <a:cubicBezTo>
                    <a:pt x="99" y="18"/>
                    <a:pt x="101" y="19"/>
                    <a:pt x="103" y="21"/>
                  </a:cubicBezTo>
                  <a:cubicBezTo>
                    <a:pt x="103" y="21"/>
                    <a:pt x="103" y="21"/>
                    <a:pt x="104" y="21"/>
                  </a:cubicBezTo>
                  <a:cubicBezTo>
                    <a:pt x="107" y="27"/>
                    <a:pt x="108" y="30"/>
                    <a:pt x="103" y="35"/>
                  </a:cubicBezTo>
                  <a:cubicBezTo>
                    <a:pt x="99" y="44"/>
                    <a:pt x="97" y="54"/>
                    <a:pt x="98" y="65"/>
                  </a:cubicBezTo>
                  <a:cubicBezTo>
                    <a:pt x="108" y="63"/>
                    <a:pt x="114" y="55"/>
                    <a:pt x="126" y="54"/>
                  </a:cubicBezTo>
                  <a:cubicBezTo>
                    <a:pt x="129" y="60"/>
                    <a:pt x="128" y="65"/>
                    <a:pt x="123" y="69"/>
                  </a:cubicBezTo>
                  <a:cubicBezTo>
                    <a:pt x="114" y="73"/>
                    <a:pt x="105" y="77"/>
                    <a:pt x="95" y="81"/>
                  </a:cubicBezTo>
                  <a:cubicBezTo>
                    <a:pt x="93" y="91"/>
                    <a:pt x="89" y="103"/>
                    <a:pt x="82" y="111"/>
                  </a:cubicBezTo>
                  <a:cubicBezTo>
                    <a:pt x="81" y="113"/>
                    <a:pt x="76" y="117"/>
                    <a:pt x="75" y="118"/>
                  </a:cubicBezTo>
                  <a:cubicBezTo>
                    <a:pt x="69" y="122"/>
                    <a:pt x="63" y="126"/>
                    <a:pt x="56" y="128"/>
                  </a:cubicBezTo>
                  <a:cubicBezTo>
                    <a:pt x="37" y="133"/>
                    <a:pt x="37" y="133"/>
                    <a:pt x="33" y="1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9" name="Freeform 77"/>
            <p:cNvSpPr/>
            <p:nvPr userDrawn="1"/>
          </p:nvSpPr>
          <p:spPr bwMode="auto">
            <a:xfrm>
              <a:off x="1630" y="796"/>
              <a:ext cx="94" cy="110"/>
            </a:xfrm>
            <a:custGeom>
              <a:avLst/>
              <a:gdLst>
                <a:gd name="T0" fmla="*/ 17 w 76"/>
                <a:gd name="T1" fmla="*/ 88 h 88"/>
                <a:gd name="T2" fmla="*/ 0 w 76"/>
                <a:gd name="T3" fmla="*/ 70 h 88"/>
                <a:gd name="T4" fmla="*/ 2 w 76"/>
                <a:gd name="T5" fmla="*/ 65 h 88"/>
                <a:gd name="T6" fmla="*/ 50 w 76"/>
                <a:gd name="T7" fmla="*/ 26 h 88"/>
                <a:gd name="T8" fmla="*/ 65 w 76"/>
                <a:gd name="T9" fmla="*/ 5 h 88"/>
                <a:gd name="T10" fmla="*/ 66 w 76"/>
                <a:gd name="T11" fmla="*/ 4 h 88"/>
                <a:gd name="T12" fmla="*/ 66 w 76"/>
                <a:gd name="T13" fmla="*/ 4 h 88"/>
                <a:gd name="T14" fmla="*/ 76 w 76"/>
                <a:gd name="T15" fmla="*/ 5 h 88"/>
                <a:gd name="T16" fmla="*/ 65 w 76"/>
                <a:gd name="T17" fmla="*/ 19 h 88"/>
                <a:gd name="T18" fmla="*/ 54 w 76"/>
                <a:gd name="T19" fmla="*/ 43 h 88"/>
                <a:gd name="T20" fmla="*/ 48 w 76"/>
                <a:gd name="T21" fmla="*/ 54 h 88"/>
                <a:gd name="T22" fmla="*/ 35 w 76"/>
                <a:gd name="T23" fmla="*/ 72 h 88"/>
                <a:gd name="T24" fmla="*/ 21 w 76"/>
                <a:gd name="T25" fmla="*/ 87 h 88"/>
                <a:gd name="T26" fmla="*/ 17 w 76"/>
                <a:gd name="T27"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88">
                  <a:moveTo>
                    <a:pt x="17" y="88"/>
                  </a:moveTo>
                  <a:cubicBezTo>
                    <a:pt x="10" y="84"/>
                    <a:pt x="3" y="76"/>
                    <a:pt x="0" y="70"/>
                  </a:cubicBezTo>
                  <a:cubicBezTo>
                    <a:pt x="0" y="69"/>
                    <a:pt x="1" y="67"/>
                    <a:pt x="2" y="65"/>
                  </a:cubicBezTo>
                  <a:cubicBezTo>
                    <a:pt x="18" y="52"/>
                    <a:pt x="35" y="41"/>
                    <a:pt x="50" y="26"/>
                  </a:cubicBezTo>
                  <a:cubicBezTo>
                    <a:pt x="54" y="19"/>
                    <a:pt x="60" y="12"/>
                    <a:pt x="65" y="5"/>
                  </a:cubicBezTo>
                  <a:cubicBezTo>
                    <a:pt x="65" y="5"/>
                    <a:pt x="66" y="5"/>
                    <a:pt x="66" y="4"/>
                  </a:cubicBezTo>
                  <a:cubicBezTo>
                    <a:pt x="66" y="4"/>
                    <a:pt x="66" y="4"/>
                    <a:pt x="66" y="4"/>
                  </a:cubicBezTo>
                  <a:cubicBezTo>
                    <a:pt x="70" y="0"/>
                    <a:pt x="72" y="0"/>
                    <a:pt x="76" y="5"/>
                  </a:cubicBezTo>
                  <a:cubicBezTo>
                    <a:pt x="76" y="10"/>
                    <a:pt x="68" y="14"/>
                    <a:pt x="65" y="19"/>
                  </a:cubicBezTo>
                  <a:cubicBezTo>
                    <a:pt x="62" y="27"/>
                    <a:pt x="58" y="35"/>
                    <a:pt x="54" y="43"/>
                  </a:cubicBezTo>
                  <a:cubicBezTo>
                    <a:pt x="53" y="45"/>
                    <a:pt x="53" y="45"/>
                    <a:pt x="48" y="54"/>
                  </a:cubicBezTo>
                  <a:cubicBezTo>
                    <a:pt x="43" y="57"/>
                    <a:pt x="37" y="66"/>
                    <a:pt x="35" y="72"/>
                  </a:cubicBezTo>
                  <a:cubicBezTo>
                    <a:pt x="29" y="75"/>
                    <a:pt x="27" y="84"/>
                    <a:pt x="21" y="87"/>
                  </a:cubicBezTo>
                  <a:cubicBezTo>
                    <a:pt x="19" y="87"/>
                    <a:pt x="18" y="87"/>
                    <a:pt x="17" y="8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0" name="Freeform 78"/>
            <p:cNvSpPr/>
            <p:nvPr userDrawn="1"/>
          </p:nvSpPr>
          <p:spPr bwMode="auto">
            <a:xfrm>
              <a:off x="1749" y="791"/>
              <a:ext cx="53" cy="41"/>
            </a:xfrm>
            <a:custGeom>
              <a:avLst/>
              <a:gdLst>
                <a:gd name="T0" fmla="*/ 19 w 43"/>
                <a:gd name="T1" fmla="*/ 33 h 33"/>
                <a:gd name="T2" fmla="*/ 0 w 43"/>
                <a:gd name="T3" fmla="*/ 20 h 33"/>
                <a:gd name="T4" fmla="*/ 2 w 43"/>
                <a:gd name="T5" fmla="*/ 14 h 33"/>
                <a:gd name="T6" fmla="*/ 6 w 43"/>
                <a:gd name="T7" fmla="*/ 13 h 33"/>
                <a:gd name="T8" fmla="*/ 17 w 43"/>
                <a:gd name="T9" fmla="*/ 12 h 33"/>
                <a:gd name="T10" fmla="*/ 43 w 43"/>
                <a:gd name="T11" fmla="*/ 5 h 33"/>
                <a:gd name="T12" fmla="*/ 19 w 43"/>
                <a:gd name="T13" fmla="*/ 33 h 33"/>
              </a:gdLst>
              <a:ahLst/>
              <a:cxnLst>
                <a:cxn ang="0">
                  <a:pos x="T0" y="T1"/>
                </a:cxn>
                <a:cxn ang="0">
                  <a:pos x="T2" y="T3"/>
                </a:cxn>
                <a:cxn ang="0">
                  <a:pos x="T4" y="T5"/>
                </a:cxn>
                <a:cxn ang="0">
                  <a:pos x="T6" y="T7"/>
                </a:cxn>
                <a:cxn ang="0">
                  <a:pos x="T8" y="T9"/>
                </a:cxn>
                <a:cxn ang="0">
                  <a:pos x="T10" y="T11"/>
                </a:cxn>
                <a:cxn ang="0">
                  <a:pos x="T12" y="T13"/>
                </a:cxn>
              </a:cxnLst>
              <a:rect l="0" t="0" r="r" b="b"/>
              <a:pathLst>
                <a:path w="43" h="33">
                  <a:moveTo>
                    <a:pt x="19" y="33"/>
                  </a:moveTo>
                  <a:cubicBezTo>
                    <a:pt x="9" y="33"/>
                    <a:pt x="6" y="26"/>
                    <a:pt x="0" y="20"/>
                  </a:cubicBezTo>
                  <a:cubicBezTo>
                    <a:pt x="0" y="18"/>
                    <a:pt x="2" y="16"/>
                    <a:pt x="2" y="14"/>
                  </a:cubicBezTo>
                  <a:cubicBezTo>
                    <a:pt x="4" y="14"/>
                    <a:pt x="4" y="14"/>
                    <a:pt x="6" y="13"/>
                  </a:cubicBezTo>
                  <a:cubicBezTo>
                    <a:pt x="10" y="12"/>
                    <a:pt x="12" y="12"/>
                    <a:pt x="17" y="12"/>
                  </a:cubicBezTo>
                  <a:cubicBezTo>
                    <a:pt x="22" y="11"/>
                    <a:pt x="38" y="0"/>
                    <a:pt x="43" y="5"/>
                  </a:cubicBezTo>
                  <a:cubicBezTo>
                    <a:pt x="43" y="17"/>
                    <a:pt x="30" y="30"/>
                    <a:pt x="19"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1" name="Freeform 79"/>
            <p:cNvSpPr/>
            <p:nvPr userDrawn="1"/>
          </p:nvSpPr>
          <p:spPr bwMode="auto">
            <a:xfrm>
              <a:off x="1668" y="766"/>
              <a:ext cx="36" cy="42"/>
            </a:xfrm>
            <a:custGeom>
              <a:avLst/>
              <a:gdLst>
                <a:gd name="T0" fmla="*/ 5 w 29"/>
                <a:gd name="T1" fmla="*/ 34 h 34"/>
                <a:gd name="T2" fmla="*/ 0 w 29"/>
                <a:gd name="T3" fmla="*/ 9 h 34"/>
                <a:gd name="T4" fmla="*/ 19 w 29"/>
                <a:gd name="T5" fmla="*/ 6 h 34"/>
                <a:gd name="T6" fmla="*/ 23 w 29"/>
                <a:gd name="T7" fmla="*/ 26 h 34"/>
                <a:gd name="T8" fmla="*/ 5 w 29"/>
                <a:gd name="T9" fmla="*/ 34 h 34"/>
              </a:gdLst>
              <a:ahLst/>
              <a:cxnLst>
                <a:cxn ang="0">
                  <a:pos x="T0" y="T1"/>
                </a:cxn>
                <a:cxn ang="0">
                  <a:pos x="T2" y="T3"/>
                </a:cxn>
                <a:cxn ang="0">
                  <a:pos x="T4" y="T5"/>
                </a:cxn>
                <a:cxn ang="0">
                  <a:pos x="T6" y="T7"/>
                </a:cxn>
                <a:cxn ang="0">
                  <a:pos x="T8" y="T9"/>
                </a:cxn>
              </a:cxnLst>
              <a:rect l="0" t="0" r="r" b="b"/>
              <a:pathLst>
                <a:path w="29" h="34">
                  <a:moveTo>
                    <a:pt x="5" y="34"/>
                  </a:moveTo>
                  <a:cubicBezTo>
                    <a:pt x="1" y="30"/>
                    <a:pt x="0" y="14"/>
                    <a:pt x="0" y="9"/>
                  </a:cubicBezTo>
                  <a:cubicBezTo>
                    <a:pt x="3" y="0"/>
                    <a:pt x="12" y="0"/>
                    <a:pt x="19" y="6"/>
                  </a:cubicBezTo>
                  <a:cubicBezTo>
                    <a:pt x="25" y="14"/>
                    <a:pt x="29" y="17"/>
                    <a:pt x="23" y="26"/>
                  </a:cubicBezTo>
                  <a:cubicBezTo>
                    <a:pt x="16" y="32"/>
                    <a:pt x="13" y="32"/>
                    <a:pt x="5"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2" name="Freeform 80"/>
            <p:cNvSpPr/>
            <p:nvPr userDrawn="1"/>
          </p:nvSpPr>
          <p:spPr bwMode="auto">
            <a:xfrm>
              <a:off x="1748" y="739"/>
              <a:ext cx="63" cy="60"/>
            </a:xfrm>
            <a:custGeom>
              <a:avLst/>
              <a:gdLst>
                <a:gd name="T0" fmla="*/ 17 w 51"/>
                <a:gd name="T1" fmla="*/ 48 h 48"/>
                <a:gd name="T2" fmla="*/ 21 w 51"/>
                <a:gd name="T3" fmla="*/ 30 h 48"/>
                <a:gd name="T4" fmla="*/ 13 w 51"/>
                <a:gd name="T5" fmla="*/ 32 h 48"/>
                <a:gd name="T6" fmla="*/ 3 w 51"/>
                <a:gd name="T7" fmla="*/ 15 h 48"/>
                <a:gd name="T8" fmla="*/ 13 w 51"/>
                <a:gd name="T9" fmla="*/ 11 h 48"/>
                <a:gd name="T10" fmla="*/ 33 w 51"/>
                <a:gd name="T11" fmla="*/ 2 h 48"/>
                <a:gd name="T12" fmla="*/ 51 w 51"/>
                <a:gd name="T13" fmla="*/ 18 h 48"/>
                <a:gd name="T14" fmla="*/ 39 w 51"/>
                <a:gd name="T15" fmla="*/ 36 h 48"/>
                <a:gd name="T16" fmla="*/ 22 w 51"/>
                <a:gd name="T17" fmla="*/ 47 h 48"/>
                <a:gd name="T18" fmla="*/ 17 w 51"/>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48">
                  <a:moveTo>
                    <a:pt x="17" y="48"/>
                  </a:moveTo>
                  <a:cubicBezTo>
                    <a:pt x="16" y="43"/>
                    <a:pt x="23" y="33"/>
                    <a:pt x="21" y="30"/>
                  </a:cubicBezTo>
                  <a:cubicBezTo>
                    <a:pt x="18" y="31"/>
                    <a:pt x="16" y="32"/>
                    <a:pt x="13" y="32"/>
                  </a:cubicBezTo>
                  <a:cubicBezTo>
                    <a:pt x="7" y="29"/>
                    <a:pt x="0" y="21"/>
                    <a:pt x="3" y="15"/>
                  </a:cubicBezTo>
                  <a:cubicBezTo>
                    <a:pt x="7" y="10"/>
                    <a:pt x="6" y="12"/>
                    <a:pt x="13" y="11"/>
                  </a:cubicBezTo>
                  <a:cubicBezTo>
                    <a:pt x="19" y="8"/>
                    <a:pt x="26" y="5"/>
                    <a:pt x="33" y="2"/>
                  </a:cubicBezTo>
                  <a:cubicBezTo>
                    <a:pt x="45" y="0"/>
                    <a:pt x="50" y="6"/>
                    <a:pt x="51" y="18"/>
                  </a:cubicBezTo>
                  <a:cubicBezTo>
                    <a:pt x="49" y="25"/>
                    <a:pt x="44" y="31"/>
                    <a:pt x="39" y="36"/>
                  </a:cubicBezTo>
                  <a:cubicBezTo>
                    <a:pt x="33" y="40"/>
                    <a:pt x="27" y="44"/>
                    <a:pt x="22" y="47"/>
                  </a:cubicBezTo>
                  <a:cubicBezTo>
                    <a:pt x="20" y="47"/>
                    <a:pt x="19" y="48"/>
                    <a:pt x="17" y="4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3" name="Freeform 81"/>
            <p:cNvSpPr/>
            <p:nvPr userDrawn="1"/>
          </p:nvSpPr>
          <p:spPr bwMode="auto">
            <a:xfrm>
              <a:off x="1687" y="715"/>
              <a:ext cx="38" cy="42"/>
            </a:xfrm>
            <a:custGeom>
              <a:avLst/>
              <a:gdLst>
                <a:gd name="T0" fmla="*/ 3 w 31"/>
                <a:gd name="T1" fmla="*/ 34 h 34"/>
                <a:gd name="T2" fmla="*/ 3 w 31"/>
                <a:gd name="T3" fmla="*/ 29 h 34"/>
                <a:gd name="T4" fmla="*/ 0 w 31"/>
                <a:gd name="T5" fmla="*/ 16 h 34"/>
                <a:gd name="T6" fmla="*/ 7 w 31"/>
                <a:gd name="T7" fmla="*/ 0 h 34"/>
                <a:gd name="T8" fmla="*/ 26 w 31"/>
                <a:gd name="T9" fmla="*/ 23 h 34"/>
                <a:gd name="T10" fmla="*/ 3 w 31"/>
                <a:gd name="T11" fmla="*/ 34 h 34"/>
              </a:gdLst>
              <a:ahLst/>
              <a:cxnLst>
                <a:cxn ang="0">
                  <a:pos x="T0" y="T1"/>
                </a:cxn>
                <a:cxn ang="0">
                  <a:pos x="T2" y="T3"/>
                </a:cxn>
                <a:cxn ang="0">
                  <a:pos x="T4" y="T5"/>
                </a:cxn>
                <a:cxn ang="0">
                  <a:pos x="T6" y="T7"/>
                </a:cxn>
                <a:cxn ang="0">
                  <a:pos x="T8" y="T9"/>
                </a:cxn>
                <a:cxn ang="0">
                  <a:pos x="T10" y="T11"/>
                </a:cxn>
              </a:cxnLst>
              <a:rect l="0" t="0" r="r" b="b"/>
              <a:pathLst>
                <a:path w="31" h="34">
                  <a:moveTo>
                    <a:pt x="3" y="34"/>
                  </a:moveTo>
                  <a:cubicBezTo>
                    <a:pt x="1" y="32"/>
                    <a:pt x="2" y="31"/>
                    <a:pt x="3" y="29"/>
                  </a:cubicBezTo>
                  <a:cubicBezTo>
                    <a:pt x="3" y="24"/>
                    <a:pt x="0" y="20"/>
                    <a:pt x="0" y="16"/>
                  </a:cubicBezTo>
                  <a:cubicBezTo>
                    <a:pt x="1" y="7"/>
                    <a:pt x="0" y="4"/>
                    <a:pt x="7" y="0"/>
                  </a:cubicBezTo>
                  <a:cubicBezTo>
                    <a:pt x="12" y="3"/>
                    <a:pt x="31" y="12"/>
                    <a:pt x="26" y="23"/>
                  </a:cubicBezTo>
                  <a:cubicBezTo>
                    <a:pt x="21" y="29"/>
                    <a:pt x="11" y="33"/>
                    <a:pt x="3" y="3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4" name="Freeform 82"/>
            <p:cNvSpPr/>
            <p:nvPr userDrawn="1"/>
          </p:nvSpPr>
          <p:spPr bwMode="auto">
            <a:xfrm>
              <a:off x="1365" y="728"/>
              <a:ext cx="244" cy="186"/>
            </a:xfrm>
            <a:custGeom>
              <a:avLst/>
              <a:gdLst>
                <a:gd name="T0" fmla="*/ 20 w 197"/>
                <a:gd name="T1" fmla="*/ 150 h 150"/>
                <a:gd name="T2" fmla="*/ 13 w 197"/>
                <a:gd name="T3" fmla="*/ 119 h 150"/>
                <a:gd name="T4" fmla="*/ 17 w 197"/>
                <a:gd name="T5" fmla="*/ 114 h 150"/>
                <a:gd name="T6" fmla="*/ 17 w 197"/>
                <a:gd name="T7" fmla="*/ 113 h 150"/>
                <a:gd name="T8" fmla="*/ 44 w 197"/>
                <a:gd name="T9" fmla="*/ 77 h 150"/>
                <a:gd name="T10" fmla="*/ 52 w 197"/>
                <a:gd name="T11" fmla="*/ 67 h 150"/>
                <a:gd name="T12" fmla="*/ 53 w 197"/>
                <a:gd name="T13" fmla="*/ 78 h 150"/>
                <a:gd name="T14" fmla="*/ 60 w 197"/>
                <a:gd name="T15" fmla="*/ 77 h 150"/>
                <a:gd name="T16" fmla="*/ 85 w 197"/>
                <a:gd name="T17" fmla="*/ 58 h 150"/>
                <a:gd name="T18" fmla="*/ 87 w 197"/>
                <a:gd name="T19" fmla="*/ 48 h 150"/>
                <a:gd name="T20" fmla="*/ 68 w 197"/>
                <a:gd name="T21" fmla="*/ 44 h 150"/>
                <a:gd name="T22" fmla="*/ 88 w 197"/>
                <a:gd name="T23" fmla="*/ 29 h 150"/>
                <a:gd name="T24" fmla="*/ 92 w 197"/>
                <a:gd name="T25" fmla="*/ 9 h 150"/>
                <a:gd name="T26" fmla="*/ 109 w 197"/>
                <a:gd name="T27" fmla="*/ 22 h 150"/>
                <a:gd name="T28" fmla="*/ 110 w 197"/>
                <a:gd name="T29" fmla="*/ 37 h 150"/>
                <a:gd name="T30" fmla="*/ 108 w 197"/>
                <a:gd name="T31" fmla="*/ 46 h 150"/>
                <a:gd name="T32" fmla="*/ 111 w 197"/>
                <a:gd name="T33" fmla="*/ 46 h 150"/>
                <a:gd name="T34" fmla="*/ 131 w 197"/>
                <a:gd name="T35" fmla="*/ 32 h 150"/>
                <a:gd name="T36" fmla="*/ 140 w 197"/>
                <a:gd name="T37" fmla="*/ 5 h 150"/>
                <a:gd name="T38" fmla="*/ 163 w 197"/>
                <a:gd name="T39" fmla="*/ 11 h 150"/>
                <a:gd name="T40" fmla="*/ 176 w 197"/>
                <a:gd name="T41" fmla="*/ 5 h 150"/>
                <a:gd name="T42" fmla="*/ 182 w 197"/>
                <a:gd name="T43" fmla="*/ 4 h 150"/>
                <a:gd name="T44" fmla="*/ 184 w 197"/>
                <a:gd name="T45" fmla="*/ 13 h 150"/>
                <a:gd name="T46" fmla="*/ 157 w 197"/>
                <a:gd name="T47" fmla="*/ 39 h 150"/>
                <a:gd name="T48" fmla="*/ 166 w 197"/>
                <a:gd name="T49" fmla="*/ 29 h 150"/>
                <a:gd name="T50" fmla="*/ 190 w 197"/>
                <a:gd name="T51" fmla="*/ 34 h 150"/>
                <a:gd name="T52" fmla="*/ 184 w 197"/>
                <a:gd name="T53" fmla="*/ 50 h 150"/>
                <a:gd name="T54" fmla="*/ 182 w 197"/>
                <a:gd name="T55" fmla="*/ 54 h 150"/>
                <a:gd name="T56" fmla="*/ 182 w 197"/>
                <a:gd name="T57" fmla="*/ 93 h 150"/>
                <a:gd name="T58" fmla="*/ 173 w 197"/>
                <a:gd name="T59" fmla="*/ 107 h 150"/>
                <a:gd name="T60" fmla="*/ 173 w 197"/>
                <a:gd name="T61" fmla="*/ 107 h 150"/>
                <a:gd name="T62" fmla="*/ 172 w 197"/>
                <a:gd name="T63" fmla="*/ 107 h 150"/>
                <a:gd name="T64" fmla="*/ 158 w 197"/>
                <a:gd name="T65" fmla="*/ 113 h 150"/>
                <a:gd name="T66" fmla="*/ 158 w 197"/>
                <a:gd name="T67" fmla="*/ 58 h 150"/>
                <a:gd name="T68" fmla="*/ 157 w 197"/>
                <a:gd name="T69" fmla="*/ 58 h 150"/>
                <a:gd name="T70" fmla="*/ 139 w 197"/>
                <a:gd name="T71" fmla="*/ 89 h 150"/>
                <a:gd name="T72" fmla="*/ 124 w 197"/>
                <a:gd name="T73" fmla="*/ 80 h 150"/>
                <a:gd name="T74" fmla="*/ 128 w 197"/>
                <a:gd name="T75" fmla="*/ 76 h 150"/>
                <a:gd name="T76" fmla="*/ 130 w 197"/>
                <a:gd name="T77" fmla="*/ 45 h 150"/>
                <a:gd name="T78" fmla="*/ 111 w 197"/>
                <a:gd name="T79" fmla="*/ 64 h 150"/>
                <a:gd name="T80" fmla="*/ 102 w 197"/>
                <a:gd name="T81" fmla="*/ 70 h 150"/>
                <a:gd name="T82" fmla="*/ 97 w 197"/>
                <a:gd name="T83" fmla="*/ 91 h 150"/>
                <a:gd name="T84" fmla="*/ 92 w 197"/>
                <a:gd name="T85" fmla="*/ 101 h 150"/>
                <a:gd name="T86" fmla="*/ 91 w 197"/>
                <a:gd name="T87" fmla="*/ 102 h 150"/>
                <a:gd name="T88" fmla="*/ 74 w 197"/>
                <a:gd name="T89" fmla="*/ 110 h 150"/>
                <a:gd name="T90" fmla="*/ 74 w 197"/>
                <a:gd name="T91" fmla="*/ 107 h 150"/>
                <a:gd name="T92" fmla="*/ 82 w 197"/>
                <a:gd name="T93" fmla="*/ 85 h 150"/>
                <a:gd name="T94" fmla="*/ 63 w 197"/>
                <a:gd name="T95" fmla="*/ 94 h 150"/>
                <a:gd name="T96" fmla="*/ 53 w 197"/>
                <a:gd name="T97" fmla="*/ 91 h 150"/>
                <a:gd name="T98" fmla="*/ 52 w 197"/>
                <a:gd name="T99" fmla="*/ 90 h 150"/>
                <a:gd name="T100" fmla="*/ 48 w 197"/>
                <a:gd name="T101" fmla="*/ 88 h 150"/>
                <a:gd name="T102" fmla="*/ 44 w 197"/>
                <a:gd name="T103" fmla="*/ 100 h 150"/>
                <a:gd name="T104" fmla="*/ 27 w 197"/>
                <a:gd name="T105" fmla="*/ 147 h 150"/>
                <a:gd name="T106" fmla="*/ 20 w 197"/>
                <a:gd name="T10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7" h="150">
                  <a:moveTo>
                    <a:pt x="20" y="150"/>
                  </a:moveTo>
                  <a:cubicBezTo>
                    <a:pt x="9" y="146"/>
                    <a:pt x="0" y="124"/>
                    <a:pt x="13" y="119"/>
                  </a:cubicBezTo>
                  <a:cubicBezTo>
                    <a:pt x="13" y="117"/>
                    <a:pt x="15" y="115"/>
                    <a:pt x="17" y="114"/>
                  </a:cubicBezTo>
                  <a:cubicBezTo>
                    <a:pt x="17" y="114"/>
                    <a:pt x="17" y="113"/>
                    <a:pt x="17" y="113"/>
                  </a:cubicBezTo>
                  <a:cubicBezTo>
                    <a:pt x="27" y="103"/>
                    <a:pt x="35" y="88"/>
                    <a:pt x="44" y="77"/>
                  </a:cubicBezTo>
                  <a:cubicBezTo>
                    <a:pt x="46" y="72"/>
                    <a:pt x="47" y="68"/>
                    <a:pt x="52" y="67"/>
                  </a:cubicBezTo>
                  <a:cubicBezTo>
                    <a:pt x="55" y="69"/>
                    <a:pt x="54" y="74"/>
                    <a:pt x="53" y="78"/>
                  </a:cubicBezTo>
                  <a:cubicBezTo>
                    <a:pt x="54" y="79"/>
                    <a:pt x="58" y="78"/>
                    <a:pt x="60" y="77"/>
                  </a:cubicBezTo>
                  <a:cubicBezTo>
                    <a:pt x="68" y="71"/>
                    <a:pt x="78" y="65"/>
                    <a:pt x="85" y="58"/>
                  </a:cubicBezTo>
                  <a:cubicBezTo>
                    <a:pt x="86" y="55"/>
                    <a:pt x="86" y="52"/>
                    <a:pt x="87" y="48"/>
                  </a:cubicBezTo>
                  <a:cubicBezTo>
                    <a:pt x="81" y="50"/>
                    <a:pt x="64" y="54"/>
                    <a:pt x="68" y="44"/>
                  </a:cubicBezTo>
                  <a:cubicBezTo>
                    <a:pt x="75" y="41"/>
                    <a:pt x="84" y="36"/>
                    <a:pt x="88" y="29"/>
                  </a:cubicBezTo>
                  <a:cubicBezTo>
                    <a:pt x="90" y="22"/>
                    <a:pt x="89" y="14"/>
                    <a:pt x="92" y="9"/>
                  </a:cubicBezTo>
                  <a:cubicBezTo>
                    <a:pt x="99" y="5"/>
                    <a:pt x="108" y="14"/>
                    <a:pt x="109" y="22"/>
                  </a:cubicBezTo>
                  <a:cubicBezTo>
                    <a:pt x="112" y="27"/>
                    <a:pt x="121" y="21"/>
                    <a:pt x="110" y="37"/>
                  </a:cubicBezTo>
                  <a:cubicBezTo>
                    <a:pt x="108" y="39"/>
                    <a:pt x="108" y="42"/>
                    <a:pt x="108" y="46"/>
                  </a:cubicBezTo>
                  <a:cubicBezTo>
                    <a:pt x="109" y="46"/>
                    <a:pt x="110" y="46"/>
                    <a:pt x="111" y="46"/>
                  </a:cubicBezTo>
                  <a:cubicBezTo>
                    <a:pt x="117" y="41"/>
                    <a:pt x="124" y="36"/>
                    <a:pt x="131" y="32"/>
                  </a:cubicBezTo>
                  <a:cubicBezTo>
                    <a:pt x="133" y="22"/>
                    <a:pt x="135" y="14"/>
                    <a:pt x="140" y="5"/>
                  </a:cubicBezTo>
                  <a:cubicBezTo>
                    <a:pt x="147" y="0"/>
                    <a:pt x="156" y="5"/>
                    <a:pt x="163" y="11"/>
                  </a:cubicBezTo>
                  <a:cubicBezTo>
                    <a:pt x="168" y="11"/>
                    <a:pt x="172" y="8"/>
                    <a:pt x="176" y="5"/>
                  </a:cubicBezTo>
                  <a:cubicBezTo>
                    <a:pt x="178" y="4"/>
                    <a:pt x="178" y="4"/>
                    <a:pt x="182" y="4"/>
                  </a:cubicBezTo>
                  <a:cubicBezTo>
                    <a:pt x="183" y="7"/>
                    <a:pt x="184" y="9"/>
                    <a:pt x="184" y="13"/>
                  </a:cubicBezTo>
                  <a:cubicBezTo>
                    <a:pt x="181" y="24"/>
                    <a:pt x="151" y="27"/>
                    <a:pt x="157" y="39"/>
                  </a:cubicBezTo>
                  <a:cubicBezTo>
                    <a:pt x="162" y="39"/>
                    <a:pt x="164" y="33"/>
                    <a:pt x="166" y="29"/>
                  </a:cubicBezTo>
                  <a:cubicBezTo>
                    <a:pt x="171" y="26"/>
                    <a:pt x="184" y="30"/>
                    <a:pt x="190" y="34"/>
                  </a:cubicBezTo>
                  <a:cubicBezTo>
                    <a:pt x="197" y="42"/>
                    <a:pt x="192" y="45"/>
                    <a:pt x="184" y="50"/>
                  </a:cubicBezTo>
                  <a:cubicBezTo>
                    <a:pt x="183" y="52"/>
                    <a:pt x="183" y="53"/>
                    <a:pt x="182" y="54"/>
                  </a:cubicBezTo>
                  <a:cubicBezTo>
                    <a:pt x="181" y="70"/>
                    <a:pt x="181" y="70"/>
                    <a:pt x="182" y="93"/>
                  </a:cubicBezTo>
                  <a:cubicBezTo>
                    <a:pt x="179" y="99"/>
                    <a:pt x="177" y="102"/>
                    <a:pt x="173" y="107"/>
                  </a:cubicBezTo>
                  <a:cubicBezTo>
                    <a:pt x="173" y="107"/>
                    <a:pt x="173" y="107"/>
                    <a:pt x="173" y="107"/>
                  </a:cubicBezTo>
                  <a:cubicBezTo>
                    <a:pt x="172" y="107"/>
                    <a:pt x="172" y="107"/>
                    <a:pt x="172" y="107"/>
                  </a:cubicBezTo>
                  <a:cubicBezTo>
                    <a:pt x="169" y="112"/>
                    <a:pt x="162" y="117"/>
                    <a:pt x="158" y="113"/>
                  </a:cubicBezTo>
                  <a:cubicBezTo>
                    <a:pt x="158" y="94"/>
                    <a:pt x="159" y="75"/>
                    <a:pt x="158" y="58"/>
                  </a:cubicBezTo>
                  <a:cubicBezTo>
                    <a:pt x="158" y="58"/>
                    <a:pt x="157" y="58"/>
                    <a:pt x="157" y="58"/>
                  </a:cubicBezTo>
                  <a:cubicBezTo>
                    <a:pt x="156" y="67"/>
                    <a:pt x="147" y="84"/>
                    <a:pt x="139" y="89"/>
                  </a:cubicBezTo>
                  <a:cubicBezTo>
                    <a:pt x="132" y="90"/>
                    <a:pt x="126" y="86"/>
                    <a:pt x="124" y="80"/>
                  </a:cubicBezTo>
                  <a:cubicBezTo>
                    <a:pt x="125" y="78"/>
                    <a:pt x="126" y="77"/>
                    <a:pt x="128" y="76"/>
                  </a:cubicBezTo>
                  <a:cubicBezTo>
                    <a:pt x="132" y="68"/>
                    <a:pt x="130" y="53"/>
                    <a:pt x="130" y="45"/>
                  </a:cubicBezTo>
                  <a:cubicBezTo>
                    <a:pt x="125" y="46"/>
                    <a:pt x="115" y="59"/>
                    <a:pt x="111" y="64"/>
                  </a:cubicBezTo>
                  <a:cubicBezTo>
                    <a:pt x="108" y="66"/>
                    <a:pt x="105" y="68"/>
                    <a:pt x="102" y="70"/>
                  </a:cubicBezTo>
                  <a:cubicBezTo>
                    <a:pt x="100" y="77"/>
                    <a:pt x="98" y="84"/>
                    <a:pt x="97" y="91"/>
                  </a:cubicBezTo>
                  <a:cubicBezTo>
                    <a:pt x="95" y="95"/>
                    <a:pt x="93" y="98"/>
                    <a:pt x="92" y="101"/>
                  </a:cubicBezTo>
                  <a:cubicBezTo>
                    <a:pt x="91" y="101"/>
                    <a:pt x="91" y="101"/>
                    <a:pt x="91" y="102"/>
                  </a:cubicBezTo>
                  <a:cubicBezTo>
                    <a:pt x="88" y="106"/>
                    <a:pt x="80" y="118"/>
                    <a:pt x="74" y="110"/>
                  </a:cubicBezTo>
                  <a:cubicBezTo>
                    <a:pt x="74" y="109"/>
                    <a:pt x="74" y="108"/>
                    <a:pt x="74" y="107"/>
                  </a:cubicBezTo>
                  <a:cubicBezTo>
                    <a:pt x="79" y="101"/>
                    <a:pt x="82" y="92"/>
                    <a:pt x="82" y="85"/>
                  </a:cubicBezTo>
                  <a:cubicBezTo>
                    <a:pt x="75" y="87"/>
                    <a:pt x="70" y="94"/>
                    <a:pt x="63" y="94"/>
                  </a:cubicBezTo>
                  <a:cubicBezTo>
                    <a:pt x="59" y="93"/>
                    <a:pt x="55" y="92"/>
                    <a:pt x="53" y="91"/>
                  </a:cubicBezTo>
                  <a:cubicBezTo>
                    <a:pt x="53" y="90"/>
                    <a:pt x="53" y="90"/>
                    <a:pt x="52" y="90"/>
                  </a:cubicBezTo>
                  <a:cubicBezTo>
                    <a:pt x="51" y="89"/>
                    <a:pt x="49" y="87"/>
                    <a:pt x="48" y="88"/>
                  </a:cubicBezTo>
                  <a:cubicBezTo>
                    <a:pt x="47" y="91"/>
                    <a:pt x="45" y="96"/>
                    <a:pt x="44" y="100"/>
                  </a:cubicBezTo>
                  <a:cubicBezTo>
                    <a:pt x="37" y="115"/>
                    <a:pt x="32" y="130"/>
                    <a:pt x="27" y="147"/>
                  </a:cubicBezTo>
                  <a:cubicBezTo>
                    <a:pt x="24" y="149"/>
                    <a:pt x="23" y="150"/>
                    <a:pt x="20" y="15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5" name="Freeform 83"/>
            <p:cNvSpPr/>
            <p:nvPr userDrawn="1"/>
          </p:nvSpPr>
          <p:spPr bwMode="auto">
            <a:xfrm>
              <a:off x="1401" y="757"/>
              <a:ext cx="37" cy="49"/>
            </a:xfrm>
            <a:custGeom>
              <a:avLst/>
              <a:gdLst>
                <a:gd name="T0" fmla="*/ 5 w 30"/>
                <a:gd name="T1" fmla="*/ 39 h 39"/>
                <a:gd name="T2" fmla="*/ 6 w 30"/>
                <a:gd name="T3" fmla="*/ 28 h 39"/>
                <a:gd name="T4" fmla="*/ 6 w 30"/>
                <a:gd name="T5" fmla="*/ 1 h 39"/>
                <a:gd name="T6" fmla="*/ 10 w 30"/>
                <a:gd name="T7" fmla="*/ 0 h 39"/>
                <a:gd name="T8" fmla="*/ 25 w 30"/>
                <a:gd name="T9" fmla="*/ 17 h 39"/>
                <a:gd name="T10" fmla="*/ 5 w 30"/>
                <a:gd name="T11" fmla="*/ 39 h 39"/>
              </a:gdLst>
              <a:ahLst/>
              <a:cxnLst>
                <a:cxn ang="0">
                  <a:pos x="T0" y="T1"/>
                </a:cxn>
                <a:cxn ang="0">
                  <a:pos x="T2" y="T3"/>
                </a:cxn>
                <a:cxn ang="0">
                  <a:pos x="T4" y="T5"/>
                </a:cxn>
                <a:cxn ang="0">
                  <a:pos x="T6" y="T7"/>
                </a:cxn>
                <a:cxn ang="0">
                  <a:pos x="T8" y="T9"/>
                </a:cxn>
                <a:cxn ang="0">
                  <a:pos x="T10" y="T11"/>
                </a:cxn>
              </a:cxnLst>
              <a:rect l="0" t="0" r="r" b="b"/>
              <a:pathLst>
                <a:path w="30" h="39">
                  <a:moveTo>
                    <a:pt x="5" y="39"/>
                  </a:moveTo>
                  <a:cubicBezTo>
                    <a:pt x="3" y="35"/>
                    <a:pt x="6" y="31"/>
                    <a:pt x="6" y="28"/>
                  </a:cubicBezTo>
                  <a:cubicBezTo>
                    <a:pt x="3" y="17"/>
                    <a:pt x="0" y="9"/>
                    <a:pt x="6" y="1"/>
                  </a:cubicBezTo>
                  <a:cubicBezTo>
                    <a:pt x="7" y="0"/>
                    <a:pt x="9" y="0"/>
                    <a:pt x="10" y="0"/>
                  </a:cubicBezTo>
                  <a:cubicBezTo>
                    <a:pt x="14" y="4"/>
                    <a:pt x="21" y="11"/>
                    <a:pt x="25" y="17"/>
                  </a:cubicBezTo>
                  <a:cubicBezTo>
                    <a:pt x="30" y="29"/>
                    <a:pt x="14" y="35"/>
                    <a:pt x="5" y="3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6" name="Freeform 84"/>
            <p:cNvSpPr/>
            <p:nvPr userDrawn="1"/>
          </p:nvSpPr>
          <p:spPr bwMode="auto">
            <a:xfrm>
              <a:off x="1411" y="708"/>
              <a:ext cx="46" cy="47"/>
            </a:xfrm>
            <a:custGeom>
              <a:avLst/>
              <a:gdLst>
                <a:gd name="T0" fmla="*/ 7 w 37"/>
                <a:gd name="T1" fmla="*/ 38 h 38"/>
                <a:gd name="T2" fmla="*/ 4 w 37"/>
                <a:gd name="T3" fmla="*/ 36 h 38"/>
                <a:gd name="T4" fmla="*/ 6 w 37"/>
                <a:gd name="T5" fmla="*/ 29 h 38"/>
                <a:gd name="T6" fmla="*/ 11 w 37"/>
                <a:gd name="T7" fmla="*/ 0 h 38"/>
                <a:gd name="T8" fmla="*/ 16 w 37"/>
                <a:gd name="T9" fmla="*/ 7 h 38"/>
                <a:gd name="T10" fmla="*/ 24 w 37"/>
                <a:gd name="T11" fmla="*/ 32 h 38"/>
                <a:gd name="T12" fmla="*/ 7 w 37"/>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7" h="38">
                  <a:moveTo>
                    <a:pt x="7" y="38"/>
                  </a:moveTo>
                  <a:cubicBezTo>
                    <a:pt x="5" y="37"/>
                    <a:pt x="5" y="37"/>
                    <a:pt x="4" y="36"/>
                  </a:cubicBezTo>
                  <a:cubicBezTo>
                    <a:pt x="6" y="33"/>
                    <a:pt x="7" y="32"/>
                    <a:pt x="6" y="29"/>
                  </a:cubicBezTo>
                  <a:cubicBezTo>
                    <a:pt x="0" y="20"/>
                    <a:pt x="0" y="5"/>
                    <a:pt x="11" y="0"/>
                  </a:cubicBezTo>
                  <a:cubicBezTo>
                    <a:pt x="14" y="0"/>
                    <a:pt x="15" y="3"/>
                    <a:pt x="16" y="7"/>
                  </a:cubicBezTo>
                  <a:cubicBezTo>
                    <a:pt x="23" y="14"/>
                    <a:pt x="37" y="23"/>
                    <a:pt x="24" y="32"/>
                  </a:cubicBezTo>
                  <a:cubicBezTo>
                    <a:pt x="18" y="35"/>
                    <a:pt x="13" y="36"/>
                    <a:pt x="7" y="38"/>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7" name="Freeform 85"/>
            <p:cNvSpPr/>
            <p:nvPr userDrawn="1"/>
          </p:nvSpPr>
          <p:spPr bwMode="auto">
            <a:xfrm>
              <a:off x="2067" y="765"/>
              <a:ext cx="26" cy="39"/>
            </a:xfrm>
            <a:custGeom>
              <a:avLst/>
              <a:gdLst>
                <a:gd name="T0" fmla="*/ 10 w 21"/>
                <a:gd name="T1" fmla="*/ 31 h 31"/>
                <a:gd name="T2" fmla="*/ 3 w 21"/>
                <a:gd name="T3" fmla="*/ 4 h 31"/>
                <a:gd name="T4" fmla="*/ 21 w 21"/>
                <a:gd name="T5" fmla="*/ 18 h 31"/>
                <a:gd name="T6" fmla="*/ 10 w 21"/>
                <a:gd name="T7" fmla="*/ 31 h 31"/>
              </a:gdLst>
              <a:ahLst/>
              <a:cxnLst>
                <a:cxn ang="0">
                  <a:pos x="T0" y="T1"/>
                </a:cxn>
                <a:cxn ang="0">
                  <a:pos x="T2" y="T3"/>
                </a:cxn>
                <a:cxn ang="0">
                  <a:pos x="T4" y="T5"/>
                </a:cxn>
                <a:cxn ang="0">
                  <a:pos x="T6" y="T7"/>
                </a:cxn>
              </a:cxnLst>
              <a:rect l="0" t="0" r="r" b="b"/>
              <a:pathLst>
                <a:path w="21" h="31">
                  <a:moveTo>
                    <a:pt x="10" y="31"/>
                  </a:moveTo>
                  <a:cubicBezTo>
                    <a:pt x="0" y="27"/>
                    <a:pt x="2" y="11"/>
                    <a:pt x="3" y="4"/>
                  </a:cubicBezTo>
                  <a:cubicBezTo>
                    <a:pt x="11" y="0"/>
                    <a:pt x="20" y="9"/>
                    <a:pt x="21" y="18"/>
                  </a:cubicBezTo>
                  <a:cubicBezTo>
                    <a:pt x="19" y="27"/>
                    <a:pt x="19" y="29"/>
                    <a:pt x="10" y="3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8" name="Freeform 86"/>
            <p:cNvSpPr>
              <a:spLocks noEditPoints="1"/>
            </p:cNvSpPr>
            <p:nvPr userDrawn="1"/>
          </p:nvSpPr>
          <p:spPr bwMode="auto">
            <a:xfrm>
              <a:off x="2057" y="673"/>
              <a:ext cx="166" cy="224"/>
            </a:xfrm>
            <a:custGeom>
              <a:avLst/>
              <a:gdLst>
                <a:gd name="T0" fmla="*/ 71 w 134"/>
                <a:gd name="T1" fmla="*/ 180 h 180"/>
                <a:gd name="T2" fmla="*/ 34 w 134"/>
                <a:gd name="T3" fmla="*/ 173 h 180"/>
                <a:gd name="T4" fmla="*/ 56 w 134"/>
                <a:gd name="T5" fmla="*/ 148 h 180"/>
                <a:gd name="T6" fmla="*/ 0 w 134"/>
                <a:gd name="T7" fmla="*/ 147 h 180"/>
                <a:gd name="T8" fmla="*/ 56 w 134"/>
                <a:gd name="T9" fmla="*/ 124 h 180"/>
                <a:gd name="T10" fmla="*/ 75 w 134"/>
                <a:gd name="T11" fmla="*/ 108 h 180"/>
                <a:gd name="T12" fmla="*/ 91 w 134"/>
                <a:gd name="T13" fmla="*/ 96 h 180"/>
                <a:gd name="T14" fmla="*/ 32 w 134"/>
                <a:gd name="T15" fmla="*/ 119 h 180"/>
                <a:gd name="T16" fmla="*/ 34 w 134"/>
                <a:gd name="T17" fmla="*/ 108 h 180"/>
                <a:gd name="T18" fmla="*/ 73 w 134"/>
                <a:gd name="T19" fmla="*/ 81 h 180"/>
                <a:gd name="T20" fmla="*/ 71 w 134"/>
                <a:gd name="T21" fmla="*/ 78 h 180"/>
                <a:gd name="T22" fmla="*/ 39 w 134"/>
                <a:gd name="T23" fmla="*/ 93 h 180"/>
                <a:gd name="T24" fmla="*/ 27 w 134"/>
                <a:gd name="T25" fmla="*/ 61 h 180"/>
                <a:gd name="T26" fmla="*/ 33 w 134"/>
                <a:gd name="T27" fmla="*/ 44 h 180"/>
                <a:gd name="T28" fmla="*/ 46 w 134"/>
                <a:gd name="T29" fmla="*/ 56 h 180"/>
                <a:gd name="T30" fmla="*/ 60 w 134"/>
                <a:gd name="T31" fmla="*/ 66 h 180"/>
                <a:gd name="T32" fmla="*/ 68 w 134"/>
                <a:gd name="T33" fmla="*/ 55 h 180"/>
                <a:gd name="T34" fmla="*/ 64 w 134"/>
                <a:gd name="T35" fmla="*/ 45 h 180"/>
                <a:gd name="T36" fmla="*/ 84 w 134"/>
                <a:gd name="T37" fmla="*/ 25 h 180"/>
                <a:gd name="T38" fmla="*/ 111 w 134"/>
                <a:gd name="T39" fmla="*/ 20 h 180"/>
                <a:gd name="T40" fmla="*/ 110 w 134"/>
                <a:gd name="T41" fmla="*/ 29 h 180"/>
                <a:gd name="T42" fmla="*/ 132 w 134"/>
                <a:gd name="T43" fmla="*/ 44 h 180"/>
                <a:gd name="T44" fmla="*/ 115 w 134"/>
                <a:gd name="T45" fmla="*/ 77 h 180"/>
                <a:gd name="T46" fmla="*/ 120 w 134"/>
                <a:gd name="T47" fmla="*/ 94 h 180"/>
                <a:gd name="T48" fmla="*/ 78 w 134"/>
                <a:gd name="T49" fmla="*/ 114 h 180"/>
                <a:gd name="T50" fmla="*/ 92 w 134"/>
                <a:gd name="T51" fmla="*/ 119 h 180"/>
                <a:gd name="T52" fmla="*/ 81 w 134"/>
                <a:gd name="T53" fmla="*/ 140 h 180"/>
                <a:gd name="T54" fmla="*/ 72 w 134"/>
                <a:gd name="T55" fmla="*/ 180 h 180"/>
                <a:gd name="T56" fmla="*/ 106 w 134"/>
                <a:gd name="T57" fmla="*/ 53 h 180"/>
                <a:gd name="T58" fmla="*/ 87 w 134"/>
                <a:gd name="T59" fmla="*/ 59 h 180"/>
                <a:gd name="T60" fmla="*/ 87 w 134"/>
                <a:gd name="T61" fmla="*/ 60 h 180"/>
                <a:gd name="T62" fmla="*/ 92 w 134"/>
                <a:gd name="T63" fmla="*/ 58 h 180"/>
                <a:gd name="T64" fmla="*/ 99 w 134"/>
                <a:gd name="T65" fmla="*/ 6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4" h="180">
                  <a:moveTo>
                    <a:pt x="72" y="180"/>
                  </a:moveTo>
                  <a:cubicBezTo>
                    <a:pt x="71" y="180"/>
                    <a:pt x="71" y="180"/>
                    <a:pt x="71" y="180"/>
                  </a:cubicBezTo>
                  <a:cubicBezTo>
                    <a:pt x="58" y="180"/>
                    <a:pt x="46" y="179"/>
                    <a:pt x="34" y="175"/>
                  </a:cubicBezTo>
                  <a:cubicBezTo>
                    <a:pt x="34" y="174"/>
                    <a:pt x="34" y="174"/>
                    <a:pt x="34" y="173"/>
                  </a:cubicBezTo>
                  <a:cubicBezTo>
                    <a:pt x="41" y="169"/>
                    <a:pt x="50" y="170"/>
                    <a:pt x="55" y="163"/>
                  </a:cubicBezTo>
                  <a:cubicBezTo>
                    <a:pt x="56" y="157"/>
                    <a:pt x="57" y="152"/>
                    <a:pt x="56" y="148"/>
                  </a:cubicBezTo>
                  <a:cubicBezTo>
                    <a:pt x="43" y="148"/>
                    <a:pt x="37" y="157"/>
                    <a:pt x="27" y="161"/>
                  </a:cubicBezTo>
                  <a:cubicBezTo>
                    <a:pt x="18" y="162"/>
                    <a:pt x="3" y="154"/>
                    <a:pt x="0" y="147"/>
                  </a:cubicBezTo>
                  <a:cubicBezTo>
                    <a:pt x="0" y="136"/>
                    <a:pt x="3" y="141"/>
                    <a:pt x="14" y="140"/>
                  </a:cubicBezTo>
                  <a:cubicBezTo>
                    <a:pt x="28" y="138"/>
                    <a:pt x="43" y="130"/>
                    <a:pt x="56" y="124"/>
                  </a:cubicBezTo>
                  <a:cubicBezTo>
                    <a:pt x="59" y="121"/>
                    <a:pt x="59" y="121"/>
                    <a:pt x="61" y="121"/>
                  </a:cubicBezTo>
                  <a:cubicBezTo>
                    <a:pt x="64" y="112"/>
                    <a:pt x="66" y="110"/>
                    <a:pt x="75" y="108"/>
                  </a:cubicBezTo>
                  <a:cubicBezTo>
                    <a:pt x="79" y="106"/>
                    <a:pt x="79" y="106"/>
                    <a:pt x="90" y="100"/>
                  </a:cubicBezTo>
                  <a:cubicBezTo>
                    <a:pt x="90" y="99"/>
                    <a:pt x="91" y="98"/>
                    <a:pt x="91" y="96"/>
                  </a:cubicBezTo>
                  <a:cubicBezTo>
                    <a:pt x="74" y="98"/>
                    <a:pt x="61" y="112"/>
                    <a:pt x="48" y="121"/>
                  </a:cubicBezTo>
                  <a:cubicBezTo>
                    <a:pt x="41" y="122"/>
                    <a:pt x="36" y="121"/>
                    <a:pt x="32" y="119"/>
                  </a:cubicBezTo>
                  <a:cubicBezTo>
                    <a:pt x="29" y="120"/>
                    <a:pt x="12" y="123"/>
                    <a:pt x="20" y="116"/>
                  </a:cubicBezTo>
                  <a:cubicBezTo>
                    <a:pt x="25" y="114"/>
                    <a:pt x="29" y="111"/>
                    <a:pt x="34" y="108"/>
                  </a:cubicBezTo>
                  <a:cubicBezTo>
                    <a:pt x="47" y="100"/>
                    <a:pt x="61" y="93"/>
                    <a:pt x="74" y="85"/>
                  </a:cubicBezTo>
                  <a:cubicBezTo>
                    <a:pt x="74" y="83"/>
                    <a:pt x="73" y="82"/>
                    <a:pt x="73" y="81"/>
                  </a:cubicBezTo>
                  <a:cubicBezTo>
                    <a:pt x="73" y="79"/>
                    <a:pt x="74" y="77"/>
                    <a:pt x="74" y="75"/>
                  </a:cubicBezTo>
                  <a:cubicBezTo>
                    <a:pt x="72" y="76"/>
                    <a:pt x="71" y="76"/>
                    <a:pt x="71" y="78"/>
                  </a:cubicBezTo>
                  <a:cubicBezTo>
                    <a:pt x="63" y="81"/>
                    <a:pt x="59" y="88"/>
                    <a:pt x="53" y="81"/>
                  </a:cubicBezTo>
                  <a:cubicBezTo>
                    <a:pt x="51" y="88"/>
                    <a:pt x="46" y="93"/>
                    <a:pt x="39" y="93"/>
                  </a:cubicBezTo>
                  <a:cubicBezTo>
                    <a:pt x="32" y="89"/>
                    <a:pt x="32" y="77"/>
                    <a:pt x="31" y="72"/>
                  </a:cubicBezTo>
                  <a:cubicBezTo>
                    <a:pt x="30" y="71"/>
                    <a:pt x="29" y="67"/>
                    <a:pt x="27" y="61"/>
                  </a:cubicBezTo>
                  <a:cubicBezTo>
                    <a:pt x="24" y="55"/>
                    <a:pt x="18" y="47"/>
                    <a:pt x="22" y="42"/>
                  </a:cubicBezTo>
                  <a:cubicBezTo>
                    <a:pt x="27" y="38"/>
                    <a:pt x="29" y="37"/>
                    <a:pt x="33" y="44"/>
                  </a:cubicBezTo>
                  <a:cubicBezTo>
                    <a:pt x="37" y="47"/>
                    <a:pt x="42" y="51"/>
                    <a:pt x="45" y="56"/>
                  </a:cubicBezTo>
                  <a:cubicBezTo>
                    <a:pt x="45" y="56"/>
                    <a:pt x="46" y="56"/>
                    <a:pt x="46" y="56"/>
                  </a:cubicBezTo>
                  <a:cubicBezTo>
                    <a:pt x="48" y="62"/>
                    <a:pt x="54" y="69"/>
                    <a:pt x="53" y="77"/>
                  </a:cubicBezTo>
                  <a:cubicBezTo>
                    <a:pt x="57" y="75"/>
                    <a:pt x="62" y="71"/>
                    <a:pt x="60" y="66"/>
                  </a:cubicBezTo>
                  <a:cubicBezTo>
                    <a:pt x="53" y="63"/>
                    <a:pt x="57" y="57"/>
                    <a:pt x="61" y="55"/>
                  </a:cubicBezTo>
                  <a:cubicBezTo>
                    <a:pt x="64" y="55"/>
                    <a:pt x="64" y="55"/>
                    <a:pt x="68" y="55"/>
                  </a:cubicBezTo>
                  <a:cubicBezTo>
                    <a:pt x="68" y="53"/>
                    <a:pt x="68" y="53"/>
                    <a:pt x="67" y="52"/>
                  </a:cubicBezTo>
                  <a:cubicBezTo>
                    <a:pt x="62" y="50"/>
                    <a:pt x="63" y="49"/>
                    <a:pt x="64" y="45"/>
                  </a:cubicBezTo>
                  <a:cubicBezTo>
                    <a:pt x="58" y="43"/>
                    <a:pt x="56" y="37"/>
                    <a:pt x="58" y="32"/>
                  </a:cubicBezTo>
                  <a:cubicBezTo>
                    <a:pt x="76" y="28"/>
                    <a:pt x="76" y="28"/>
                    <a:pt x="84" y="25"/>
                  </a:cubicBezTo>
                  <a:cubicBezTo>
                    <a:pt x="89" y="19"/>
                    <a:pt x="95" y="0"/>
                    <a:pt x="106" y="4"/>
                  </a:cubicBezTo>
                  <a:cubicBezTo>
                    <a:pt x="109" y="7"/>
                    <a:pt x="111" y="14"/>
                    <a:pt x="111" y="20"/>
                  </a:cubicBezTo>
                  <a:cubicBezTo>
                    <a:pt x="109" y="23"/>
                    <a:pt x="107" y="25"/>
                    <a:pt x="107" y="28"/>
                  </a:cubicBezTo>
                  <a:cubicBezTo>
                    <a:pt x="108" y="28"/>
                    <a:pt x="109" y="28"/>
                    <a:pt x="110" y="29"/>
                  </a:cubicBezTo>
                  <a:cubicBezTo>
                    <a:pt x="117" y="25"/>
                    <a:pt x="121" y="21"/>
                    <a:pt x="125" y="31"/>
                  </a:cubicBezTo>
                  <a:cubicBezTo>
                    <a:pt x="132" y="35"/>
                    <a:pt x="134" y="34"/>
                    <a:pt x="132" y="44"/>
                  </a:cubicBezTo>
                  <a:cubicBezTo>
                    <a:pt x="127" y="55"/>
                    <a:pt x="121" y="66"/>
                    <a:pt x="115" y="76"/>
                  </a:cubicBezTo>
                  <a:cubicBezTo>
                    <a:pt x="115" y="76"/>
                    <a:pt x="115" y="77"/>
                    <a:pt x="115" y="77"/>
                  </a:cubicBezTo>
                  <a:cubicBezTo>
                    <a:pt x="117" y="77"/>
                    <a:pt x="118" y="78"/>
                    <a:pt x="119" y="78"/>
                  </a:cubicBezTo>
                  <a:cubicBezTo>
                    <a:pt x="120" y="83"/>
                    <a:pt x="120" y="88"/>
                    <a:pt x="120" y="94"/>
                  </a:cubicBezTo>
                  <a:cubicBezTo>
                    <a:pt x="116" y="100"/>
                    <a:pt x="110" y="100"/>
                    <a:pt x="103" y="101"/>
                  </a:cubicBezTo>
                  <a:cubicBezTo>
                    <a:pt x="94" y="106"/>
                    <a:pt x="86" y="109"/>
                    <a:pt x="78" y="114"/>
                  </a:cubicBezTo>
                  <a:cubicBezTo>
                    <a:pt x="78" y="116"/>
                    <a:pt x="78" y="118"/>
                    <a:pt x="79" y="120"/>
                  </a:cubicBezTo>
                  <a:cubicBezTo>
                    <a:pt x="83" y="120"/>
                    <a:pt x="87" y="120"/>
                    <a:pt x="92" y="119"/>
                  </a:cubicBezTo>
                  <a:cubicBezTo>
                    <a:pt x="96" y="123"/>
                    <a:pt x="96" y="131"/>
                    <a:pt x="93" y="136"/>
                  </a:cubicBezTo>
                  <a:cubicBezTo>
                    <a:pt x="88" y="137"/>
                    <a:pt x="85" y="138"/>
                    <a:pt x="81" y="140"/>
                  </a:cubicBezTo>
                  <a:cubicBezTo>
                    <a:pt x="81" y="142"/>
                    <a:pt x="81" y="144"/>
                    <a:pt x="80" y="147"/>
                  </a:cubicBezTo>
                  <a:cubicBezTo>
                    <a:pt x="81" y="156"/>
                    <a:pt x="85" y="178"/>
                    <a:pt x="72" y="180"/>
                  </a:cubicBezTo>
                  <a:moveTo>
                    <a:pt x="99" y="67"/>
                  </a:moveTo>
                  <a:cubicBezTo>
                    <a:pt x="103" y="63"/>
                    <a:pt x="106" y="58"/>
                    <a:pt x="106" y="53"/>
                  </a:cubicBezTo>
                  <a:cubicBezTo>
                    <a:pt x="102" y="49"/>
                    <a:pt x="96" y="49"/>
                    <a:pt x="92" y="49"/>
                  </a:cubicBezTo>
                  <a:cubicBezTo>
                    <a:pt x="92" y="51"/>
                    <a:pt x="92" y="51"/>
                    <a:pt x="87" y="59"/>
                  </a:cubicBezTo>
                  <a:cubicBezTo>
                    <a:pt x="88" y="59"/>
                    <a:pt x="88" y="59"/>
                    <a:pt x="89" y="59"/>
                  </a:cubicBezTo>
                  <a:cubicBezTo>
                    <a:pt x="88" y="60"/>
                    <a:pt x="88" y="60"/>
                    <a:pt x="87" y="60"/>
                  </a:cubicBezTo>
                  <a:cubicBezTo>
                    <a:pt x="87" y="60"/>
                    <a:pt x="88" y="60"/>
                    <a:pt x="88" y="61"/>
                  </a:cubicBezTo>
                  <a:cubicBezTo>
                    <a:pt x="90" y="61"/>
                    <a:pt x="91" y="59"/>
                    <a:pt x="92" y="58"/>
                  </a:cubicBezTo>
                  <a:cubicBezTo>
                    <a:pt x="98" y="57"/>
                    <a:pt x="98" y="59"/>
                    <a:pt x="98" y="67"/>
                  </a:cubicBezTo>
                  <a:cubicBezTo>
                    <a:pt x="98" y="67"/>
                    <a:pt x="98" y="67"/>
                    <a:pt x="99" y="6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19" name="Freeform 87"/>
            <p:cNvSpPr/>
            <p:nvPr userDrawn="1"/>
          </p:nvSpPr>
          <p:spPr bwMode="auto">
            <a:xfrm>
              <a:off x="1415" y="933"/>
              <a:ext cx="31" cy="40"/>
            </a:xfrm>
            <a:custGeom>
              <a:avLst/>
              <a:gdLst>
                <a:gd name="T0" fmla="*/ 0 w 31"/>
                <a:gd name="T1" fmla="*/ 35 h 40"/>
                <a:gd name="T2" fmla="*/ 24 w 31"/>
                <a:gd name="T3" fmla="*/ 5 h 40"/>
                <a:gd name="T4" fmla="*/ 2 w 31"/>
                <a:gd name="T5" fmla="*/ 5 h 40"/>
                <a:gd name="T6" fmla="*/ 2 w 31"/>
                <a:gd name="T7" fmla="*/ 3 h 40"/>
                <a:gd name="T8" fmla="*/ 2 w 31"/>
                <a:gd name="T9" fmla="*/ 0 h 40"/>
                <a:gd name="T10" fmla="*/ 31 w 31"/>
                <a:gd name="T11" fmla="*/ 0 h 40"/>
                <a:gd name="T12" fmla="*/ 31 w 31"/>
                <a:gd name="T13" fmla="*/ 3 h 40"/>
                <a:gd name="T14" fmla="*/ 31 w 31"/>
                <a:gd name="T15" fmla="*/ 5 h 40"/>
                <a:gd name="T16" fmla="*/ 6 w 31"/>
                <a:gd name="T17" fmla="*/ 35 h 40"/>
                <a:gd name="T18" fmla="*/ 31 w 31"/>
                <a:gd name="T19" fmla="*/ 35 h 40"/>
                <a:gd name="T20" fmla="*/ 31 w 31"/>
                <a:gd name="T21" fmla="*/ 37 h 40"/>
                <a:gd name="T22" fmla="*/ 31 w 31"/>
                <a:gd name="T23" fmla="*/ 40 h 40"/>
                <a:gd name="T24" fmla="*/ 0 w 31"/>
                <a:gd name="T25" fmla="*/ 40 h 40"/>
                <a:gd name="T26" fmla="*/ 0 w 31"/>
                <a:gd name="T27" fmla="*/ 37 h 40"/>
                <a:gd name="T28" fmla="*/ 0 w 31"/>
                <a:gd name="T29"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0" y="35"/>
                  </a:moveTo>
                  <a:lnTo>
                    <a:pt x="24" y="5"/>
                  </a:lnTo>
                  <a:lnTo>
                    <a:pt x="2" y="5"/>
                  </a:lnTo>
                  <a:lnTo>
                    <a:pt x="2" y="3"/>
                  </a:lnTo>
                  <a:lnTo>
                    <a:pt x="2" y="0"/>
                  </a:lnTo>
                  <a:lnTo>
                    <a:pt x="31" y="0"/>
                  </a:lnTo>
                  <a:lnTo>
                    <a:pt x="31" y="3"/>
                  </a:lnTo>
                  <a:lnTo>
                    <a:pt x="31" y="5"/>
                  </a:lnTo>
                  <a:lnTo>
                    <a:pt x="6" y="35"/>
                  </a:lnTo>
                  <a:lnTo>
                    <a:pt x="31" y="35"/>
                  </a:lnTo>
                  <a:lnTo>
                    <a:pt x="31" y="37"/>
                  </a:lnTo>
                  <a:lnTo>
                    <a:pt x="31" y="40"/>
                  </a:lnTo>
                  <a:lnTo>
                    <a:pt x="0" y="40"/>
                  </a:lnTo>
                  <a:lnTo>
                    <a:pt x="0" y="37"/>
                  </a:lnTo>
                  <a:lnTo>
                    <a:pt x="0" y="3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0" name="Freeform 88"/>
            <p:cNvSpPr/>
            <p:nvPr userDrawn="1"/>
          </p:nvSpPr>
          <p:spPr bwMode="auto">
            <a:xfrm>
              <a:off x="1458" y="933"/>
              <a:ext cx="31" cy="40"/>
            </a:xfrm>
            <a:custGeom>
              <a:avLst/>
              <a:gdLst>
                <a:gd name="T0" fmla="*/ 0 w 31"/>
                <a:gd name="T1" fmla="*/ 0 h 40"/>
                <a:gd name="T2" fmla="*/ 2 w 31"/>
                <a:gd name="T3" fmla="*/ 0 h 40"/>
                <a:gd name="T4" fmla="*/ 5 w 31"/>
                <a:gd name="T5" fmla="*/ 0 h 40"/>
                <a:gd name="T6" fmla="*/ 5 w 31"/>
                <a:gd name="T7" fmla="*/ 16 h 40"/>
                <a:gd name="T8" fmla="*/ 26 w 31"/>
                <a:gd name="T9" fmla="*/ 16 h 40"/>
                <a:gd name="T10" fmla="*/ 26 w 31"/>
                <a:gd name="T11" fmla="*/ 0 h 40"/>
                <a:gd name="T12" fmla="*/ 28 w 31"/>
                <a:gd name="T13" fmla="*/ 0 h 40"/>
                <a:gd name="T14" fmla="*/ 31 w 31"/>
                <a:gd name="T15" fmla="*/ 0 h 40"/>
                <a:gd name="T16" fmla="*/ 31 w 31"/>
                <a:gd name="T17" fmla="*/ 40 h 40"/>
                <a:gd name="T18" fmla="*/ 28 w 31"/>
                <a:gd name="T19" fmla="*/ 40 h 40"/>
                <a:gd name="T20" fmla="*/ 26 w 31"/>
                <a:gd name="T21" fmla="*/ 40 h 40"/>
                <a:gd name="T22" fmla="*/ 26 w 31"/>
                <a:gd name="T23" fmla="*/ 21 h 40"/>
                <a:gd name="T24" fmla="*/ 5 w 31"/>
                <a:gd name="T25" fmla="*/ 21 h 40"/>
                <a:gd name="T26" fmla="*/ 5 w 31"/>
                <a:gd name="T27" fmla="*/ 40 h 40"/>
                <a:gd name="T28" fmla="*/ 2 w 31"/>
                <a:gd name="T29" fmla="*/ 40 h 40"/>
                <a:gd name="T30" fmla="*/ 0 w 31"/>
                <a:gd name="T31" fmla="*/ 40 h 40"/>
                <a:gd name="T32" fmla="*/ 0 w 31"/>
                <a:gd name="T3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40">
                  <a:moveTo>
                    <a:pt x="0" y="0"/>
                  </a:moveTo>
                  <a:lnTo>
                    <a:pt x="2" y="0"/>
                  </a:lnTo>
                  <a:lnTo>
                    <a:pt x="5" y="0"/>
                  </a:lnTo>
                  <a:lnTo>
                    <a:pt x="5" y="16"/>
                  </a:lnTo>
                  <a:lnTo>
                    <a:pt x="26" y="16"/>
                  </a:lnTo>
                  <a:lnTo>
                    <a:pt x="26" y="0"/>
                  </a:lnTo>
                  <a:lnTo>
                    <a:pt x="28" y="0"/>
                  </a:lnTo>
                  <a:lnTo>
                    <a:pt x="31" y="0"/>
                  </a:lnTo>
                  <a:lnTo>
                    <a:pt x="31" y="40"/>
                  </a:lnTo>
                  <a:lnTo>
                    <a:pt x="28" y="40"/>
                  </a:lnTo>
                  <a:lnTo>
                    <a:pt x="26" y="40"/>
                  </a:lnTo>
                  <a:lnTo>
                    <a:pt x="26" y="21"/>
                  </a:lnTo>
                  <a:lnTo>
                    <a:pt x="5" y="21"/>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1" name="Freeform 89"/>
            <p:cNvSpPr/>
            <p:nvPr userDrawn="1"/>
          </p:nvSpPr>
          <p:spPr bwMode="auto">
            <a:xfrm>
              <a:off x="1503" y="933"/>
              <a:ext cx="29" cy="40"/>
            </a:xfrm>
            <a:custGeom>
              <a:avLst/>
              <a:gdLst>
                <a:gd name="T0" fmla="*/ 0 w 29"/>
                <a:gd name="T1" fmla="*/ 40 h 40"/>
                <a:gd name="T2" fmla="*/ 0 w 29"/>
                <a:gd name="T3" fmla="*/ 0 h 40"/>
                <a:gd name="T4" fmla="*/ 29 w 29"/>
                <a:gd name="T5" fmla="*/ 0 h 40"/>
                <a:gd name="T6" fmla="*/ 29 w 29"/>
                <a:gd name="T7" fmla="*/ 3 h 40"/>
                <a:gd name="T8" fmla="*/ 29 w 29"/>
                <a:gd name="T9" fmla="*/ 5 h 40"/>
                <a:gd name="T10" fmla="*/ 6 w 29"/>
                <a:gd name="T11" fmla="*/ 5 h 40"/>
                <a:gd name="T12" fmla="*/ 6 w 29"/>
                <a:gd name="T13" fmla="*/ 16 h 40"/>
                <a:gd name="T14" fmla="*/ 27 w 29"/>
                <a:gd name="T15" fmla="*/ 16 h 40"/>
                <a:gd name="T16" fmla="*/ 27 w 29"/>
                <a:gd name="T17" fmla="*/ 19 h 40"/>
                <a:gd name="T18" fmla="*/ 27 w 29"/>
                <a:gd name="T19" fmla="*/ 21 h 40"/>
                <a:gd name="T20" fmla="*/ 6 w 29"/>
                <a:gd name="T21" fmla="*/ 21 h 40"/>
                <a:gd name="T22" fmla="*/ 6 w 29"/>
                <a:gd name="T23" fmla="*/ 35 h 40"/>
                <a:gd name="T24" fmla="*/ 29 w 29"/>
                <a:gd name="T25" fmla="*/ 35 h 40"/>
                <a:gd name="T26" fmla="*/ 29 w 29"/>
                <a:gd name="T27" fmla="*/ 37 h 40"/>
                <a:gd name="T28" fmla="*/ 29 w 29"/>
                <a:gd name="T29" fmla="*/ 40 h 40"/>
                <a:gd name="T30" fmla="*/ 0 w 29"/>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40">
                  <a:moveTo>
                    <a:pt x="0" y="40"/>
                  </a:moveTo>
                  <a:lnTo>
                    <a:pt x="0" y="0"/>
                  </a:lnTo>
                  <a:lnTo>
                    <a:pt x="29" y="0"/>
                  </a:lnTo>
                  <a:lnTo>
                    <a:pt x="29" y="3"/>
                  </a:lnTo>
                  <a:lnTo>
                    <a:pt x="29" y="5"/>
                  </a:lnTo>
                  <a:lnTo>
                    <a:pt x="6" y="5"/>
                  </a:lnTo>
                  <a:lnTo>
                    <a:pt x="6" y="16"/>
                  </a:lnTo>
                  <a:lnTo>
                    <a:pt x="27" y="16"/>
                  </a:lnTo>
                  <a:lnTo>
                    <a:pt x="27" y="19"/>
                  </a:lnTo>
                  <a:lnTo>
                    <a:pt x="27" y="21"/>
                  </a:lnTo>
                  <a:lnTo>
                    <a:pt x="6" y="21"/>
                  </a:lnTo>
                  <a:lnTo>
                    <a:pt x="6" y="35"/>
                  </a:lnTo>
                  <a:lnTo>
                    <a:pt x="29" y="35"/>
                  </a:lnTo>
                  <a:lnTo>
                    <a:pt x="29" y="37"/>
                  </a:lnTo>
                  <a:lnTo>
                    <a:pt x="29"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2" name="Freeform 90"/>
            <p:cNvSpPr/>
            <p:nvPr userDrawn="1"/>
          </p:nvSpPr>
          <p:spPr bwMode="auto">
            <a:xfrm>
              <a:off x="1542" y="933"/>
              <a:ext cx="22" cy="40"/>
            </a:xfrm>
            <a:custGeom>
              <a:avLst/>
              <a:gdLst>
                <a:gd name="T0" fmla="*/ 14 w 18"/>
                <a:gd name="T1" fmla="*/ 0 h 32"/>
                <a:gd name="T2" fmla="*/ 16 w 18"/>
                <a:gd name="T3" fmla="*/ 0 h 32"/>
                <a:gd name="T4" fmla="*/ 18 w 18"/>
                <a:gd name="T5" fmla="*/ 0 h 32"/>
                <a:gd name="T6" fmla="*/ 18 w 18"/>
                <a:gd name="T7" fmla="*/ 23 h 32"/>
                <a:gd name="T8" fmla="*/ 16 w 18"/>
                <a:gd name="T9" fmla="*/ 30 h 32"/>
                <a:gd name="T10" fmla="*/ 9 w 18"/>
                <a:gd name="T11" fmla="*/ 32 h 32"/>
                <a:gd name="T12" fmla="*/ 2 w 18"/>
                <a:gd name="T13" fmla="*/ 30 h 32"/>
                <a:gd name="T14" fmla="*/ 0 w 18"/>
                <a:gd name="T15" fmla="*/ 23 h 32"/>
                <a:gd name="T16" fmla="*/ 0 w 18"/>
                <a:gd name="T17" fmla="*/ 21 h 32"/>
                <a:gd name="T18" fmla="*/ 4 w 18"/>
                <a:gd name="T19" fmla="*/ 21 h 32"/>
                <a:gd name="T20" fmla="*/ 4 w 18"/>
                <a:gd name="T21" fmla="*/ 23 h 32"/>
                <a:gd name="T22" fmla="*/ 6 w 18"/>
                <a:gd name="T23" fmla="*/ 27 h 32"/>
                <a:gd name="T24" fmla="*/ 9 w 18"/>
                <a:gd name="T25" fmla="*/ 29 h 32"/>
                <a:gd name="T26" fmla="*/ 13 w 18"/>
                <a:gd name="T27" fmla="*/ 27 h 32"/>
                <a:gd name="T28" fmla="*/ 14 w 18"/>
                <a:gd name="T29" fmla="*/ 23 h 32"/>
                <a:gd name="T30" fmla="*/ 14 w 18"/>
                <a:gd name="T3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32">
                  <a:moveTo>
                    <a:pt x="14" y="0"/>
                  </a:moveTo>
                  <a:cubicBezTo>
                    <a:pt x="16" y="0"/>
                    <a:pt x="16" y="0"/>
                    <a:pt x="16" y="0"/>
                  </a:cubicBezTo>
                  <a:cubicBezTo>
                    <a:pt x="18" y="0"/>
                    <a:pt x="18" y="0"/>
                    <a:pt x="18" y="0"/>
                  </a:cubicBezTo>
                  <a:cubicBezTo>
                    <a:pt x="18" y="23"/>
                    <a:pt x="18" y="23"/>
                    <a:pt x="18" y="23"/>
                  </a:cubicBezTo>
                  <a:cubicBezTo>
                    <a:pt x="18" y="26"/>
                    <a:pt x="18" y="28"/>
                    <a:pt x="16" y="30"/>
                  </a:cubicBezTo>
                  <a:cubicBezTo>
                    <a:pt x="14" y="32"/>
                    <a:pt x="12" y="32"/>
                    <a:pt x="9" y="32"/>
                  </a:cubicBezTo>
                  <a:cubicBezTo>
                    <a:pt x="6" y="32"/>
                    <a:pt x="4" y="32"/>
                    <a:pt x="2" y="30"/>
                  </a:cubicBezTo>
                  <a:cubicBezTo>
                    <a:pt x="1" y="28"/>
                    <a:pt x="0" y="26"/>
                    <a:pt x="0" y="23"/>
                  </a:cubicBezTo>
                  <a:cubicBezTo>
                    <a:pt x="0" y="21"/>
                    <a:pt x="0" y="21"/>
                    <a:pt x="0" y="21"/>
                  </a:cubicBezTo>
                  <a:cubicBezTo>
                    <a:pt x="4" y="21"/>
                    <a:pt x="4" y="21"/>
                    <a:pt x="4" y="21"/>
                  </a:cubicBezTo>
                  <a:cubicBezTo>
                    <a:pt x="4" y="23"/>
                    <a:pt x="4" y="23"/>
                    <a:pt x="4" y="23"/>
                  </a:cubicBezTo>
                  <a:cubicBezTo>
                    <a:pt x="4" y="25"/>
                    <a:pt x="5" y="26"/>
                    <a:pt x="6" y="27"/>
                  </a:cubicBezTo>
                  <a:cubicBezTo>
                    <a:pt x="6" y="28"/>
                    <a:pt x="8" y="29"/>
                    <a:pt x="9" y="29"/>
                  </a:cubicBezTo>
                  <a:cubicBezTo>
                    <a:pt x="11" y="29"/>
                    <a:pt x="12" y="28"/>
                    <a:pt x="13" y="27"/>
                  </a:cubicBezTo>
                  <a:cubicBezTo>
                    <a:pt x="14" y="26"/>
                    <a:pt x="14" y="24"/>
                    <a:pt x="14" y="23"/>
                  </a:cubicBezTo>
                  <a:lnTo>
                    <a:pt x="14"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3" name="Freeform 91"/>
            <p:cNvSpPr/>
            <p:nvPr userDrawn="1"/>
          </p:nvSpPr>
          <p:spPr bwMode="auto">
            <a:xfrm>
              <a:off x="1579" y="933"/>
              <a:ext cx="5" cy="40"/>
            </a:xfrm>
            <a:custGeom>
              <a:avLst/>
              <a:gdLst>
                <a:gd name="T0" fmla="*/ 0 w 5"/>
                <a:gd name="T1" fmla="*/ 0 h 40"/>
                <a:gd name="T2" fmla="*/ 3 w 5"/>
                <a:gd name="T3" fmla="*/ 0 h 40"/>
                <a:gd name="T4" fmla="*/ 5 w 5"/>
                <a:gd name="T5" fmla="*/ 0 h 40"/>
                <a:gd name="T6" fmla="*/ 5 w 5"/>
                <a:gd name="T7" fmla="*/ 40 h 40"/>
                <a:gd name="T8" fmla="*/ 3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3" y="0"/>
                  </a:lnTo>
                  <a:lnTo>
                    <a:pt x="5" y="0"/>
                  </a:lnTo>
                  <a:lnTo>
                    <a:pt x="5" y="40"/>
                  </a:lnTo>
                  <a:lnTo>
                    <a:pt x="3"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4" name="Freeform 92"/>
            <p:cNvSpPr>
              <a:spLocks noEditPoints="1"/>
            </p:cNvSpPr>
            <p:nvPr userDrawn="1"/>
          </p:nvSpPr>
          <p:spPr bwMode="auto">
            <a:xfrm>
              <a:off x="1595" y="933"/>
              <a:ext cx="36" cy="40"/>
            </a:xfrm>
            <a:custGeom>
              <a:avLst/>
              <a:gdLst>
                <a:gd name="T0" fmla="*/ 15 w 36"/>
                <a:gd name="T1" fmla="*/ 0 h 40"/>
                <a:gd name="T2" fmla="*/ 19 w 36"/>
                <a:gd name="T3" fmla="*/ 0 h 40"/>
                <a:gd name="T4" fmla="*/ 21 w 36"/>
                <a:gd name="T5" fmla="*/ 0 h 40"/>
                <a:gd name="T6" fmla="*/ 36 w 36"/>
                <a:gd name="T7" fmla="*/ 40 h 40"/>
                <a:gd name="T8" fmla="*/ 33 w 36"/>
                <a:gd name="T9" fmla="*/ 40 h 40"/>
                <a:gd name="T10" fmla="*/ 30 w 36"/>
                <a:gd name="T11" fmla="*/ 40 h 40"/>
                <a:gd name="T12" fmla="*/ 26 w 36"/>
                <a:gd name="T13" fmla="*/ 27 h 40"/>
                <a:gd name="T14" fmla="*/ 10 w 36"/>
                <a:gd name="T15" fmla="*/ 27 h 40"/>
                <a:gd name="T16" fmla="*/ 7 w 36"/>
                <a:gd name="T17" fmla="*/ 40 h 40"/>
                <a:gd name="T18" fmla="*/ 4 w 36"/>
                <a:gd name="T19" fmla="*/ 40 h 40"/>
                <a:gd name="T20" fmla="*/ 0 w 36"/>
                <a:gd name="T21" fmla="*/ 40 h 40"/>
                <a:gd name="T22" fmla="*/ 15 w 36"/>
                <a:gd name="T23" fmla="*/ 0 h 40"/>
                <a:gd name="T24" fmla="*/ 12 w 36"/>
                <a:gd name="T25" fmla="*/ 24 h 40"/>
                <a:gd name="T26" fmla="*/ 24 w 36"/>
                <a:gd name="T27" fmla="*/ 24 h 40"/>
                <a:gd name="T28" fmla="*/ 19 w 36"/>
                <a:gd name="T29" fmla="*/ 5 h 40"/>
                <a:gd name="T30" fmla="*/ 19 w 36"/>
                <a:gd name="T31" fmla="*/ 5 h 40"/>
                <a:gd name="T32" fmla="*/ 12 w 36"/>
                <a:gd name="T33"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40">
                  <a:moveTo>
                    <a:pt x="15" y="0"/>
                  </a:moveTo>
                  <a:lnTo>
                    <a:pt x="19" y="0"/>
                  </a:lnTo>
                  <a:lnTo>
                    <a:pt x="21" y="0"/>
                  </a:lnTo>
                  <a:lnTo>
                    <a:pt x="36" y="40"/>
                  </a:lnTo>
                  <a:lnTo>
                    <a:pt x="33" y="40"/>
                  </a:lnTo>
                  <a:lnTo>
                    <a:pt x="30" y="40"/>
                  </a:lnTo>
                  <a:lnTo>
                    <a:pt x="26" y="27"/>
                  </a:lnTo>
                  <a:lnTo>
                    <a:pt x="10" y="27"/>
                  </a:lnTo>
                  <a:lnTo>
                    <a:pt x="7" y="40"/>
                  </a:lnTo>
                  <a:lnTo>
                    <a:pt x="4" y="40"/>
                  </a:lnTo>
                  <a:lnTo>
                    <a:pt x="0" y="40"/>
                  </a:lnTo>
                  <a:lnTo>
                    <a:pt x="15" y="0"/>
                  </a:lnTo>
                  <a:close/>
                  <a:moveTo>
                    <a:pt x="12" y="24"/>
                  </a:moveTo>
                  <a:lnTo>
                    <a:pt x="24" y="24"/>
                  </a:lnTo>
                  <a:lnTo>
                    <a:pt x="19" y="5"/>
                  </a:lnTo>
                  <a:lnTo>
                    <a:pt x="19" y="5"/>
                  </a:lnTo>
                  <a:lnTo>
                    <a:pt x="12"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5" name="Freeform 93"/>
            <p:cNvSpPr/>
            <p:nvPr userDrawn="1"/>
          </p:nvSpPr>
          <p:spPr bwMode="auto">
            <a:xfrm>
              <a:off x="1641" y="933"/>
              <a:ext cx="31" cy="40"/>
            </a:xfrm>
            <a:custGeom>
              <a:avLst/>
              <a:gdLst>
                <a:gd name="T0" fmla="*/ 5 w 31"/>
                <a:gd name="T1" fmla="*/ 40 h 40"/>
                <a:gd name="T2" fmla="*/ 3 w 31"/>
                <a:gd name="T3" fmla="*/ 40 h 40"/>
                <a:gd name="T4" fmla="*/ 0 w 31"/>
                <a:gd name="T5" fmla="*/ 40 h 40"/>
                <a:gd name="T6" fmla="*/ 0 w 31"/>
                <a:gd name="T7" fmla="*/ 0 h 40"/>
                <a:gd name="T8" fmla="*/ 4 w 31"/>
                <a:gd name="T9" fmla="*/ 0 h 40"/>
                <a:gd name="T10" fmla="*/ 6 w 31"/>
                <a:gd name="T11" fmla="*/ 0 h 40"/>
                <a:gd name="T12" fmla="*/ 26 w 31"/>
                <a:gd name="T13" fmla="*/ 32 h 40"/>
                <a:gd name="T14" fmla="*/ 26 w 31"/>
                <a:gd name="T15" fmla="*/ 0 h 40"/>
                <a:gd name="T16" fmla="*/ 29 w 31"/>
                <a:gd name="T17" fmla="*/ 0 h 40"/>
                <a:gd name="T18" fmla="*/ 31 w 31"/>
                <a:gd name="T19" fmla="*/ 0 h 40"/>
                <a:gd name="T20" fmla="*/ 31 w 31"/>
                <a:gd name="T21" fmla="*/ 40 h 40"/>
                <a:gd name="T22" fmla="*/ 29 w 31"/>
                <a:gd name="T23" fmla="*/ 40 h 40"/>
                <a:gd name="T24" fmla="*/ 26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3" y="40"/>
                  </a:lnTo>
                  <a:lnTo>
                    <a:pt x="0" y="40"/>
                  </a:lnTo>
                  <a:lnTo>
                    <a:pt x="0" y="0"/>
                  </a:lnTo>
                  <a:lnTo>
                    <a:pt x="4" y="0"/>
                  </a:lnTo>
                  <a:lnTo>
                    <a:pt x="6" y="0"/>
                  </a:lnTo>
                  <a:lnTo>
                    <a:pt x="26" y="32"/>
                  </a:lnTo>
                  <a:lnTo>
                    <a:pt x="26" y="0"/>
                  </a:lnTo>
                  <a:lnTo>
                    <a:pt x="29" y="0"/>
                  </a:lnTo>
                  <a:lnTo>
                    <a:pt x="31" y="0"/>
                  </a:lnTo>
                  <a:lnTo>
                    <a:pt x="31" y="40"/>
                  </a:lnTo>
                  <a:lnTo>
                    <a:pt x="29" y="40"/>
                  </a:lnTo>
                  <a:lnTo>
                    <a:pt x="26"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6" name="Freeform 94"/>
            <p:cNvSpPr/>
            <p:nvPr userDrawn="1"/>
          </p:nvSpPr>
          <p:spPr bwMode="auto">
            <a:xfrm>
              <a:off x="1687" y="932"/>
              <a:ext cx="36" cy="41"/>
            </a:xfrm>
            <a:custGeom>
              <a:avLst/>
              <a:gdLst>
                <a:gd name="T0" fmla="*/ 15 w 29"/>
                <a:gd name="T1" fmla="*/ 33 h 33"/>
                <a:gd name="T2" fmla="*/ 4 w 29"/>
                <a:gd name="T3" fmla="*/ 29 h 33"/>
                <a:gd name="T4" fmla="*/ 0 w 29"/>
                <a:gd name="T5" fmla="*/ 17 h 33"/>
                <a:gd name="T6" fmla="*/ 4 w 29"/>
                <a:gd name="T7" fmla="*/ 5 h 33"/>
                <a:gd name="T8" fmla="*/ 15 w 29"/>
                <a:gd name="T9" fmla="*/ 0 h 33"/>
                <a:gd name="T10" fmla="*/ 24 w 29"/>
                <a:gd name="T11" fmla="*/ 3 h 33"/>
                <a:gd name="T12" fmla="*/ 28 w 29"/>
                <a:gd name="T13" fmla="*/ 10 h 33"/>
                <a:gd name="T14" fmla="*/ 24 w 29"/>
                <a:gd name="T15" fmla="*/ 10 h 33"/>
                <a:gd name="T16" fmla="*/ 21 w 29"/>
                <a:gd name="T17" fmla="*/ 5 h 33"/>
                <a:gd name="T18" fmla="*/ 15 w 29"/>
                <a:gd name="T19" fmla="*/ 4 h 33"/>
                <a:gd name="T20" fmla="*/ 7 w 29"/>
                <a:gd name="T21" fmla="*/ 7 h 33"/>
                <a:gd name="T22" fmla="*/ 4 w 29"/>
                <a:gd name="T23" fmla="*/ 17 h 33"/>
                <a:gd name="T24" fmla="*/ 7 w 29"/>
                <a:gd name="T25" fmla="*/ 26 h 33"/>
                <a:gd name="T26" fmla="*/ 15 w 29"/>
                <a:gd name="T27" fmla="*/ 30 h 33"/>
                <a:gd name="T28" fmla="*/ 23 w 29"/>
                <a:gd name="T29" fmla="*/ 26 h 33"/>
                <a:gd name="T30" fmla="*/ 24 w 29"/>
                <a:gd name="T31" fmla="*/ 25 h 33"/>
                <a:gd name="T32" fmla="*/ 25 w 29"/>
                <a:gd name="T33" fmla="*/ 23 h 33"/>
                <a:gd name="T34" fmla="*/ 25 w 29"/>
                <a:gd name="T35" fmla="*/ 20 h 33"/>
                <a:gd name="T36" fmla="*/ 25 w 29"/>
                <a:gd name="T37" fmla="*/ 19 h 33"/>
                <a:gd name="T38" fmla="*/ 15 w 29"/>
                <a:gd name="T39" fmla="*/ 19 h 33"/>
                <a:gd name="T40" fmla="*/ 15 w 29"/>
                <a:gd name="T41" fmla="*/ 16 h 33"/>
                <a:gd name="T42" fmla="*/ 29 w 29"/>
                <a:gd name="T43" fmla="*/ 16 h 33"/>
                <a:gd name="T44" fmla="*/ 29 w 29"/>
                <a:gd name="T45" fmla="*/ 32 h 33"/>
                <a:gd name="T46" fmla="*/ 26 w 29"/>
                <a:gd name="T47" fmla="*/ 32 h 33"/>
                <a:gd name="T48" fmla="*/ 25 w 29"/>
                <a:gd name="T49" fmla="*/ 28 h 33"/>
                <a:gd name="T50" fmla="*/ 25 w 29"/>
                <a:gd name="T51" fmla="*/ 29 h 33"/>
                <a:gd name="T52" fmla="*/ 15 w 29"/>
                <a:gd name="T5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 h="33">
                  <a:moveTo>
                    <a:pt x="15" y="33"/>
                  </a:moveTo>
                  <a:cubicBezTo>
                    <a:pt x="10" y="33"/>
                    <a:pt x="7" y="32"/>
                    <a:pt x="4" y="29"/>
                  </a:cubicBezTo>
                  <a:cubicBezTo>
                    <a:pt x="1" y="26"/>
                    <a:pt x="0" y="22"/>
                    <a:pt x="0" y="17"/>
                  </a:cubicBezTo>
                  <a:cubicBezTo>
                    <a:pt x="0" y="12"/>
                    <a:pt x="1" y="8"/>
                    <a:pt x="4" y="5"/>
                  </a:cubicBezTo>
                  <a:cubicBezTo>
                    <a:pt x="7" y="1"/>
                    <a:pt x="10" y="0"/>
                    <a:pt x="15" y="0"/>
                  </a:cubicBezTo>
                  <a:cubicBezTo>
                    <a:pt x="18" y="0"/>
                    <a:pt x="21" y="1"/>
                    <a:pt x="24" y="3"/>
                  </a:cubicBezTo>
                  <a:cubicBezTo>
                    <a:pt x="26" y="5"/>
                    <a:pt x="28" y="7"/>
                    <a:pt x="28" y="10"/>
                  </a:cubicBezTo>
                  <a:cubicBezTo>
                    <a:pt x="24" y="10"/>
                    <a:pt x="24" y="10"/>
                    <a:pt x="24" y="10"/>
                  </a:cubicBezTo>
                  <a:cubicBezTo>
                    <a:pt x="24" y="8"/>
                    <a:pt x="23" y="7"/>
                    <a:pt x="21" y="5"/>
                  </a:cubicBezTo>
                  <a:cubicBezTo>
                    <a:pt x="19" y="4"/>
                    <a:pt x="17" y="4"/>
                    <a:pt x="15" y="4"/>
                  </a:cubicBezTo>
                  <a:cubicBezTo>
                    <a:pt x="12" y="4"/>
                    <a:pt x="9" y="5"/>
                    <a:pt x="7" y="7"/>
                  </a:cubicBezTo>
                  <a:cubicBezTo>
                    <a:pt x="5" y="10"/>
                    <a:pt x="4" y="13"/>
                    <a:pt x="4" y="17"/>
                  </a:cubicBezTo>
                  <a:cubicBezTo>
                    <a:pt x="4" y="21"/>
                    <a:pt x="5" y="24"/>
                    <a:pt x="7" y="26"/>
                  </a:cubicBezTo>
                  <a:cubicBezTo>
                    <a:pt x="9" y="29"/>
                    <a:pt x="12" y="30"/>
                    <a:pt x="15" y="30"/>
                  </a:cubicBezTo>
                  <a:cubicBezTo>
                    <a:pt x="18" y="30"/>
                    <a:pt x="21" y="29"/>
                    <a:pt x="23" y="26"/>
                  </a:cubicBezTo>
                  <a:cubicBezTo>
                    <a:pt x="23" y="26"/>
                    <a:pt x="23" y="25"/>
                    <a:pt x="24" y="25"/>
                  </a:cubicBezTo>
                  <a:cubicBezTo>
                    <a:pt x="24" y="24"/>
                    <a:pt x="24" y="24"/>
                    <a:pt x="25" y="23"/>
                  </a:cubicBezTo>
                  <a:cubicBezTo>
                    <a:pt x="25" y="22"/>
                    <a:pt x="25" y="21"/>
                    <a:pt x="25" y="20"/>
                  </a:cubicBezTo>
                  <a:cubicBezTo>
                    <a:pt x="25" y="19"/>
                    <a:pt x="25" y="19"/>
                    <a:pt x="25" y="19"/>
                  </a:cubicBezTo>
                  <a:cubicBezTo>
                    <a:pt x="15" y="19"/>
                    <a:pt x="15" y="19"/>
                    <a:pt x="15" y="19"/>
                  </a:cubicBezTo>
                  <a:cubicBezTo>
                    <a:pt x="15" y="16"/>
                    <a:pt x="15" y="16"/>
                    <a:pt x="15" y="16"/>
                  </a:cubicBezTo>
                  <a:cubicBezTo>
                    <a:pt x="29" y="16"/>
                    <a:pt x="29" y="16"/>
                    <a:pt x="29" y="16"/>
                  </a:cubicBezTo>
                  <a:cubicBezTo>
                    <a:pt x="29" y="32"/>
                    <a:pt x="29" y="32"/>
                    <a:pt x="29" y="32"/>
                  </a:cubicBezTo>
                  <a:cubicBezTo>
                    <a:pt x="26" y="32"/>
                    <a:pt x="26" y="32"/>
                    <a:pt x="26" y="32"/>
                  </a:cubicBezTo>
                  <a:cubicBezTo>
                    <a:pt x="25" y="28"/>
                    <a:pt x="25" y="28"/>
                    <a:pt x="25" y="28"/>
                  </a:cubicBezTo>
                  <a:cubicBezTo>
                    <a:pt x="25" y="29"/>
                    <a:pt x="25" y="29"/>
                    <a:pt x="25" y="29"/>
                  </a:cubicBezTo>
                  <a:cubicBezTo>
                    <a:pt x="22" y="32"/>
                    <a:pt x="19" y="33"/>
                    <a:pt x="15"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7" name="Freeform 95"/>
            <p:cNvSpPr/>
            <p:nvPr userDrawn="1"/>
          </p:nvSpPr>
          <p:spPr bwMode="auto">
            <a:xfrm>
              <a:off x="1760" y="933"/>
              <a:ext cx="31" cy="40"/>
            </a:xfrm>
            <a:custGeom>
              <a:avLst/>
              <a:gdLst>
                <a:gd name="T0" fmla="*/ 25 w 25"/>
                <a:gd name="T1" fmla="*/ 20 h 32"/>
                <a:gd name="T2" fmla="*/ 21 w 25"/>
                <a:gd name="T3" fmla="*/ 29 h 32"/>
                <a:gd name="T4" fmla="*/ 12 w 25"/>
                <a:gd name="T5" fmla="*/ 32 h 32"/>
                <a:gd name="T6" fmla="*/ 3 w 25"/>
                <a:gd name="T7" fmla="*/ 29 h 32"/>
                <a:gd name="T8" fmla="*/ 0 w 25"/>
                <a:gd name="T9" fmla="*/ 20 h 32"/>
                <a:gd name="T10" fmla="*/ 0 w 25"/>
                <a:gd name="T11" fmla="*/ 0 h 32"/>
                <a:gd name="T12" fmla="*/ 2 w 25"/>
                <a:gd name="T13" fmla="*/ 0 h 32"/>
                <a:gd name="T14" fmla="*/ 4 w 25"/>
                <a:gd name="T15" fmla="*/ 0 h 32"/>
                <a:gd name="T16" fmla="*/ 4 w 25"/>
                <a:gd name="T17" fmla="*/ 20 h 32"/>
                <a:gd name="T18" fmla="*/ 6 w 25"/>
                <a:gd name="T19" fmla="*/ 26 h 32"/>
                <a:gd name="T20" fmla="*/ 12 w 25"/>
                <a:gd name="T21" fmla="*/ 29 h 32"/>
                <a:gd name="T22" fmla="*/ 18 w 25"/>
                <a:gd name="T23" fmla="*/ 26 h 32"/>
                <a:gd name="T24" fmla="*/ 20 w 25"/>
                <a:gd name="T25" fmla="*/ 20 h 32"/>
                <a:gd name="T26" fmla="*/ 20 w 25"/>
                <a:gd name="T27" fmla="*/ 0 h 32"/>
                <a:gd name="T28" fmla="*/ 22 w 25"/>
                <a:gd name="T29" fmla="*/ 0 h 32"/>
                <a:gd name="T30" fmla="*/ 25 w 25"/>
                <a:gd name="T31" fmla="*/ 0 h 32"/>
                <a:gd name="T32" fmla="*/ 25 w 25"/>
                <a:gd name="T33"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32">
                  <a:moveTo>
                    <a:pt x="25" y="20"/>
                  </a:moveTo>
                  <a:cubicBezTo>
                    <a:pt x="25" y="24"/>
                    <a:pt x="23" y="27"/>
                    <a:pt x="21" y="29"/>
                  </a:cubicBezTo>
                  <a:cubicBezTo>
                    <a:pt x="19" y="31"/>
                    <a:pt x="16" y="32"/>
                    <a:pt x="12" y="32"/>
                  </a:cubicBezTo>
                  <a:cubicBezTo>
                    <a:pt x="8" y="32"/>
                    <a:pt x="5" y="31"/>
                    <a:pt x="3" y="29"/>
                  </a:cubicBezTo>
                  <a:cubicBezTo>
                    <a:pt x="1" y="27"/>
                    <a:pt x="0" y="24"/>
                    <a:pt x="0" y="20"/>
                  </a:cubicBezTo>
                  <a:cubicBezTo>
                    <a:pt x="0" y="0"/>
                    <a:pt x="0" y="0"/>
                    <a:pt x="0" y="0"/>
                  </a:cubicBezTo>
                  <a:cubicBezTo>
                    <a:pt x="2" y="0"/>
                    <a:pt x="2" y="0"/>
                    <a:pt x="2" y="0"/>
                  </a:cubicBezTo>
                  <a:cubicBezTo>
                    <a:pt x="4" y="0"/>
                    <a:pt x="4" y="0"/>
                    <a:pt x="4" y="0"/>
                  </a:cubicBezTo>
                  <a:cubicBezTo>
                    <a:pt x="4" y="20"/>
                    <a:pt x="4" y="20"/>
                    <a:pt x="4" y="20"/>
                  </a:cubicBezTo>
                  <a:cubicBezTo>
                    <a:pt x="4" y="23"/>
                    <a:pt x="5" y="25"/>
                    <a:pt x="6" y="26"/>
                  </a:cubicBezTo>
                  <a:cubicBezTo>
                    <a:pt x="7" y="28"/>
                    <a:pt x="9" y="29"/>
                    <a:pt x="12" y="29"/>
                  </a:cubicBezTo>
                  <a:cubicBezTo>
                    <a:pt x="15" y="29"/>
                    <a:pt x="17" y="28"/>
                    <a:pt x="18" y="26"/>
                  </a:cubicBezTo>
                  <a:cubicBezTo>
                    <a:pt x="20" y="25"/>
                    <a:pt x="20" y="23"/>
                    <a:pt x="20" y="20"/>
                  </a:cubicBezTo>
                  <a:cubicBezTo>
                    <a:pt x="20" y="0"/>
                    <a:pt x="20" y="0"/>
                    <a:pt x="20" y="0"/>
                  </a:cubicBezTo>
                  <a:cubicBezTo>
                    <a:pt x="22" y="0"/>
                    <a:pt x="22" y="0"/>
                    <a:pt x="22" y="0"/>
                  </a:cubicBezTo>
                  <a:cubicBezTo>
                    <a:pt x="25" y="0"/>
                    <a:pt x="25" y="0"/>
                    <a:pt x="25" y="0"/>
                  </a:cubicBezTo>
                  <a:lnTo>
                    <a:pt x="25" y="2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8" name="Freeform 96"/>
            <p:cNvSpPr/>
            <p:nvPr userDrawn="1"/>
          </p:nvSpPr>
          <p:spPr bwMode="auto">
            <a:xfrm>
              <a:off x="1806" y="933"/>
              <a:ext cx="31" cy="40"/>
            </a:xfrm>
            <a:custGeom>
              <a:avLst/>
              <a:gdLst>
                <a:gd name="T0" fmla="*/ 5 w 31"/>
                <a:gd name="T1" fmla="*/ 40 h 40"/>
                <a:gd name="T2" fmla="*/ 2 w 31"/>
                <a:gd name="T3" fmla="*/ 40 h 40"/>
                <a:gd name="T4" fmla="*/ 0 w 31"/>
                <a:gd name="T5" fmla="*/ 40 h 40"/>
                <a:gd name="T6" fmla="*/ 0 w 31"/>
                <a:gd name="T7" fmla="*/ 0 h 40"/>
                <a:gd name="T8" fmla="*/ 2 w 31"/>
                <a:gd name="T9" fmla="*/ 0 h 40"/>
                <a:gd name="T10" fmla="*/ 6 w 31"/>
                <a:gd name="T11" fmla="*/ 0 h 40"/>
                <a:gd name="T12" fmla="*/ 26 w 31"/>
                <a:gd name="T13" fmla="*/ 32 h 40"/>
                <a:gd name="T14" fmla="*/ 26 w 31"/>
                <a:gd name="T15" fmla="*/ 0 h 40"/>
                <a:gd name="T16" fmla="*/ 28 w 31"/>
                <a:gd name="T17" fmla="*/ 0 h 40"/>
                <a:gd name="T18" fmla="*/ 31 w 31"/>
                <a:gd name="T19" fmla="*/ 0 h 40"/>
                <a:gd name="T20" fmla="*/ 31 w 31"/>
                <a:gd name="T21" fmla="*/ 40 h 40"/>
                <a:gd name="T22" fmla="*/ 28 w 31"/>
                <a:gd name="T23" fmla="*/ 40 h 40"/>
                <a:gd name="T24" fmla="*/ 25 w 31"/>
                <a:gd name="T25" fmla="*/ 40 h 40"/>
                <a:gd name="T26" fmla="*/ 5 w 31"/>
                <a:gd name="T27" fmla="*/ 8 h 40"/>
                <a:gd name="T28" fmla="*/ 5 w 31"/>
                <a:gd name="T2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40">
                  <a:moveTo>
                    <a:pt x="5" y="40"/>
                  </a:moveTo>
                  <a:lnTo>
                    <a:pt x="2" y="40"/>
                  </a:lnTo>
                  <a:lnTo>
                    <a:pt x="0" y="40"/>
                  </a:lnTo>
                  <a:lnTo>
                    <a:pt x="0" y="0"/>
                  </a:lnTo>
                  <a:lnTo>
                    <a:pt x="2" y="0"/>
                  </a:lnTo>
                  <a:lnTo>
                    <a:pt x="6" y="0"/>
                  </a:lnTo>
                  <a:lnTo>
                    <a:pt x="26" y="32"/>
                  </a:lnTo>
                  <a:lnTo>
                    <a:pt x="26" y="0"/>
                  </a:lnTo>
                  <a:lnTo>
                    <a:pt x="28" y="0"/>
                  </a:lnTo>
                  <a:lnTo>
                    <a:pt x="31" y="0"/>
                  </a:lnTo>
                  <a:lnTo>
                    <a:pt x="31" y="40"/>
                  </a:lnTo>
                  <a:lnTo>
                    <a:pt x="28" y="40"/>
                  </a:lnTo>
                  <a:lnTo>
                    <a:pt x="25" y="40"/>
                  </a:lnTo>
                  <a:lnTo>
                    <a:pt x="5" y="8"/>
                  </a:lnTo>
                  <a:lnTo>
                    <a:pt x="5"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29" name="Freeform 97"/>
            <p:cNvSpPr/>
            <p:nvPr userDrawn="1"/>
          </p:nvSpPr>
          <p:spPr bwMode="auto">
            <a:xfrm>
              <a:off x="1852"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0" name="Freeform 98"/>
            <p:cNvSpPr/>
            <p:nvPr userDrawn="1"/>
          </p:nvSpPr>
          <p:spPr bwMode="auto">
            <a:xfrm>
              <a:off x="1867" y="933"/>
              <a:ext cx="34" cy="40"/>
            </a:xfrm>
            <a:custGeom>
              <a:avLst/>
              <a:gdLst>
                <a:gd name="T0" fmla="*/ 0 w 34"/>
                <a:gd name="T1" fmla="*/ 0 h 40"/>
                <a:gd name="T2" fmla="*/ 3 w 34"/>
                <a:gd name="T3" fmla="*/ 0 h 40"/>
                <a:gd name="T4" fmla="*/ 6 w 34"/>
                <a:gd name="T5" fmla="*/ 0 h 40"/>
                <a:gd name="T6" fmla="*/ 17 w 34"/>
                <a:gd name="T7" fmla="*/ 34 h 40"/>
                <a:gd name="T8" fmla="*/ 17 w 34"/>
                <a:gd name="T9" fmla="*/ 34 h 40"/>
                <a:gd name="T10" fmla="*/ 28 w 34"/>
                <a:gd name="T11" fmla="*/ 0 h 40"/>
                <a:gd name="T12" fmla="*/ 32 w 34"/>
                <a:gd name="T13" fmla="*/ 0 h 40"/>
                <a:gd name="T14" fmla="*/ 34 w 34"/>
                <a:gd name="T15" fmla="*/ 0 h 40"/>
                <a:gd name="T16" fmla="*/ 21 w 34"/>
                <a:gd name="T17" fmla="*/ 40 h 40"/>
                <a:gd name="T18" fmla="*/ 17 w 34"/>
                <a:gd name="T19" fmla="*/ 40 h 40"/>
                <a:gd name="T20" fmla="*/ 15 w 34"/>
                <a:gd name="T21" fmla="*/ 40 h 40"/>
                <a:gd name="T22" fmla="*/ 0 w 34"/>
                <a:gd name="T23"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40">
                  <a:moveTo>
                    <a:pt x="0" y="0"/>
                  </a:moveTo>
                  <a:lnTo>
                    <a:pt x="3" y="0"/>
                  </a:lnTo>
                  <a:lnTo>
                    <a:pt x="6" y="0"/>
                  </a:lnTo>
                  <a:lnTo>
                    <a:pt x="17" y="34"/>
                  </a:lnTo>
                  <a:lnTo>
                    <a:pt x="17" y="34"/>
                  </a:lnTo>
                  <a:lnTo>
                    <a:pt x="28" y="0"/>
                  </a:lnTo>
                  <a:lnTo>
                    <a:pt x="32" y="0"/>
                  </a:lnTo>
                  <a:lnTo>
                    <a:pt x="34" y="0"/>
                  </a:lnTo>
                  <a:lnTo>
                    <a:pt x="21" y="40"/>
                  </a:lnTo>
                  <a:lnTo>
                    <a:pt x="17" y="40"/>
                  </a:lnTo>
                  <a:lnTo>
                    <a:pt x="15"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1" name="Freeform 99"/>
            <p:cNvSpPr/>
            <p:nvPr userDrawn="1"/>
          </p:nvSpPr>
          <p:spPr bwMode="auto">
            <a:xfrm>
              <a:off x="1911" y="933"/>
              <a:ext cx="30" cy="40"/>
            </a:xfrm>
            <a:custGeom>
              <a:avLst/>
              <a:gdLst>
                <a:gd name="T0" fmla="*/ 0 w 30"/>
                <a:gd name="T1" fmla="*/ 40 h 40"/>
                <a:gd name="T2" fmla="*/ 0 w 30"/>
                <a:gd name="T3" fmla="*/ 0 h 40"/>
                <a:gd name="T4" fmla="*/ 30 w 30"/>
                <a:gd name="T5" fmla="*/ 0 h 40"/>
                <a:gd name="T6" fmla="*/ 30 w 30"/>
                <a:gd name="T7" fmla="*/ 3 h 40"/>
                <a:gd name="T8" fmla="*/ 30 w 30"/>
                <a:gd name="T9" fmla="*/ 5 h 40"/>
                <a:gd name="T10" fmla="*/ 6 w 30"/>
                <a:gd name="T11" fmla="*/ 5 h 40"/>
                <a:gd name="T12" fmla="*/ 6 w 30"/>
                <a:gd name="T13" fmla="*/ 16 h 40"/>
                <a:gd name="T14" fmla="*/ 27 w 30"/>
                <a:gd name="T15" fmla="*/ 16 h 40"/>
                <a:gd name="T16" fmla="*/ 27 w 30"/>
                <a:gd name="T17" fmla="*/ 19 h 40"/>
                <a:gd name="T18" fmla="*/ 27 w 30"/>
                <a:gd name="T19" fmla="*/ 21 h 40"/>
                <a:gd name="T20" fmla="*/ 6 w 30"/>
                <a:gd name="T21" fmla="*/ 21 h 40"/>
                <a:gd name="T22" fmla="*/ 6 w 30"/>
                <a:gd name="T23" fmla="*/ 35 h 40"/>
                <a:gd name="T24" fmla="*/ 30 w 30"/>
                <a:gd name="T25" fmla="*/ 35 h 40"/>
                <a:gd name="T26" fmla="*/ 30 w 30"/>
                <a:gd name="T27" fmla="*/ 37 h 40"/>
                <a:gd name="T28" fmla="*/ 30 w 30"/>
                <a:gd name="T29" fmla="*/ 40 h 40"/>
                <a:gd name="T30" fmla="*/ 0 w 30"/>
                <a:gd name="T31"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40">
                  <a:moveTo>
                    <a:pt x="0" y="40"/>
                  </a:moveTo>
                  <a:lnTo>
                    <a:pt x="0" y="0"/>
                  </a:lnTo>
                  <a:lnTo>
                    <a:pt x="30" y="0"/>
                  </a:lnTo>
                  <a:lnTo>
                    <a:pt x="30" y="3"/>
                  </a:lnTo>
                  <a:lnTo>
                    <a:pt x="30" y="5"/>
                  </a:lnTo>
                  <a:lnTo>
                    <a:pt x="6" y="5"/>
                  </a:lnTo>
                  <a:lnTo>
                    <a:pt x="6" y="16"/>
                  </a:lnTo>
                  <a:lnTo>
                    <a:pt x="27" y="16"/>
                  </a:lnTo>
                  <a:lnTo>
                    <a:pt x="27" y="19"/>
                  </a:lnTo>
                  <a:lnTo>
                    <a:pt x="27" y="21"/>
                  </a:lnTo>
                  <a:lnTo>
                    <a:pt x="6" y="21"/>
                  </a:lnTo>
                  <a:lnTo>
                    <a:pt x="6" y="35"/>
                  </a:lnTo>
                  <a:lnTo>
                    <a:pt x="30" y="35"/>
                  </a:lnTo>
                  <a:lnTo>
                    <a:pt x="30" y="37"/>
                  </a:lnTo>
                  <a:lnTo>
                    <a:pt x="30" y="40"/>
                  </a:lnTo>
                  <a:lnTo>
                    <a:pt x="0" y="4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2" name="Freeform 100"/>
            <p:cNvSpPr>
              <a:spLocks noEditPoints="1"/>
            </p:cNvSpPr>
            <p:nvPr userDrawn="1"/>
          </p:nvSpPr>
          <p:spPr bwMode="auto">
            <a:xfrm>
              <a:off x="1955" y="933"/>
              <a:ext cx="33" cy="40"/>
            </a:xfrm>
            <a:custGeom>
              <a:avLst/>
              <a:gdLst>
                <a:gd name="T0" fmla="*/ 0 w 27"/>
                <a:gd name="T1" fmla="*/ 0 h 32"/>
                <a:gd name="T2" fmla="*/ 2 w 27"/>
                <a:gd name="T3" fmla="*/ 0 h 32"/>
                <a:gd name="T4" fmla="*/ 15 w 27"/>
                <a:gd name="T5" fmla="*/ 0 h 32"/>
                <a:gd name="T6" fmla="*/ 23 w 27"/>
                <a:gd name="T7" fmla="*/ 2 h 32"/>
                <a:gd name="T8" fmla="*/ 25 w 27"/>
                <a:gd name="T9" fmla="*/ 8 h 32"/>
                <a:gd name="T10" fmla="*/ 23 w 27"/>
                <a:gd name="T11" fmla="*/ 15 h 32"/>
                <a:gd name="T12" fmla="*/ 21 w 27"/>
                <a:gd name="T13" fmla="*/ 16 h 32"/>
                <a:gd name="T14" fmla="*/ 22 w 27"/>
                <a:gd name="T15" fmla="*/ 16 h 32"/>
                <a:gd name="T16" fmla="*/ 25 w 27"/>
                <a:gd name="T17" fmla="*/ 22 h 32"/>
                <a:gd name="T18" fmla="*/ 25 w 27"/>
                <a:gd name="T19" fmla="*/ 28 h 32"/>
                <a:gd name="T20" fmla="*/ 25 w 27"/>
                <a:gd name="T21" fmla="*/ 30 h 32"/>
                <a:gd name="T22" fmla="*/ 27 w 27"/>
                <a:gd name="T23" fmla="*/ 31 h 32"/>
                <a:gd name="T24" fmla="*/ 27 w 27"/>
                <a:gd name="T25" fmla="*/ 31 h 32"/>
                <a:gd name="T26" fmla="*/ 21 w 27"/>
                <a:gd name="T27" fmla="*/ 31 h 32"/>
                <a:gd name="T28" fmla="*/ 21 w 27"/>
                <a:gd name="T29" fmla="*/ 29 h 32"/>
                <a:gd name="T30" fmla="*/ 21 w 27"/>
                <a:gd name="T31" fmla="*/ 26 h 32"/>
                <a:gd name="T32" fmla="*/ 21 w 27"/>
                <a:gd name="T33" fmla="*/ 23 h 32"/>
                <a:gd name="T34" fmla="*/ 19 w 27"/>
                <a:gd name="T35" fmla="*/ 19 h 32"/>
                <a:gd name="T36" fmla="*/ 15 w 27"/>
                <a:gd name="T37" fmla="*/ 18 h 32"/>
                <a:gd name="T38" fmla="*/ 4 w 27"/>
                <a:gd name="T39" fmla="*/ 18 h 32"/>
                <a:gd name="T40" fmla="*/ 4 w 27"/>
                <a:gd name="T41" fmla="*/ 32 h 32"/>
                <a:gd name="T42" fmla="*/ 2 w 27"/>
                <a:gd name="T43" fmla="*/ 32 h 32"/>
                <a:gd name="T44" fmla="*/ 0 w 27"/>
                <a:gd name="T45" fmla="*/ 32 h 32"/>
                <a:gd name="T46" fmla="*/ 0 w 27"/>
                <a:gd name="T47" fmla="*/ 0 h 32"/>
                <a:gd name="T48" fmla="*/ 4 w 27"/>
                <a:gd name="T49" fmla="*/ 14 h 32"/>
                <a:gd name="T50" fmla="*/ 15 w 27"/>
                <a:gd name="T51" fmla="*/ 14 h 32"/>
                <a:gd name="T52" fmla="*/ 19 w 27"/>
                <a:gd name="T53" fmla="*/ 13 h 32"/>
                <a:gd name="T54" fmla="*/ 21 w 27"/>
                <a:gd name="T55" fmla="*/ 9 h 32"/>
                <a:gd name="T56" fmla="*/ 19 w 27"/>
                <a:gd name="T57" fmla="*/ 5 h 32"/>
                <a:gd name="T58" fmla="*/ 15 w 27"/>
                <a:gd name="T59" fmla="*/ 3 h 32"/>
                <a:gd name="T60" fmla="*/ 4 w 27"/>
                <a:gd name="T61" fmla="*/ 3 h 32"/>
                <a:gd name="T62" fmla="*/ 4 w 27"/>
                <a:gd name="T63" fmla="*/ 1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 h="32">
                  <a:moveTo>
                    <a:pt x="0" y="0"/>
                  </a:moveTo>
                  <a:cubicBezTo>
                    <a:pt x="2" y="0"/>
                    <a:pt x="2" y="0"/>
                    <a:pt x="2" y="0"/>
                  </a:cubicBezTo>
                  <a:cubicBezTo>
                    <a:pt x="15" y="0"/>
                    <a:pt x="15" y="0"/>
                    <a:pt x="15" y="0"/>
                  </a:cubicBezTo>
                  <a:cubicBezTo>
                    <a:pt x="18" y="0"/>
                    <a:pt x="21" y="1"/>
                    <a:pt x="23" y="2"/>
                  </a:cubicBezTo>
                  <a:cubicBezTo>
                    <a:pt x="24" y="3"/>
                    <a:pt x="25" y="6"/>
                    <a:pt x="25" y="8"/>
                  </a:cubicBezTo>
                  <a:cubicBezTo>
                    <a:pt x="25" y="11"/>
                    <a:pt x="24" y="13"/>
                    <a:pt x="23" y="15"/>
                  </a:cubicBezTo>
                  <a:cubicBezTo>
                    <a:pt x="22" y="15"/>
                    <a:pt x="22" y="16"/>
                    <a:pt x="21" y="16"/>
                  </a:cubicBezTo>
                  <a:cubicBezTo>
                    <a:pt x="22" y="16"/>
                    <a:pt x="22" y="16"/>
                    <a:pt x="22" y="16"/>
                  </a:cubicBezTo>
                  <a:cubicBezTo>
                    <a:pt x="24" y="17"/>
                    <a:pt x="25" y="19"/>
                    <a:pt x="25" y="22"/>
                  </a:cubicBezTo>
                  <a:cubicBezTo>
                    <a:pt x="25" y="28"/>
                    <a:pt x="25" y="28"/>
                    <a:pt x="25" y="28"/>
                  </a:cubicBezTo>
                  <a:cubicBezTo>
                    <a:pt x="25" y="29"/>
                    <a:pt x="25" y="29"/>
                    <a:pt x="25" y="30"/>
                  </a:cubicBezTo>
                  <a:cubicBezTo>
                    <a:pt x="26" y="30"/>
                    <a:pt x="26" y="30"/>
                    <a:pt x="27" y="31"/>
                  </a:cubicBezTo>
                  <a:cubicBezTo>
                    <a:pt x="27" y="31"/>
                    <a:pt x="27" y="31"/>
                    <a:pt x="27" y="31"/>
                  </a:cubicBezTo>
                  <a:cubicBezTo>
                    <a:pt x="21" y="31"/>
                    <a:pt x="21" y="31"/>
                    <a:pt x="21" y="31"/>
                  </a:cubicBezTo>
                  <a:cubicBezTo>
                    <a:pt x="21" y="31"/>
                    <a:pt x="21" y="31"/>
                    <a:pt x="21" y="29"/>
                  </a:cubicBezTo>
                  <a:cubicBezTo>
                    <a:pt x="21" y="28"/>
                    <a:pt x="21" y="27"/>
                    <a:pt x="21" y="26"/>
                  </a:cubicBezTo>
                  <a:cubicBezTo>
                    <a:pt x="21" y="23"/>
                    <a:pt x="21" y="23"/>
                    <a:pt x="21" y="23"/>
                  </a:cubicBezTo>
                  <a:cubicBezTo>
                    <a:pt x="21" y="21"/>
                    <a:pt x="20" y="20"/>
                    <a:pt x="19" y="19"/>
                  </a:cubicBezTo>
                  <a:cubicBezTo>
                    <a:pt x="18" y="18"/>
                    <a:pt x="17" y="18"/>
                    <a:pt x="15" y="18"/>
                  </a:cubicBezTo>
                  <a:cubicBezTo>
                    <a:pt x="4" y="18"/>
                    <a:pt x="4" y="18"/>
                    <a:pt x="4" y="18"/>
                  </a:cubicBezTo>
                  <a:cubicBezTo>
                    <a:pt x="4" y="32"/>
                    <a:pt x="4" y="32"/>
                    <a:pt x="4" y="32"/>
                  </a:cubicBezTo>
                  <a:cubicBezTo>
                    <a:pt x="2" y="32"/>
                    <a:pt x="2" y="32"/>
                    <a:pt x="2" y="32"/>
                  </a:cubicBezTo>
                  <a:cubicBezTo>
                    <a:pt x="0" y="32"/>
                    <a:pt x="0" y="32"/>
                    <a:pt x="0" y="32"/>
                  </a:cubicBezTo>
                  <a:lnTo>
                    <a:pt x="0" y="0"/>
                  </a:lnTo>
                  <a:close/>
                  <a:moveTo>
                    <a:pt x="4" y="14"/>
                  </a:moveTo>
                  <a:cubicBezTo>
                    <a:pt x="15" y="14"/>
                    <a:pt x="15" y="14"/>
                    <a:pt x="15" y="14"/>
                  </a:cubicBezTo>
                  <a:cubicBezTo>
                    <a:pt x="17" y="14"/>
                    <a:pt x="19" y="14"/>
                    <a:pt x="19" y="13"/>
                  </a:cubicBezTo>
                  <a:cubicBezTo>
                    <a:pt x="20" y="12"/>
                    <a:pt x="21" y="11"/>
                    <a:pt x="21" y="9"/>
                  </a:cubicBezTo>
                  <a:cubicBezTo>
                    <a:pt x="21" y="7"/>
                    <a:pt x="20" y="5"/>
                    <a:pt x="19" y="5"/>
                  </a:cubicBezTo>
                  <a:cubicBezTo>
                    <a:pt x="18" y="4"/>
                    <a:pt x="17" y="3"/>
                    <a:pt x="15" y="3"/>
                  </a:cubicBezTo>
                  <a:cubicBezTo>
                    <a:pt x="4" y="3"/>
                    <a:pt x="4" y="3"/>
                    <a:pt x="4" y="3"/>
                  </a:cubicBezTo>
                  <a:lnTo>
                    <a:pt x="4" y="1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3" name="Freeform 101"/>
            <p:cNvSpPr/>
            <p:nvPr userDrawn="1"/>
          </p:nvSpPr>
          <p:spPr bwMode="auto">
            <a:xfrm>
              <a:off x="1999" y="932"/>
              <a:ext cx="31" cy="41"/>
            </a:xfrm>
            <a:custGeom>
              <a:avLst/>
              <a:gdLst>
                <a:gd name="T0" fmla="*/ 20 w 25"/>
                <a:gd name="T1" fmla="*/ 10 h 33"/>
                <a:gd name="T2" fmla="*/ 18 w 25"/>
                <a:gd name="T3" fmla="*/ 5 h 33"/>
                <a:gd name="T4" fmla="*/ 12 w 25"/>
                <a:gd name="T5" fmla="*/ 4 h 33"/>
                <a:gd name="T6" fmla="*/ 7 w 25"/>
                <a:gd name="T7" fmla="*/ 5 h 33"/>
                <a:gd name="T8" fmla="*/ 5 w 25"/>
                <a:gd name="T9" fmla="*/ 9 h 33"/>
                <a:gd name="T10" fmla="*/ 6 w 25"/>
                <a:gd name="T11" fmla="*/ 12 h 33"/>
                <a:gd name="T12" fmla="*/ 11 w 25"/>
                <a:gd name="T13" fmla="*/ 14 h 33"/>
                <a:gd name="T14" fmla="*/ 17 w 25"/>
                <a:gd name="T15" fmla="*/ 15 h 33"/>
                <a:gd name="T16" fmla="*/ 23 w 25"/>
                <a:gd name="T17" fmla="*/ 18 h 33"/>
                <a:gd name="T18" fmla="*/ 25 w 25"/>
                <a:gd name="T19" fmla="*/ 24 h 33"/>
                <a:gd name="T20" fmla="*/ 22 w 25"/>
                <a:gd name="T21" fmla="*/ 31 h 33"/>
                <a:gd name="T22" fmla="*/ 13 w 25"/>
                <a:gd name="T23" fmla="*/ 33 h 33"/>
                <a:gd name="T24" fmla="*/ 3 w 25"/>
                <a:gd name="T25" fmla="*/ 30 h 33"/>
                <a:gd name="T26" fmla="*/ 0 w 25"/>
                <a:gd name="T27" fmla="*/ 23 h 33"/>
                <a:gd name="T28" fmla="*/ 0 w 25"/>
                <a:gd name="T29" fmla="*/ 22 h 33"/>
                <a:gd name="T30" fmla="*/ 4 w 25"/>
                <a:gd name="T31" fmla="*/ 22 h 33"/>
                <a:gd name="T32" fmla="*/ 6 w 25"/>
                <a:gd name="T33" fmla="*/ 28 h 33"/>
                <a:gd name="T34" fmla="*/ 13 w 25"/>
                <a:gd name="T35" fmla="*/ 30 h 33"/>
                <a:gd name="T36" fmla="*/ 19 w 25"/>
                <a:gd name="T37" fmla="*/ 28 h 33"/>
                <a:gd name="T38" fmla="*/ 21 w 25"/>
                <a:gd name="T39" fmla="*/ 24 h 33"/>
                <a:gd name="T40" fmla="*/ 20 w 25"/>
                <a:gd name="T41" fmla="*/ 21 h 33"/>
                <a:gd name="T42" fmla="*/ 14 w 25"/>
                <a:gd name="T43" fmla="*/ 19 h 33"/>
                <a:gd name="T44" fmla="*/ 9 w 25"/>
                <a:gd name="T45" fmla="*/ 17 h 33"/>
                <a:gd name="T46" fmla="*/ 3 w 25"/>
                <a:gd name="T47" fmla="*/ 15 h 33"/>
                <a:gd name="T48" fmla="*/ 1 w 25"/>
                <a:gd name="T49" fmla="*/ 10 h 33"/>
                <a:gd name="T50" fmla="*/ 4 w 25"/>
                <a:gd name="T51" fmla="*/ 3 h 33"/>
                <a:gd name="T52" fmla="*/ 12 w 25"/>
                <a:gd name="T53" fmla="*/ 0 h 33"/>
                <a:gd name="T54" fmla="*/ 21 w 25"/>
                <a:gd name="T55" fmla="*/ 3 h 33"/>
                <a:gd name="T56" fmla="*/ 24 w 25"/>
                <a:gd name="T57" fmla="*/ 10 h 33"/>
                <a:gd name="T58" fmla="*/ 20 w 25"/>
                <a:gd name="T59"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3">
                  <a:moveTo>
                    <a:pt x="20" y="10"/>
                  </a:moveTo>
                  <a:cubicBezTo>
                    <a:pt x="20" y="8"/>
                    <a:pt x="19" y="6"/>
                    <a:pt x="18" y="5"/>
                  </a:cubicBezTo>
                  <a:cubicBezTo>
                    <a:pt x="17" y="4"/>
                    <a:pt x="15" y="4"/>
                    <a:pt x="12" y="4"/>
                  </a:cubicBezTo>
                  <a:cubicBezTo>
                    <a:pt x="10" y="4"/>
                    <a:pt x="8" y="4"/>
                    <a:pt x="7" y="5"/>
                  </a:cubicBezTo>
                  <a:cubicBezTo>
                    <a:pt x="6" y="6"/>
                    <a:pt x="5" y="7"/>
                    <a:pt x="5" y="9"/>
                  </a:cubicBezTo>
                  <a:cubicBezTo>
                    <a:pt x="5" y="10"/>
                    <a:pt x="5" y="11"/>
                    <a:pt x="6" y="12"/>
                  </a:cubicBezTo>
                  <a:cubicBezTo>
                    <a:pt x="7" y="13"/>
                    <a:pt x="9" y="13"/>
                    <a:pt x="11" y="14"/>
                  </a:cubicBezTo>
                  <a:cubicBezTo>
                    <a:pt x="17" y="15"/>
                    <a:pt x="17" y="15"/>
                    <a:pt x="17" y="15"/>
                  </a:cubicBezTo>
                  <a:cubicBezTo>
                    <a:pt x="20" y="16"/>
                    <a:pt x="22" y="17"/>
                    <a:pt x="23" y="18"/>
                  </a:cubicBezTo>
                  <a:cubicBezTo>
                    <a:pt x="24" y="20"/>
                    <a:pt x="25" y="22"/>
                    <a:pt x="25" y="24"/>
                  </a:cubicBezTo>
                  <a:cubicBezTo>
                    <a:pt x="25" y="27"/>
                    <a:pt x="24" y="29"/>
                    <a:pt x="22" y="31"/>
                  </a:cubicBezTo>
                  <a:cubicBezTo>
                    <a:pt x="20" y="33"/>
                    <a:pt x="17" y="33"/>
                    <a:pt x="13" y="33"/>
                  </a:cubicBezTo>
                  <a:cubicBezTo>
                    <a:pt x="9" y="33"/>
                    <a:pt x="5" y="32"/>
                    <a:pt x="3" y="30"/>
                  </a:cubicBezTo>
                  <a:cubicBezTo>
                    <a:pt x="1" y="29"/>
                    <a:pt x="0" y="26"/>
                    <a:pt x="0" y="23"/>
                  </a:cubicBezTo>
                  <a:cubicBezTo>
                    <a:pt x="0" y="22"/>
                    <a:pt x="0" y="22"/>
                    <a:pt x="0" y="22"/>
                  </a:cubicBezTo>
                  <a:cubicBezTo>
                    <a:pt x="4" y="22"/>
                    <a:pt x="4" y="22"/>
                    <a:pt x="4" y="22"/>
                  </a:cubicBezTo>
                  <a:cubicBezTo>
                    <a:pt x="4" y="25"/>
                    <a:pt x="5" y="26"/>
                    <a:pt x="6" y="28"/>
                  </a:cubicBezTo>
                  <a:cubicBezTo>
                    <a:pt x="8" y="29"/>
                    <a:pt x="10" y="30"/>
                    <a:pt x="13" y="30"/>
                  </a:cubicBezTo>
                  <a:cubicBezTo>
                    <a:pt x="15" y="30"/>
                    <a:pt x="17" y="29"/>
                    <a:pt x="19" y="28"/>
                  </a:cubicBezTo>
                  <a:cubicBezTo>
                    <a:pt x="20" y="27"/>
                    <a:pt x="21" y="26"/>
                    <a:pt x="21" y="24"/>
                  </a:cubicBezTo>
                  <a:cubicBezTo>
                    <a:pt x="21" y="23"/>
                    <a:pt x="20" y="22"/>
                    <a:pt x="20" y="21"/>
                  </a:cubicBezTo>
                  <a:cubicBezTo>
                    <a:pt x="19" y="20"/>
                    <a:pt x="17" y="19"/>
                    <a:pt x="14" y="19"/>
                  </a:cubicBezTo>
                  <a:cubicBezTo>
                    <a:pt x="9" y="17"/>
                    <a:pt x="9" y="17"/>
                    <a:pt x="9" y="17"/>
                  </a:cubicBezTo>
                  <a:cubicBezTo>
                    <a:pt x="6" y="17"/>
                    <a:pt x="4" y="16"/>
                    <a:pt x="3" y="15"/>
                  </a:cubicBezTo>
                  <a:cubicBezTo>
                    <a:pt x="1" y="14"/>
                    <a:pt x="1" y="12"/>
                    <a:pt x="1" y="10"/>
                  </a:cubicBezTo>
                  <a:cubicBezTo>
                    <a:pt x="1" y="7"/>
                    <a:pt x="2" y="4"/>
                    <a:pt x="4" y="3"/>
                  </a:cubicBezTo>
                  <a:cubicBezTo>
                    <a:pt x="6" y="1"/>
                    <a:pt x="9" y="0"/>
                    <a:pt x="12" y="0"/>
                  </a:cubicBezTo>
                  <a:cubicBezTo>
                    <a:pt x="16" y="0"/>
                    <a:pt x="19" y="1"/>
                    <a:pt x="21" y="3"/>
                  </a:cubicBezTo>
                  <a:cubicBezTo>
                    <a:pt x="23" y="4"/>
                    <a:pt x="24" y="7"/>
                    <a:pt x="24" y="10"/>
                  </a:cubicBezTo>
                  <a:lnTo>
                    <a:pt x="20" y="1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4" name="Freeform 102"/>
            <p:cNvSpPr/>
            <p:nvPr userDrawn="1"/>
          </p:nvSpPr>
          <p:spPr bwMode="auto">
            <a:xfrm>
              <a:off x="2044" y="933"/>
              <a:ext cx="5" cy="40"/>
            </a:xfrm>
            <a:custGeom>
              <a:avLst/>
              <a:gdLst>
                <a:gd name="T0" fmla="*/ 0 w 5"/>
                <a:gd name="T1" fmla="*/ 0 h 40"/>
                <a:gd name="T2" fmla="*/ 2 w 5"/>
                <a:gd name="T3" fmla="*/ 0 h 40"/>
                <a:gd name="T4" fmla="*/ 5 w 5"/>
                <a:gd name="T5" fmla="*/ 0 h 40"/>
                <a:gd name="T6" fmla="*/ 5 w 5"/>
                <a:gd name="T7" fmla="*/ 40 h 40"/>
                <a:gd name="T8" fmla="*/ 2 w 5"/>
                <a:gd name="T9" fmla="*/ 40 h 40"/>
                <a:gd name="T10" fmla="*/ 0 w 5"/>
                <a:gd name="T11" fmla="*/ 40 h 40"/>
                <a:gd name="T12" fmla="*/ 0 w 5"/>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5" h="40">
                  <a:moveTo>
                    <a:pt x="0" y="0"/>
                  </a:moveTo>
                  <a:lnTo>
                    <a:pt x="2" y="0"/>
                  </a:lnTo>
                  <a:lnTo>
                    <a:pt x="5" y="0"/>
                  </a:lnTo>
                  <a:lnTo>
                    <a:pt x="5" y="40"/>
                  </a:lnTo>
                  <a:lnTo>
                    <a:pt x="2" y="40"/>
                  </a:lnTo>
                  <a:lnTo>
                    <a:pt x="0" y="40"/>
                  </a:lnTo>
                  <a:lnTo>
                    <a:pt x="0"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5" name="Freeform 103"/>
            <p:cNvSpPr/>
            <p:nvPr userDrawn="1"/>
          </p:nvSpPr>
          <p:spPr bwMode="auto">
            <a:xfrm>
              <a:off x="2060" y="933"/>
              <a:ext cx="32" cy="40"/>
            </a:xfrm>
            <a:custGeom>
              <a:avLst/>
              <a:gdLst>
                <a:gd name="T0" fmla="*/ 13 w 32"/>
                <a:gd name="T1" fmla="*/ 5 h 40"/>
                <a:gd name="T2" fmla="*/ 0 w 32"/>
                <a:gd name="T3" fmla="*/ 5 h 40"/>
                <a:gd name="T4" fmla="*/ 0 w 32"/>
                <a:gd name="T5" fmla="*/ 3 h 40"/>
                <a:gd name="T6" fmla="*/ 0 w 32"/>
                <a:gd name="T7" fmla="*/ 0 h 40"/>
                <a:gd name="T8" fmla="*/ 32 w 32"/>
                <a:gd name="T9" fmla="*/ 0 h 40"/>
                <a:gd name="T10" fmla="*/ 32 w 32"/>
                <a:gd name="T11" fmla="*/ 3 h 40"/>
                <a:gd name="T12" fmla="*/ 32 w 32"/>
                <a:gd name="T13" fmla="*/ 5 h 40"/>
                <a:gd name="T14" fmla="*/ 18 w 32"/>
                <a:gd name="T15" fmla="*/ 5 h 40"/>
                <a:gd name="T16" fmla="*/ 18 w 32"/>
                <a:gd name="T17" fmla="*/ 40 h 40"/>
                <a:gd name="T18" fmla="*/ 16 w 32"/>
                <a:gd name="T19" fmla="*/ 40 h 40"/>
                <a:gd name="T20" fmla="*/ 13 w 32"/>
                <a:gd name="T21" fmla="*/ 40 h 40"/>
                <a:gd name="T22" fmla="*/ 13 w 32"/>
                <a:gd name="T23" fmla="*/ 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 h="40">
                  <a:moveTo>
                    <a:pt x="13" y="5"/>
                  </a:moveTo>
                  <a:lnTo>
                    <a:pt x="0" y="5"/>
                  </a:lnTo>
                  <a:lnTo>
                    <a:pt x="0" y="3"/>
                  </a:lnTo>
                  <a:lnTo>
                    <a:pt x="0" y="0"/>
                  </a:lnTo>
                  <a:lnTo>
                    <a:pt x="32" y="0"/>
                  </a:lnTo>
                  <a:lnTo>
                    <a:pt x="32" y="3"/>
                  </a:lnTo>
                  <a:lnTo>
                    <a:pt x="32" y="5"/>
                  </a:lnTo>
                  <a:lnTo>
                    <a:pt x="18" y="5"/>
                  </a:lnTo>
                  <a:lnTo>
                    <a:pt x="18" y="40"/>
                  </a:lnTo>
                  <a:lnTo>
                    <a:pt x="16" y="40"/>
                  </a:lnTo>
                  <a:lnTo>
                    <a:pt x="13" y="40"/>
                  </a:lnTo>
                  <a:lnTo>
                    <a:pt x="13" y="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6" name="Freeform 104"/>
            <p:cNvSpPr/>
            <p:nvPr userDrawn="1"/>
          </p:nvSpPr>
          <p:spPr bwMode="auto">
            <a:xfrm>
              <a:off x="2101" y="933"/>
              <a:ext cx="34" cy="40"/>
            </a:xfrm>
            <a:custGeom>
              <a:avLst/>
              <a:gdLst>
                <a:gd name="T0" fmla="*/ 15 w 34"/>
                <a:gd name="T1" fmla="*/ 24 h 40"/>
                <a:gd name="T2" fmla="*/ 0 w 34"/>
                <a:gd name="T3" fmla="*/ 0 h 40"/>
                <a:gd name="T4" fmla="*/ 3 w 34"/>
                <a:gd name="T5" fmla="*/ 0 h 40"/>
                <a:gd name="T6" fmla="*/ 6 w 34"/>
                <a:gd name="T7" fmla="*/ 0 h 40"/>
                <a:gd name="T8" fmla="*/ 17 w 34"/>
                <a:gd name="T9" fmla="*/ 19 h 40"/>
                <a:gd name="T10" fmla="*/ 17 w 34"/>
                <a:gd name="T11" fmla="*/ 19 h 40"/>
                <a:gd name="T12" fmla="*/ 28 w 34"/>
                <a:gd name="T13" fmla="*/ 0 h 40"/>
                <a:gd name="T14" fmla="*/ 32 w 34"/>
                <a:gd name="T15" fmla="*/ 0 h 40"/>
                <a:gd name="T16" fmla="*/ 34 w 34"/>
                <a:gd name="T17" fmla="*/ 0 h 40"/>
                <a:gd name="T18" fmla="*/ 20 w 34"/>
                <a:gd name="T19" fmla="*/ 24 h 40"/>
                <a:gd name="T20" fmla="*/ 20 w 34"/>
                <a:gd name="T21" fmla="*/ 40 h 40"/>
                <a:gd name="T22" fmla="*/ 17 w 34"/>
                <a:gd name="T23" fmla="*/ 40 h 40"/>
                <a:gd name="T24" fmla="*/ 15 w 34"/>
                <a:gd name="T25" fmla="*/ 40 h 40"/>
                <a:gd name="T26" fmla="*/ 15 w 34"/>
                <a:gd name="T27"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4" h="40">
                  <a:moveTo>
                    <a:pt x="15" y="24"/>
                  </a:moveTo>
                  <a:lnTo>
                    <a:pt x="0" y="0"/>
                  </a:lnTo>
                  <a:lnTo>
                    <a:pt x="3" y="0"/>
                  </a:lnTo>
                  <a:lnTo>
                    <a:pt x="6" y="0"/>
                  </a:lnTo>
                  <a:lnTo>
                    <a:pt x="17" y="19"/>
                  </a:lnTo>
                  <a:lnTo>
                    <a:pt x="17" y="19"/>
                  </a:lnTo>
                  <a:lnTo>
                    <a:pt x="28" y="0"/>
                  </a:lnTo>
                  <a:lnTo>
                    <a:pt x="32" y="0"/>
                  </a:lnTo>
                  <a:lnTo>
                    <a:pt x="34" y="0"/>
                  </a:lnTo>
                  <a:lnTo>
                    <a:pt x="20" y="24"/>
                  </a:lnTo>
                  <a:lnTo>
                    <a:pt x="20" y="40"/>
                  </a:lnTo>
                  <a:lnTo>
                    <a:pt x="17" y="40"/>
                  </a:lnTo>
                  <a:lnTo>
                    <a:pt x="15" y="40"/>
                  </a:lnTo>
                  <a:lnTo>
                    <a:pt x="15" y="24"/>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7" name="Freeform 105"/>
            <p:cNvSpPr>
              <a:spLocks noEditPoints="1"/>
            </p:cNvSpPr>
            <p:nvPr userDrawn="1"/>
          </p:nvSpPr>
          <p:spPr bwMode="auto">
            <a:xfrm>
              <a:off x="954" y="660"/>
              <a:ext cx="350" cy="353"/>
            </a:xfrm>
            <a:custGeom>
              <a:avLst/>
              <a:gdLst>
                <a:gd name="T0" fmla="*/ 142 w 283"/>
                <a:gd name="T1" fmla="*/ 0 h 283"/>
                <a:gd name="T2" fmla="*/ 283 w 283"/>
                <a:gd name="T3" fmla="*/ 142 h 283"/>
                <a:gd name="T4" fmla="*/ 142 w 283"/>
                <a:gd name="T5" fmla="*/ 283 h 283"/>
                <a:gd name="T6" fmla="*/ 0 w 283"/>
                <a:gd name="T7" fmla="*/ 142 h 283"/>
                <a:gd name="T8" fmla="*/ 142 w 283"/>
                <a:gd name="T9" fmla="*/ 0 h 283"/>
                <a:gd name="T10" fmla="*/ 142 w 283"/>
                <a:gd name="T11" fmla="*/ 6 h 283"/>
                <a:gd name="T12" fmla="*/ 6 w 283"/>
                <a:gd name="T13" fmla="*/ 142 h 283"/>
                <a:gd name="T14" fmla="*/ 142 w 283"/>
                <a:gd name="T15" fmla="*/ 277 h 283"/>
                <a:gd name="T16" fmla="*/ 278 w 283"/>
                <a:gd name="T17" fmla="*/ 142 h 283"/>
                <a:gd name="T18" fmla="*/ 142 w 283"/>
                <a:gd name="T19" fmla="*/ 6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3" h="283">
                  <a:moveTo>
                    <a:pt x="142" y="0"/>
                  </a:moveTo>
                  <a:cubicBezTo>
                    <a:pt x="220" y="0"/>
                    <a:pt x="283" y="64"/>
                    <a:pt x="283" y="142"/>
                  </a:cubicBezTo>
                  <a:cubicBezTo>
                    <a:pt x="283" y="219"/>
                    <a:pt x="220" y="283"/>
                    <a:pt x="142" y="283"/>
                  </a:cubicBezTo>
                  <a:cubicBezTo>
                    <a:pt x="64" y="283"/>
                    <a:pt x="0" y="219"/>
                    <a:pt x="0" y="142"/>
                  </a:cubicBezTo>
                  <a:cubicBezTo>
                    <a:pt x="0" y="64"/>
                    <a:pt x="64" y="0"/>
                    <a:pt x="142" y="0"/>
                  </a:cubicBezTo>
                  <a:moveTo>
                    <a:pt x="142" y="6"/>
                  </a:moveTo>
                  <a:cubicBezTo>
                    <a:pt x="67" y="6"/>
                    <a:pt x="6" y="67"/>
                    <a:pt x="6" y="142"/>
                  </a:cubicBezTo>
                  <a:cubicBezTo>
                    <a:pt x="6" y="216"/>
                    <a:pt x="67" y="277"/>
                    <a:pt x="142" y="277"/>
                  </a:cubicBezTo>
                  <a:cubicBezTo>
                    <a:pt x="217" y="277"/>
                    <a:pt x="278" y="216"/>
                    <a:pt x="278" y="142"/>
                  </a:cubicBezTo>
                  <a:cubicBezTo>
                    <a:pt x="278" y="67"/>
                    <a:pt x="217" y="6"/>
                    <a:pt x="14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8" name="Freeform 106"/>
            <p:cNvSpPr/>
            <p:nvPr userDrawn="1"/>
          </p:nvSpPr>
          <p:spPr bwMode="auto">
            <a:xfrm>
              <a:off x="1033" y="739"/>
              <a:ext cx="193" cy="173"/>
            </a:xfrm>
            <a:custGeom>
              <a:avLst/>
              <a:gdLst>
                <a:gd name="T0" fmla="*/ 28 w 156"/>
                <a:gd name="T1" fmla="*/ 139 h 139"/>
                <a:gd name="T2" fmla="*/ 7 w 156"/>
                <a:gd name="T3" fmla="*/ 112 h 139"/>
                <a:gd name="T4" fmla="*/ 0 w 156"/>
                <a:gd name="T5" fmla="*/ 79 h 139"/>
                <a:gd name="T6" fmla="*/ 78 w 156"/>
                <a:gd name="T7" fmla="*/ 0 h 139"/>
                <a:gd name="T8" fmla="*/ 156 w 156"/>
                <a:gd name="T9" fmla="*/ 79 h 139"/>
                <a:gd name="T10" fmla="*/ 149 w 156"/>
                <a:gd name="T11" fmla="*/ 112 h 139"/>
                <a:gd name="T12" fmla="*/ 128 w 156"/>
                <a:gd name="T13" fmla="*/ 139 h 139"/>
                <a:gd name="T14" fmla="*/ 126 w 156"/>
                <a:gd name="T15" fmla="*/ 137 h 139"/>
                <a:gd name="T16" fmla="*/ 146 w 156"/>
                <a:gd name="T17" fmla="*/ 111 h 139"/>
                <a:gd name="T18" fmla="*/ 153 w 156"/>
                <a:gd name="T19" fmla="*/ 79 h 139"/>
                <a:gd name="T20" fmla="*/ 78 w 156"/>
                <a:gd name="T21" fmla="*/ 3 h 139"/>
                <a:gd name="T22" fmla="*/ 3 w 156"/>
                <a:gd name="T23" fmla="*/ 79 h 139"/>
                <a:gd name="T24" fmla="*/ 10 w 156"/>
                <a:gd name="T25" fmla="*/ 111 h 139"/>
                <a:gd name="T26" fmla="*/ 30 w 156"/>
                <a:gd name="T27" fmla="*/ 137 h 139"/>
                <a:gd name="T28" fmla="*/ 28 w 156"/>
                <a:gd name="T29" fmla="*/ 13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6" h="139">
                  <a:moveTo>
                    <a:pt x="28" y="139"/>
                  </a:moveTo>
                  <a:cubicBezTo>
                    <a:pt x="19" y="132"/>
                    <a:pt x="12" y="122"/>
                    <a:pt x="7" y="112"/>
                  </a:cubicBezTo>
                  <a:cubicBezTo>
                    <a:pt x="2" y="102"/>
                    <a:pt x="0" y="90"/>
                    <a:pt x="0" y="79"/>
                  </a:cubicBezTo>
                  <a:cubicBezTo>
                    <a:pt x="0" y="36"/>
                    <a:pt x="35" y="0"/>
                    <a:pt x="78" y="0"/>
                  </a:cubicBezTo>
                  <a:cubicBezTo>
                    <a:pt x="121" y="0"/>
                    <a:pt x="156" y="36"/>
                    <a:pt x="156" y="79"/>
                  </a:cubicBezTo>
                  <a:cubicBezTo>
                    <a:pt x="156" y="90"/>
                    <a:pt x="153" y="102"/>
                    <a:pt x="149" y="112"/>
                  </a:cubicBezTo>
                  <a:cubicBezTo>
                    <a:pt x="144" y="122"/>
                    <a:pt x="136" y="132"/>
                    <a:pt x="128" y="139"/>
                  </a:cubicBezTo>
                  <a:cubicBezTo>
                    <a:pt x="126" y="137"/>
                    <a:pt x="126" y="137"/>
                    <a:pt x="126" y="137"/>
                  </a:cubicBezTo>
                  <a:cubicBezTo>
                    <a:pt x="134" y="130"/>
                    <a:pt x="141" y="121"/>
                    <a:pt x="146" y="111"/>
                  </a:cubicBezTo>
                  <a:cubicBezTo>
                    <a:pt x="151" y="101"/>
                    <a:pt x="153" y="90"/>
                    <a:pt x="153" y="79"/>
                  </a:cubicBezTo>
                  <a:cubicBezTo>
                    <a:pt x="153" y="37"/>
                    <a:pt x="119" y="3"/>
                    <a:pt x="78" y="3"/>
                  </a:cubicBezTo>
                  <a:cubicBezTo>
                    <a:pt x="36" y="3"/>
                    <a:pt x="3" y="37"/>
                    <a:pt x="3" y="79"/>
                  </a:cubicBezTo>
                  <a:cubicBezTo>
                    <a:pt x="3" y="90"/>
                    <a:pt x="5" y="101"/>
                    <a:pt x="10" y="111"/>
                  </a:cubicBezTo>
                  <a:cubicBezTo>
                    <a:pt x="14" y="121"/>
                    <a:pt x="21" y="130"/>
                    <a:pt x="30" y="137"/>
                  </a:cubicBezTo>
                  <a:lnTo>
                    <a:pt x="28" y="1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39" name="Freeform 107"/>
            <p:cNvSpPr/>
            <p:nvPr userDrawn="1"/>
          </p:nvSpPr>
          <p:spPr bwMode="auto">
            <a:xfrm>
              <a:off x="972" y="867"/>
              <a:ext cx="40" cy="29"/>
            </a:xfrm>
            <a:custGeom>
              <a:avLst/>
              <a:gdLst>
                <a:gd name="T0" fmla="*/ 8 w 40"/>
                <a:gd name="T1" fmla="*/ 29 h 29"/>
                <a:gd name="T2" fmla="*/ 0 w 40"/>
                <a:gd name="T3" fmla="*/ 10 h 29"/>
                <a:gd name="T4" fmla="*/ 4 w 40"/>
                <a:gd name="T5" fmla="*/ 9 h 29"/>
                <a:gd name="T6" fmla="*/ 35 w 40"/>
                <a:gd name="T7" fmla="*/ 14 h 29"/>
                <a:gd name="T8" fmla="*/ 30 w 40"/>
                <a:gd name="T9" fmla="*/ 1 h 29"/>
                <a:gd name="T10" fmla="*/ 34 w 40"/>
                <a:gd name="T11" fmla="*/ 0 h 29"/>
                <a:gd name="T12" fmla="*/ 40 w 40"/>
                <a:gd name="T13" fmla="*/ 16 h 29"/>
                <a:gd name="T14" fmla="*/ 36 w 40"/>
                <a:gd name="T15" fmla="*/ 17 h 29"/>
                <a:gd name="T16" fmla="*/ 7 w 40"/>
                <a:gd name="T17" fmla="*/ 14 h 29"/>
                <a:gd name="T18" fmla="*/ 12 w 40"/>
                <a:gd name="T19" fmla="*/ 27 h 29"/>
                <a:gd name="T20" fmla="*/ 8 w 40"/>
                <a:gd name="T21"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29">
                  <a:moveTo>
                    <a:pt x="8" y="29"/>
                  </a:moveTo>
                  <a:lnTo>
                    <a:pt x="0" y="10"/>
                  </a:lnTo>
                  <a:lnTo>
                    <a:pt x="4" y="9"/>
                  </a:lnTo>
                  <a:lnTo>
                    <a:pt x="35" y="14"/>
                  </a:lnTo>
                  <a:lnTo>
                    <a:pt x="30" y="1"/>
                  </a:lnTo>
                  <a:lnTo>
                    <a:pt x="34" y="0"/>
                  </a:lnTo>
                  <a:lnTo>
                    <a:pt x="40" y="16"/>
                  </a:lnTo>
                  <a:lnTo>
                    <a:pt x="36" y="17"/>
                  </a:lnTo>
                  <a:lnTo>
                    <a:pt x="7" y="14"/>
                  </a:lnTo>
                  <a:lnTo>
                    <a:pt x="12" y="27"/>
                  </a:lnTo>
                  <a:lnTo>
                    <a:pt x="8"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0" name="Freeform 108"/>
            <p:cNvSpPr/>
            <p:nvPr userDrawn="1"/>
          </p:nvSpPr>
          <p:spPr bwMode="auto">
            <a:xfrm>
              <a:off x="984" y="888"/>
              <a:ext cx="38" cy="31"/>
            </a:xfrm>
            <a:custGeom>
              <a:avLst/>
              <a:gdLst>
                <a:gd name="T0" fmla="*/ 7 w 38"/>
                <a:gd name="T1" fmla="*/ 31 h 31"/>
                <a:gd name="T2" fmla="*/ 6 w 38"/>
                <a:gd name="T3" fmla="*/ 28 h 31"/>
                <a:gd name="T4" fmla="*/ 19 w 38"/>
                <a:gd name="T5" fmla="*/ 21 h 31"/>
                <a:gd name="T6" fmla="*/ 14 w 38"/>
                <a:gd name="T7" fmla="*/ 11 h 31"/>
                <a:gd name="T8" fmla="*/ 1 w 38"/>
                <a:gd name="T9" fmla="*/ 19 h 31"/>
                <a:gd name="T10" fmla="*/ 0 w 38"/>
                <a:gd name="T11" fmla="*/ 15 h 31"/>
                <a:gd name="T12" fmla="*/ 29 w 38"/>
                <a:gd name="T13" fmla="*/ 0 h 31"/>
                <a:gd name="T14" fmla="*/ 32 w 38"/>
                <a:gd name="T15" fmla="*/ 4 h 31"/>
                <a:gd name="T16" fmla="*/ 18 w 38"/>
                <a:gd name="T17" fmla="*/ 10 h 31"/>
                <a:gd name="T18" fmla="*/ 23 w 38"/>
                <a:gd name="T19" fmla="*/ 19 h 31"/>
                <a:gd name="T20" fmla="*/ 35 w 38"/>
                <a:gd name="T21" fmla="*/ 13 h 31"/>
                <a:gd name="T22" fmla="*/ 38 w 38"/>
                <a:gd name="T23" fmla="*/ 16 h 31"/>
                <a:gd name="T24" fmla="*/ 7 w 38"/>
                <a:gd name="T25"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7" y="31"/>
                  </a:moveTo>
                  <a:lnTo>
                    <a:pt x="6" y="28"/>
                  </a:lnTo>
                  <a:lnTo>
                    <a:pt x="19" y="21"/>
                  </a:lnTo>
                  <a:lnTo>
                    <a:pt x="14" y="11"/>
                  </a:lnTo>
                  <a:lnTo>
                    <a:pt x="1" y="19"/>
                  </a:lnTo>
                  <a:lnTo>
                    <a:pt x="0" y="15"/>
                  </a:lnTo>
                  <a:lnTo>
                    <a:pt x="29" y="0"/>
                  </a:lnTo>
                  <a:lnTo>
                    <a:pt x="32" y="4"/>
                  </a:lnTo>
                  <a:lnTo>
                    <a:pt x="18" y="10"/>
                  </a:lnTo>
                  <a:lnTo>
                    <a:pt x="23" y="19"/>
                  </a:lnTo>
                  <a:lnTo>
                    <a:pt x="35" y="13"/>
                  </a:lnTo>
                  <a:lnTo>
                    <a:pt x="38" y="16"/>
                  </a:lnTo>
                  <a:lnTo>
                    <a:pt x="7"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1" name="Freeform 109"/>
            <p:cNvSpPr/>
            <p:nvPr userDrawn="1"/>
          </p:nvSpPr>
          <p:spPr bwMode="auto">
            <a:xfrm>
              <a:off x="995" y="906"/>
              <a:ext cx="38" cy="33"/>
            </a:xfrm>
            <a:custGeom>
              <a:avLst/>
              <a:gdLst>
                <a:gd name="T0" fmla="*/ 11 w 38"/>
                <a:gd name="T1" fmla="*/ 33 h 33"/>
                <a:gd name="T2" fmla="*/ 0 w 38"/>
                <a:gd name="T3" fmla="*/ 18 h 33"/>
                <a:gd name="T4" fmla="*/ 28 w 38"/>
                <a:gd name="T5" fmla="*/ 0 h 33"/>
                <a:gd name="T6" fmla="*/ 38 w 38"/>
                <a:gd name="T7" fmla="*/ 15 h 33"/>
                <a:gd name="T8" fmla="*/ 36 w 38"/>
                <a:gd name="T9" fmla="*/ 17 h 33"/>
                <a:gd name="T10" fmla="*/ 27 w 38"/>
                <a:gd name="T11" fmla="*/ 6 h 33"/>
                <a:gd name="T12" fmla="*/ 18 w 38"/>
                <a:gd name="T13" fmla="*/ 11 h 33"/>
                <a:gd name="T14" fmla="*/ 26 w 38"/>
                <a:gd name="T15" fmla="*/ 21 h 33"/>
                <a:gd name="T16" fmla="*/ 23 w 38"/>
                <a:gd name="T17" fmla="*/ 23 h 33"/>
                <a:gd name="T18" fmla="*/ 16 w 38"/>
                <a:gd name="T19" fmla="*/ 13 h 33"/>
                <a:gd name="T20" fmla="*/ 6 w 38"/>
                <a:gd name="T21" fmla="*/ 20 h 33"/>
                <a:gd name="T22" fmla="*/ 13 w 38"/>
                <a:gd name="T23" fmla="*/ 31 h 33"/>
                <a:gd name="T24" fmla="*/ 11 w 38"/>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3">
                  <a:moveTo>
                    <a:pt x="11" y="33"/>
                  </a:moveTo>
                  <a:lnTo>
                    <a:pt x="0" y="18"/>
                  </a:lnTo>
                  <a:lnTo>
                    <a:pt x="28" y="0"/>
                  </a:lnTo>
                  <a:lnTo>
                    <a:pt x="38" y="15"/>
                  </a:lnTo>
                  <a:lnTo>
                    <a:pt x="36" y="17"/>
                  </a:lnTo>
                  <a:lnTo>
                    <a:pt x="27" y="6"/>
                  </a:lnTo>
                  <a:lnTo>
                    <a:pt x="18" y="11"/>
                  </a:lnTo>
                  <a:lnTo>
                    <a:pt x="26" y="21"/>
                  </a:lnTo>
                  <a:lnTo>
                    <a:pt x="23" y="23"/>
                  </a:lnTo>
                  <a:lnTo>
                    <a:pt x="16" y="13"/>
                  </a:lnTo>
                  <a:lnTo>
                    <a:pt x="6" y="20"/>
                  </a:lnTo>
                  <a:lnTo>
                    <a:pt x="13" y="31"/>
                  </a:lnTo>
                  <a:lnTo>
                    <a:pt x="1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2" name="Freeform 110"/>
            <p:cNvSpPr/>
            <p:nvPr userDrawn="1"/>
          </p:nvSpPr>
          <p:spPr bwMode="auto">
            <a:xfrm>
              <a:off x="1026" y="934"/>
              <a:ext cx="24" cy="29"/>
            </a:xfrm>
            <a:custGeom>
              <a:avLst/>
              <a:gdLst>
                <a:gd name="T0" fmla="*/ 3 w 24"/>
                <a:gd name="T1" fmla="*/ 29 h 29"/>
                <a:gd name="T2" fmla="*/ 0 w 24"/>
                <a:gd name="T3" fmla="*/ 26 h 29"/>
                <a:gd name="T4" fmla="*/ 21 w 24"/>
                <a:gd name="T5" fmla="*/ 0 h 29"/>
                <a:gd name="T6" fmla="*/ 24 w 24"/>
                <a:gd name="T7" fmla="*/ 3 h 29"/>
                <a:gd name="T8" fmla="*/ 3 w 24"/>
                <a:gd name="T9" fmla="*/ 29 h 29"/>
              </a:gdLst>
              <a:ahLst/>
              <a:cxnLst>
                <a:cxn ang="0">
                  <a:pos x="T0" y="T1"/>
                </a:cxn>
                <a:cxn ang="0">
                  <a:pos x="T2" y="T3"/>
                </a:cxn>
                <a:cxn ang="0">
                  <a:pos x="T4" y="T5"/>
                </a:cxn>
                <a:cxn ang="0">
                  <a:pos x="T6" y="T7"/>
                </a:cxn>
                <a:cxn ang="0">
                  <a:pos x="T8" y="T9"/>
                </a:cxn>
              </a:cxnLst>
              <a:rect l="0" t="0" r="r" b="b"/>
              <a:pathLst>
                <a:path w="24" h="29">
                  <a:moveTo>
                    <a:pt x="3" y="29"/>
                  </a:moveTo>
                  <a:lnTo>
                    <a:pt x="0" y="26"/>
                  </a:lnTo>
                  <a:lnTo>
                    <a:pt x="21" y="0"/>
                  </a:lnTo>
                  <a:lnTo>
                    <a:pt x="24" y="3"/>
                  </a:lnTo>
                  <a:lnTo>
                    <a:pt x="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3" name="Freeform 111"/>
            <p:cNvSpPr>
              <a:spLocks noEditPoints="1"/>
            </p:cNvSpPr>
            <p:nvPr userDrawn="1"/>
          </p:nvSpPr>
          <p:spPr bwMode="auto">
            <a:xfrm>
              <a:off x="1034" y="942"/>
              <a:ext cx="29" cy="35"/>
            </a:xfrm>
            <a:custGeom>
              <a:avLst/>
              <a:gdLst>
                <a:gd name="T0" fmla="*/ 11 w 29"/>
                <a:gd name="T1" fmla="*/ 32 h 35"/>
                <a:gd name="T2" fmla="*/ 16 w 29"/>
                <a:gd name="T3" fmla="*/ 23 h 35"/>
                <a:gd name="T4" fmla="*/ 11 w 29"/>
                <a:gd name="T5" fmla="*/ 20 h 35"/>
                <a:gd name="T6" fmla="*/ 3 w 29"/>
                <a:gd name="T7" fmla="*/ 27 h 35"/>
                <a:gd name="T8" fmla="*/ 0 w 29"/>
                <a:gd name="T9" fmla="*/ 25 h 35"/>
                <a:gd name="T10" fmla="*/ 24 w 29"/>
                <a:gd name="T11" fmla="*/ 0 h 35"/>
                <a:gd name="T12" fmla="*/ 29 w 29"/>
                <a:gd name="T13" fmla="*/ 2 h 35"/>
                <a:gd name="T14" fmla="*/ 16 w 29"/>
                <a:gd name="T15" fmla="*/ 35 h 35"/>
                <a:gd name="T16" fmla="*/ 11 w 29"/>
                <a:gd name="T17" fmla="*/ 32 h 35"/>
                <a:gd name="T18" fmla="*/ 19 w 29"/>
                <a:gd name="T19" fmla="*/ 18 h 35"/>
                <a:gd name="T20" fmla="*/ 24 w 29"/>
                <a:gd name="T21" fmla="*/ 7 h 35"/>
                <a:gd name="T22" fmla="*/ 23 w 29"/>
                <a:gd name="T23" fmla="*/ 6 h 35"/>
                <a:gd name="T24" fmla="*/ 14 w 29"/>
                <a:gd name="T25" fmla="*/ 16 h 35"/>
                <a:gd name="T26" fmla="*/ 19 w 29"/>
                <a:gd name="T27"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5">
                  <a:moveTo>
                    <a:pt x="11" y="32"/>
                  </a:moveTo>
                  <a:lnTo>
                    <a:pt x="16" y="23"/>
                  </a:lnTo>
                  <a:lnTo>
                    <a:pt x="11" y="20"/>
                  </a:lnTo>
                  <a:lnTo>
                    <a:pt x="3" y="27"/>
                  </a:lnTo>
                  <a:lnTo>
                    <a:pt x="0" y="25"/>
                  </a:lnTo>
                  <a:lnTo>
                    <a:pt x="24" y="0"/>
                  </a:lnTo>
                  <a:lnTo>
                    <a:pt x="29" y="2"/>
                  </a:lnTo>
                  <a:lnTo>
                    <a:pt x="16" y="35"/>
                  </a:lnTo>
                  <a:lnTo>
                    <a:pt x="11" y="32"/>
                  </a:lnTo>
                  <a:close/>
                  <a:moveTo>
                    <a:pt x="19" y="18"/>
                  </a:moveTo>
                  <a:lnTo>
                    <a:pt x="24" y="7"/>
                  </a:lnTo>
                  <a:lnTo>
                    <a:pt x="23" y="6"/>
                  </a:lnTo>
                  <a:lnTo>
                    <a:pt x="14" y="16"/>
                  </a:lnTo>
                  <a:lnTo>
                    <a:pt x="19" y="18"/>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4" name="Freeform 112"/>
            <p:cNvSpPr/>
            <p:nvPr userDrawn="1"/>
          </p:nvSpPr>
          <p:spPr bwMode="auto">
            <a:xfrm>
              <a:off x="1054" y="948"/>
              <a:ext cx="32" cy="39"/>
            </a:xfrm>
            <a:custGeom>
              <a:avLst/>
              <a:gdLst>
                <a:gd name="T0" fmla="*/ 16 w 32"/>
                <a:gd name="T1" fmla="*/ 39 h 39"/>
                <a:gd name="T2" fmla="*/ 13 w 32"/>
                <a:gd name="T3" fmla="*/ 36 h 39"/>
                <a:gd name="T4" fmla="*/ 15 w 32"/>
                <a:gd name="T5" fmla="*/ 12 h 39"/>
                <a:gd name="T6" fmla="*/ 5 w 32"/>
                <a:gd name="T7" fmla="*/ 32 h 39"/>
                <a:gd name="T8" fmla="*/ 0 w 32"/>
                <a:gd name="T9" fmla="*/ 30 h 39"/>
                <a:gd name="T10" fmla="*/ 16 w 32"/>
                <a:gd name="T11" fmla="*/ 0 h 39"/>
                <a:gd name="T12" fmla="*/ 20 w 32"/>
                <a:gd name="T13" fmla="*/ 1 h 39"/>
                <a:gd name="T14" fmla="*/ 19 w 32"/>
                <a:gd name="T15" fmla="*/ 25 h 39"/>
                <a:gd name="T16" fmla="*/ 29 w 32"/>
                <a:gd name="T17" fmla="*/ 5 h 39"/>
                <a:gd name="T18" fmla="*/ 32 w 32"/>
                <a:gd name="T19" fmla="*/ 7 h 39"/>
                <a:gd name="T20" fmla="*/ 16 w 32"/>
                <a:gd name="T21" fmla="*/ 3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9">
                  <a:moveTo>
                    <a:pt x="16" y="39"/>
                  </a:moveTo>
                  <a:lnTo>
                    <a:pt x="13" y="36"/>
                  </a:lnTo>
                  <a:lnTo>
                    <a:pt x="15" y="12"/>
                  </a:lnTo>
                  <a:lnTo>
                    <a:pt x="5" y="32"/>
                  </a:lnTo>
                  <a:lnTo>
                    <a:pt x="0" y="30"/>
                  </a:lnTo>
                  <a:lnTo>
                    <a:pt x="16" y="0"/>
                  </a:lnTo>
                  <a:lnTo>
                    <a:pt x="20" y="1"/>
                  </a:lnTo>
                  <a:lnTo>
                    <a:pt x="19" y="25"/>
                  </a:lnTo>
                  <a:lnTo>
                    <a:pt x="29" y="5"/>
                  </a:lnTo>
                  <a:lnTo>
                    <a:pt x="32" y="7"/>
                  </a:lnTo>
                  <a:lnTo>
                    <a:pt x="16" y="3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5" name="Freeform 113"/>
            <p:cNvSpPr/>
            <p:nvPr userDrawn="1"/>
          </p:nvSpPr>
          <p:spPr bwMode="auto">
            <a:xfrm>
              <a:off x="1079" y="957"/>
              <a:ext cx="23" cy="36"/>
            </a:xfrm>
            <a:custGeom>
              <a:avLst/>
              <a:gdLst>
                <a:gd name="T0" fmla="*/ 12 w 19"/>
                <a:gd name="T1" fmla="*/ 29 h 29"/>
                <a:gd name="T2" fmla="*/ 10 w 19"/>
                <a:gd name="T3" fmla="*/ 29 h 29"/>
                <a:gd name="T4" fmla="*/ 10 w 19"/>
                <a:gd name="T5" fmla="*/ 26 h 29"/>
                <a:gd name="T6" fmla="*/ 8 w 19"/>
                <a:gd name="T7" fmla="*/ 27 h 29"/>
                <a:gd name="T8" fmla="*/ 5 w 19"/>
                <a:gd name="T9" fmla="*/ 27 h 29"/>
                <a:gd name="T10" fmla="*/ 1 w 19"/>
                <a:gd name="T11" fmla="*/ 23 h 29"/>
                <a:gd name="T12" fmla="*/ 1 w 19"/>
                <a:gd name="T13" fmla="*/ 13 h 29"/>
                <a:gd name="T14" fmla="*/ 6 w 19"/>
                <a:gd name="T15" fmla="*/ 3 h 29"/>
                <a:gd name="T16" fmla="*/ 14 w 19"/>
                <a:gd name="T17" fmla="*/ 1 h 29"/>
                <a:gd name="T18" fmla="*/ 18 w 19"/>
                <a:gd name="T19" fmla="*/ 11 h 29"/>
                <a:gd name="T20" fmla="*/ 15 w 19"/>
                <a:gd name="T21" fmla="*/ 11 h 29"/>
                <a:gd name="T22" fmla="*/ 13 w 19"/>
                <a:gd name="T23" fmla="*/ 4 h 29"/>
                <a:gd name="T24" fmla="*/ 8 w 19"/>
                <a:gd name="T25" fmla="*/ 6 h 29"/>
                <a:gd name="T26" fmla="*/ 5 w 19"/>
                <a:gd name="T27" fmla="*/ 14 h 29"/>
                <a:gd name="T28" fmla="*/ 4 w 19"/>
                <a:gd name="T29" fmla="*/ 21 h 29"/>
                <a:gd name="T30" fmla="*/ 6 w 19"/>
                <a:gd name="T31" fmla="*/ 24 h 29"/>
                <a:gd name="T32" fmla="*/ 9 w 19"/>
                <a:gd name="T33" fmla="*/ 24 h 29"/>
                <a:gd name="T34" fmla="*/ 12 w 19"/>
                <a:gd name="T35" fmla="*/ 20 h 29"/>
                <a:gd name="T36" fmla="*/ 12 w 19"/>
                <a:gd name="T37" fmla="*/ 18 h 29"/>
                <a:gd name="T38" fmla="*/ 8 w 19"/>
                <a:gd name="T39" fmla="*/ 17 h 29"/>
                <a:gd name="T40" fmla="*/ 9 w 19"/>
                <a:gd name="T41" fmla="*/ 14 h 29"/>
                <a:gd name="T42" fmla="*/ 16 w 19"/>
                <a:gd name="T43" fmla="*/ 17 h 29"/>
                <a:gd name="T44" fmla="*/ 12 w 19"/>
                <a:gd name="T45"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29">
                  <a:moveTo>
                    <a:pt x="12" y="29"/>
                  </a:moveTo>
                  <a:cubicBezTo>
                    <a:pt x="10" y="29"/>
                    <a:pt x="10" y="29"/>
                    <a:pt x="10" y="29"/>
                  </a:cubicBezTo>
                  <a:cubicBezTo>
                    <a:pt x="10" y="26"/>
                    <a:pt x="10" y="26"/>
                    <a:pt x="10" y="26"/>
                  </a:cubicBezTo>
                  <a:cubicBezTo>
                    <a:pt x="9" y="27"/>
                    <a:pt x="9" y="27"/>
                    <a:pt x="8" y="27"/>
                  </a:cubicBezTo>
                  <a:cubicBezTo>
                    <a:pt x="7" y="27"/>
                    <a:pt x="6" y="27"/>
                    <a:pt x="5" y="27"/>
                  </a:cubicBezTo>
                  <a:cubicBezTo>
                    <a:pt x="3" y="26"/>
                    <a:pt x="2" y="25"/>
                    <a:pt x="1" y="23"/>
                  </a:cubicBezTo>
                  <a:cubicBezTo>
                    <a:pt x="0" y="20"/>
                    <a:pt x="0" y="17"/>
                    <a:pt x="1" y="13"/>
                  </a:cubicBezTo>
                  <a:cubicBezTo>
                    <a:pt x="3" y="8"/>
                    <a:pt x="4" y="5"/>
                    <a:pt x="6" y="3"/>
                  </a:cubicBezTo>
                  <a:cubicBezTo>
                    <a:pt x="9" y="1"/>
                    <a:pt x="12" y="0"/>
                    <a:pt x="14" y="1"/>
                  </a:cubicBezTo>
                  <a:cubicBezTo>
                    <a:pt x="17" y="2"/>
                    <a:pt x="19" y="6"/>
                    <a:pt x="18" y="11"/>
                  </a:cubicBezTo>
                  <a:cubicBezTo>
                    <a:pt x="15" y="11"/>
                    <a:pt x="15" y="11"/>
                    <a:pt x="15" y="11"/>
                  </a:cubicBezTo>
                  <a:cubicBezTo>
                    <a:pt x="16" y="9"/>
                    <a:pt x="15" y="5"/>
                    <a:pt x="13" y="4"/>
                  </a:cubicBezTo>
                  <a:cubicBezTo>
                    <a:pt x="11" y="4"/>
                    <a:pt x="9" y="4"/>
                    <a:pt x="8" y="6"/>
                  </a:cubicBezTo>
                  <a:cubicBezTo>
                    <a:pt x="7" y="7"/>
                    <a:pt x="6" y="10"/>
                    <a:pt x="5" y="14"/>
                  </a:cubicBezTo>
                  <a:cubicBezTo>
                    <a:pt x="4" y="17"/>
                    <a:pt x="3" y="20"/>
                    <a:pt x="4" y="21"/>
                  </a:cubicBezTo>
                  <a:cubicBezTo>
                    <a:pt x="4" y="23"/>
                    <a:pt x="5" y="24"/>
                    <a:pt x="6" y="24"/>
                  </a:cubicBezTo>
                  <a:cubicBezTo>
                    <a:pt x="7" y="25"/>
                    <a:pt x="9" y="25"/>
                    <a:pt x="9" y="24"/>
                  </a:cubicBezTo>
                  <a:cubicBezTo>
                    <a:pt x="10" y="23"/>
                    <a:pt x="11" y="22"/>
                    <a:pt x="12" y="20"/>
                  </a:cubicBezTo>
                  <a:cubicBezTo>
                    <a:pt x="12" y="18"/>
                    <a:pt x="12" y="18"/>
                    <a:pt x="12" y="18"/>
                  </a:cubicBezTo>
                  <a:cubicBezTo>
                    <a:pt x="8" y="17"/>
                    <a:pt x="8" y="17"/>
                    <a:pt x="8" y="17"/>
                  </a:cubicBezTo>
                  <a:cubicBezTo>
                    <a:pt x="9" y="14"/>
                    <a:pt x="9" y="14"/>
                    <a:pt x="9" y="14"/>
                  </a:cubicBezTo>
                  <a:cubicBezTo>
                    <a:pt x="16" y="17"/>
                    <a:pt x="16" y="17"/>
                    <a:pt x="16" y="17"/>
                  </a:cubicBezTo>
                  <a:lnTo>
                    <a:pt x="12"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6" name="Freeform 114"/>
            <p:cNvSpPr/>
            <p:nvPr userDrawn="1"/>
          </p:nvSpPr>
          <p:spPr bwMode="auto">
            <a:xfrm>
              <a:off x="1121" y="962"/>
              <a:ext cx="19" cy="33"/>
            </a:xfrm>
            <a:custGeom>
              <a:avLst/>
              <a:gdLst>
                <a:gd name="T0" fmla="*/ 15 w 15"/>
                <a:gd name="T1" fmla="*/ 19 h 27"/>
                <a:gd name="T2" fmla="*/ 13 w 15"/>
                <a:gd name="T3" fmla="*/ 25 h 27"/>
                <a:gd name="T4" fmla="*/ 7 w 15"/>
                <a:gd name="T5" fmla="*/ 27 h 27"/>
                <a:gd name="T6" fmla="*/ 1 w 15"/>
                <a:gd name="T7" fmla="*/ 25 h 27"/>
                <a:gd name="T8" fmla="*/ 0 w 15"/>
                <a:gd name="T9" fmla="*/ 19 h 27"/>
                <a:gd name="T10" fmla="*/ 0 w 15"/>
                <a:gd name="T11" fmla="*/ 0 h 27"/>
                <a:gd name="T12" fmla="*/ 4 w 15"/>
                <a:gd name="T13" fmla="*/ 0 h 27"/>
                <a:gd name="T14" fmla="*/ 3 w 15"/>
                <a:gd name="T15" fmla="*/ 19 h 27"/>
                <a:gd name="T16" fmla="*/ 4 w 15"/>
                <a:gd name="T17" fmla="*/ 23 h 27"/>
                <a:gd name="T18" fmla="*/ 7 w 15"/>
                <a:gd name="T19" fmla="*/ 24 h 27"/>
                <a:gd name="T20" fmla="*/ 10 w 15"/>
                <a:gd name="T21" fmla="*/ 23 h 27"/>
                <a:gd name="T22" fmla="*/ 11 w 15"/>
                <a:gd name="T23" fmla="*/ 19 h 27"/>
                <a:gd name="T24" fmla="*/ 12 w 15"/>
                <a:gd name="T25" fmla="*/ 0 h 27"/>
                <a:gd name="T26" fmla="*/ 15 w 15"/>
                <a:gd name="T27" fmla="*/ 0 h 27"/>
                <a:gd name="T28" fmla="*/ 15 w 15"/>
                <a:gd name="T29"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7">
                  <a:moveTo>
                    <a:pt x="15" y="19"/>
                  </a:moveTo>
                  <a:cubicBezTo>
                    <a:pt x="15" y="22"/>
                    <a:pt x="14" y="24"/>
                    <a:pt x="13" y="25"/>
                  </a:cubicBezTo>
                  <a:cubicBezTo>
                    <a:pt x="11" y="27"/>
                    <a:pt x="10" y="27"/>
                    <a:pt x="7" y="27"/>
                  </a:cubicBezTo>
                  <a:cubicBezTo>
                    <a:pt x="4" y="27"/>
                    <a:pt x="2" y="26"/>
                    <a:pt x="1" y="25"/>
                  </a:cubicBezTo>
                  <a:cubicBezTo>
                    <a:pt x="0" y="23"/>
                    <a:pt x="0" y="21"/>
                    <a:pt x="0" y="19"/>
                  </a:cubicBezTo>
                  <a:cubicBezTo>
                    <a:pt x="0" y="0"/>
                    <a:pt x="0" y="0"/>
                    <a:pt x="0" y="0"/>
                  </a:cubicBezTo>
                  <a:cubicBezTo>
                    <a:pt x="4" y="0"/>
                    <a:pt x="4" y="0"/>
                    <a:pt x="4" y="0"/>
                  </a:cubicBezTo>
                  <a:cubicBezTo>
                    <a:pt x="3" y="19"/>
                    <a:pt x="3" y="19"/>
                    <a:pt x="3" y="19"/>
                  </a:cubicBezTo>
                  <a:cubicBezTo>
                    <a:pt x="3" y="21"/>
                    <a:pt x="3" y="22"/>
                    <a:pt x="4" y="23"/>
                  </a:cubicBezTo>
                  <a:cubicBezTo>
                    <a:pt x="5" y="24"/>
                    <a:pt x="6" y="24"/>
                    <a:pt x="7" y="24"/>
                  </a:cubicBezTo>
                  <a:cubicBezTo>
                    <a:pt x="8" y="24"/>
                    <a:pt x="9" y="24"/>
                    <a:pt x="10" y="23"/>
                  </a:cubicBezTo>
                  <a:cubicBezTo>
                    <a:pt x="11" y="22"/>
                    <a:pt x="11" y="21"/>
                    <a:pt x="11" y="19"/>
                  </a:cubicBezTo>
                  <a:cubicBezTo>
                    <a:pt x="12" y="0"/>
                    <a:pt x="12" y="0"/>
                    <a:pt x="12" y="0"/>
                  </a:cubicBezTo>
                  <a:cubicBezTo>
                    <a:pt x="15" y="0"/>
                    <a:pt x="15" y="0"/>
                    <a:pt x="15" y="0"/>
                  </a:cubicBezTo>
                  <a:lnTo>
                    <a:pt x="15" y="1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7" name="Freeform 115"/>
            <p:cNvSpPr/>
            <p:nvPr userDrawn="1"/>
          </p:nvSpPr>
          <p:spPr bwMode="auto">
            <a:xfrm>
              <a:off x="1142" y="959"/>
              <a:ext cx="21" cy="36"/>
            </a:xfrm>
            <a:custGeom>
              <a:avLst/>
              <a:gdLst>
                <a:gd name="T0" fmla="*/ 21 w 21"/>
                <a:gd name="T1" fmla="*/ 33 h 36"/>
                <a:gd name="T2" fmla="*/ 17 w 21"/>
                <a:gd name="T3" fmla="*/ 34 h 36"/>
                <a:gd name="T4" fmla="*/ 5 w 21"/>
                <a:gd name="T5" fmla="*/ 11 h 36"/>
                <a:gd name="T6" fmla="*/ 8 w 21"/>
                <a:gd name="T7" fmla="*/ 35 h 36"/>
                <a:gd name="T8" fmla="*/ 3 w 21"/>
                <a:gd name="T9" fmla="*/ 36 h 36"/>
                <a:gd name="T10" fmla="*/ 0 w 21"/>
                <a:gd name="T11" fmla="*/ 3 h 36"/>
                <a:gd name="T12" fmla="*/ 5 w 21"/>
                <a:gd name="T13" fmla="*/ 1 h 36"/>
                <a:gd name="T14" fmla="*/ 15 w 21"/>
                <a:gd name="T15" fmla="*/ 18 h 36"/>
                <a:gd name="T16" fmla="*/ 12 w 21"/>
                <a:gd name="T17" fmla="*/ 0 h 36"/>
                <a:gd name="T18" fmla="*/ 16 w 21"/>
                <a:gd name="T19" fmla="*/ 0 h 36"/>
                <a:gd name="T20" fmla="*/ 21 w 21"/>
                <a:gd name="T21" fmla="*/ 3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6">
                  <a:moveTo>
                    <a:pt x="21" y="33"/>
                  </a:moveTo>
                  <a:lnTo>
                    <a:pt x="17" y="34"/>
                  </a:lnTo>
                  <a:lnTo>
                    <a:pt x="5" y="11"/>
                  </a:lnTo>
                  <a:lnTo>
                    <a:pt x="8" y="35"/>
                  </a:lnTo>
                  <a:lnTo>
                    <a:pt x="3" y="36"/>
                  </a:lnTo>
                  <a:lnTo>
                    <a:pt x="0" y="3"/>
                  </a:lnTo>
                  <a:lnTo>
                    <a:pt x="5" y="1"/>
                  </a:lnTo>
                  <a:lnTo>
                    <a:pt x="15" y="18"/>
                  </a:lnTo>
                  <a:lnTo>
                    <a:pt x="12" y="0"/>
                  </a:lnTo>
                  <a:lnTo>
                    <a:pt x="16" y="0"/>
                  </a:lnTo>
                  <a:lnTo>
                    <a:pt x="21" y="3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8" name="Freeform 116"/>
            <p:cNvSpPr/>
            <p:nvPr userDrawn="1"/>
          </p:nvSpPr>
          <p:spPr bwMode="auto">
            <a:xfrm>
              <a:off x="1162" y="957"/>
              <a:ext cx="14" cy="33"/>
            </a:xfrm>
            <a:custGeom>
              <a:avLst/>
              <a:gdLst>
                <a:gd name="T0" fmla="*/ 14 w 14"/>
                <a:gd name="T1" fmla="*/ 31 h 33"/>
                <a:gd name="T2" fmla="*/ 9 w 14"/>
                <a:gd name="T3" fmla="*/ 33 h 33"/>
                <a:gd name="T4" fmla="*/ 0 w 14"/>
                <a:gd name="T5" fmla="*/ 1 h 33"/>
                <a:gd name="T6" fmla="*/ 4 w 14"/>
                <a:gd name="T7" fmla="*/ 0 h 33"/>
                <a:gd name="T8" fmla="*/ 14 w 14"/>
                <a:gd name="T9" fmla="*/ 31 h 33"/>
              </a:gdLst>
              <a:ahLst/>
              <a:cxnLst>
                <a:cxn ang="0">
                  <a:pos x="T0" y="T1"/>
                </a:cxn>
                <a:cxn ang="0">
                  <a:pos x="T2" y="T3"/>
                </a:cxn>
                <a:cxn ang="0">
                  <a:pos x="T4" y="T5"/>
                </a:cxn>
                <a:cxn ang="0">
                  <a:pos x="T6" y="T7"/>
                </a:cxn>
                <a:cxn ang="0">
                  <a:pos x="T8" y="T9"/>
                </a:cxn>
              </a:cxnLst>
              <a:rect l="0" t="0" r="r" b="b"/>
              <a:pathLst>
                <a:path w="14" h="33">
                  <a:moveTo>
                    <a:pt x="14" y="31"/>
                  </a:moveTo>
                  <a:lnTo>
                    <a:pt x="9" y="33"/>
                  </a:lnTo>
                  <a:lnTo>
                    <a:pt x="0" y="1"/>
                  </a:lnTo>
                  <a:lnTo>
                    <a:pt x="4" y="0"/>
                  </a:lnTo>
                  <a:lnTo>
                    <a:pt x="14" y="3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49" name="Freeform 117"/>
            <p:cNvSpPr/>
            <p:nvPr userDrawn="1"/>
          </p:nvSpPr>
          <p:spPr bwMode="auto">
            <a:xfrm>
              <a:off x="1169" y="948"/>
              <a:ext cx="23" cy="37"/>
            </a:xfrm>
            <a:custGeom>
              <a:avLst/>
              <a:gdLst>
                <a:gd name="T0" fmla="*/ 18 w 23"/>
                <a:gd name="T1" fmla="*/ 0 h 37"/>
                <a:gd name="T2" fmla="*/ 23 w 23"/>
                <a:gd name="T3" fmla="*/ 35 h 37"/>
                <a:gd name="T4" fmla="*/ 19 w 23"/>
                <a:gd name="T5" fmla="*/ 37 h 37"/>
                <a:gd name="T6" fmla="*/ 0 w 23"/>
                <a:gd name="T7" fmla="*/ 7 h 37"/>
                <a:gd name="T8" fmla="*/ 4 w 23"/>
                <a:gd name="T9" fmla="*/ 6 h 37"/>
                <a:gd name="T10" fmla="*/ 18 w 23"/>
                <a:gd name="T11" fmla="*/ 26 h 37"/>
                <a:gd name="T12" fmla="*/ 14 w 23"/>
                <a:gd name="T13" fmla="*/ 1 h 37"/>
                <a:gd name="T14" fmla="*/ 18 w 23"/>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7">
                  <a:moveTo>
                    <a:pt x="18" y="0"/>
                  </a:moveTo>
                  <a:lnTo>
                    <a:pt x="23" y="35"/>
                  </a:lnTo>
                  <a:lnTo>
                    <a:pt x="19" y="37"/>
                  </a:lnTo>
                  <a:lnTo>
                    <a:pt x="0" y="7"/>
                  </a:lnTo>
                  <a:lnTo>
                    <a:pt x="4" y="6"/>
                  </a:lnTo>
                  <a:lnTo>
                    <a:pt x="18" y="26"/>
                  </a:lnTo>
                  <a:lnTo>
                    <a:pt x="14" y="1"/>
                  </a:lnTo>
                  <a:lnTo>
                    <a:pt x="1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0" name="Freeform 118"/>
            <p:cNvSpPr/>
            <p:nvPr userDrawn="1"/>
          </p:nvSpPr>
          <p:spPr bwMode="auto">
            <a:xfrm>
              <a:off x="1188" y="939"/>
              <a:ext cx="33" cy="38"/>
            </a:xfrm>
            <a:custGeom>
              <a:avLst/>
              <a:gdLst>
                <a:gd name="T0" fmla="*/ 33 w 33"/>
                <a:gd name="T1" fmla="*/ 29 h 38"/>
                <a:gd name="T2" fmla="*/ 17 w 33"/>
                <a:gd name="T3" fmla="*/ 38 h 38"/>
                <a:gd name="T4" fmla="*/ 0 w 33"/>
                <a:gd name="T5" fmla="*/ 8 h 38"/>
                <a:gd name="T6" fmla="*/ 15 w 33"/>
                <a:gd name="T7" fmla="*/ 0 h 38"/>
                <a:gd name="T8" fmla="*/ 17 w 33"/>
                <a:gd name="T9" fmla="*/ 3 h 38"/>
                <a:gd name="T10" fmla="*/ 6 w 33"/>
                <a:gd name="T11" fmla="*/ 9 h 38"/>
                <a:gd name="T12" fmla="*/ 11 w 33"/>
                <a:gd name="T13" fmla="*/ 19 h 38"/>
                <a:gd name="T14" fmla="*/ 22 w 33"/>
                <a:gd name="T15" fmla="*/ 13 h 38"/>
                <a:gd name="T16" fmla="*/ 23 w 33"/>
                <a:gd name="T17" fmla="*/ 16 h 38"/>
                <a:gd name="T18" fmla="*/ 14 w 33"/>
                <a:gd name="T19" fmla="*/ 21 h 38"/>
                <a:gd name="T20" fmla="*/ 20 w 33"/>
                <a:gd name="T21" fmla="*/ 33 h 38"/>
                <a:gd name="T22" fmla="*/ 31 w 33"/>
                <a:gd name="T23" fmla="*/ 25 h 38"/>
                <a:gd name="T24" fmla="*/ 33 w 33"/>
                <a:gd name="T2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8">
                  <a:moveTo>
                    <a:pt x="33" y="29"/>
                  </a:moveTo>
                  <a:lnTo>
                    <a:pt x="17" y="38"/>
                  </a:lnTo>
                  <a:lnTo>
                    <a:pt x="0" y="8"/>
                  </a:lnTo>
                  <a:lnTo>
                    <a:pt x="15" y="0"/>
                  </a:lnTo>
                  <a:lnTo>
                    <a:pt x="17" y="3"/>
                  </a:lnTo>
                  <a:lnTo>
                    <a:pt x="6" y="9"/>
                  </a:lnTo>
                  <a:lnTo>
                    <a:pt x="11" y="19"/>
                  </a:lnTo>
                  <a:lnTo>
                    <a:pt x="22" y="13"/>
                  </a:lnTo>
                  <a:lnTo>
                    <a:pt x="23" y="16"/>
                  </a:lnTo>
                  <a:lnTo>
                    <a:pt x="14" y="21"/>
                  </a:lnTo>
                  <a:lnTo>
                    <a:pt x="20" y="33"/>
                  </a:lnTo>
                  <a:lnTo>
                    <a:pt x="31" y="25"/>
                  </a:lnTo>
                  <a:lnTo>
                    <a:pt x="33" y="29"/>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1" name="Freeform 119"/>
            <p:cNvSpPr>
              <a:spLocks noEditPoints="1"/>
            </p:cNvSpPr>
            <p:nvPr userDrawn="1"/>
          </p:nvSpPr>
          <p:spPr bwMode="auto">
            <a:xfrm>
              <a:off x="1205" y="931"/>
              <a:ext cx="34" cy="34"/>
            </a:xfrm>
            <a:custGeom>
              <a:avLst/>
              <a:gdLst>
                <a:gd name="T0" fmla="*/ 27 w 27"/>
                <a:gd name="T1" fmla="*/ 20 h 28"/>
                <a:gd name="T2" fmla="*/ 24 w 27"/>
                <a:gd name="T3" fmla="*/ 22 h 28"/>
                <a:gd name="T4" fmla="*/ 15 w 27"/>
                <a:gd name="T5" fmla="*/ 14 h 28"/>
                <a:gd name="T6" fmla="*/ 12 w 27"/>
                <a:gd name="T7" fmla="*/ 17 h 28"/>
                <a:gd name="T8" fmla="*/ 19 w 27"/>
                <a:gd name="T9" fmla="*/ 26 h 28"/>
                <a:gd name="T10" fmla="*/ 16 w 27"/>
                <a:gd name="T11" fmla="*/ 28 h 28"/>
                <a:gd name="T12" fmla="*/ 0 w 27"/>
                <a:gd name="T13" fmla="*/ 6 h 28"/>
                <a:gd name="T14" fmla="*/ 5 w 27"/>
                <a:gd name="T15" fmla="*/ 2 h 28"/>
                <a:gd name="T16" fmla="*/ 11 w 27"/>
                <a:gd name="T17" fmla="*/ 0 h 28"/>
                <a:gd name="T18" fmla="*/ 18 w 27"/>
                <a:gd name="T19" fmla="*/ 8 h 28"/>
                <a:gd name="T20" fmla="*/ 17 w 27"/>
                <a:gd name="T21" fmla="*/ 12 h 28"/>
                <a:gd name="T22" fmla="*/ 27 w 27"/>
                <a:gd name="T23" fmla="*/ 20 h 28"/>
                <a:gd name="T24" fmla="*/ 10 w 27"/>
                <a:gd name="T25" fmla="*/ 4 h 28"/>
                <a:gd name="T26" fmla="*/ 5 w 27"/>
                <a:gd name="T27" fmla="*/ 6 h 28"/>
                <a:gd name="T28" fmla="*/ 10 w 27"/>
                <a:gd name="T29" fmla="*/ 13 h 28"/>
                <a:gd name="T30" fmla="*/ 14 w 27"/>
                <a:gd name="T31" fmla="*/ 10 h 28"/>
                <a:gd name="T32" fmla="*/ 10 w 27"/>
                <a:gd name="T33"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8">
                  <a:moveTo>
                    <a:pt x="27" y="20"/>
                  </a:moveTo>
                  <a:cubicBezTo>
                    <a:pt x="24" y="22"/>
                    <a:pt x="24" y="22"/>
                    <a:pt x="24" y="22"/>
                  </a:cubicBezTo>
                  <a:cubicBezTo>
                    <a:pt x="15" y="14"/>
                    <a:pt x="15" y="14"/>
                    <a:pt x="15" y="14"/>
                  </a:cubicBezTo>
                  <a:cubicBezTo>
                    <a:pt x="12" y="17"/>
                    <a:pt x="12" y="17"/>
                    <a:pt x="12" y="17"/>
                  </a:cubicBezTo>
                  <a:cubicBezTo>
                    <a:pt x="19" y="26"/>
                    <a:pt x="19" y="26"/>
                    <a:pt x="19" y="26"/>
                  </a:cubicBezTo>
                  <a:cubicBezTo>
                    <a:pt x="16" y="28"/>
                    <a:pt x="16" y="28"/>
                    <a:pt x="16" y="28"/>
                  </a:cubicBezTo>
                  <a:cubicBezTo>
                    <a:pt x="0" y="6"/>
                    <a:pt x="0" y="6"/>
                    <a:pt x="0" y="6"/>
                  </a:cubicBezTo>
                  <a:cubicBezTo>
                    <a:pt x="5" y="2"/>
                    <a:pt x="5" y="2"/>
                    <a:pt x="5" y="2"/>
                  </a:cubicBezTo>
                  <a:cubicBezTo>
                    <a:pt x="7" y="1"/>
                    <a:pt x="9" y="0"/>
                    <a:pt x="11" y="0"/>
                  </a:cubicBezTo>
                  <a:cubicBezTo>
                    <a:pt x="16" y="1"/>
                    <a:pt x="18" y="4"/>
                    <a:pt x="18" y="8"/>
                  </a:cubicBezTo>
                  <a:cubicBezTo>
                    <a:pt x="18" y="9"/>
                    <a:pt x="18" y="11"/>
                    <a:pt x="17" y="12"/>
                  </a:cubicBezTo>
                  <a:lnTo>
                    <a:pt x="27" y="20"/>
                  </a:lnTo>
                  <a:close/>
                  <a:moveTo>
                    <a:pt x="10" y="4"/>
                  </a:moveTo>
                  <a:cubicBezTo>
                    <a:pt x="8" y="3"/>
                    <a:pt x="6" y="5"/>
                    <a:pt x="5" y="6"/>
                  </a:cubicBezTo>
                  <a:cubicBezTo>
                    <a:pt x="10" y="13"/>
                    <a:pt x="10" y="13"/>
                    <a:pt x="10" y="13"/>
                  </a:cubicBezTo>
                  <a:cubicBezTo>
                    <a:pt x="12" y="12"/>
                    <a:pt x="12" y="12"/>
                    <a:pt x="14" y="10"/>
                  </a:cubicBezTo>
                  <a:cubicBezTo>
                    <a:pt x="14" y="7"/>
                    <a:pt x="13" y="5"/>
                    <a:pt x="10" y="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2" name="Freeform 120"/>
            <p:cNvSpPr/>
            <p:nvPr userDrawn="1"/>
          </p:nvSpPr>
          <p:spPr bwMode="auto">
            <a:xfrm>
              <a:off x="1223" y="916"/>
              <a:ext cx="34" cy="29"/>
            </a:xfrm>
            <a:custGeom>
              <a:avLst/>
              <a:gdLst>
                <a:gd name="T0" fmla="*/ 22 w 28"/>
                <a:gd name="T1" fmla="*/ 10 h 24"/>
                <a:gd name="T2" fmla="*/ 19 w 28"/>
                <a:gd name="T3" fmla="*/ 24 h 24"/>
                <a:gd name="T4" fmla="*/ 14 w 28"/>
                <a:gd name="T5" fmla="*/ 23 h 24"/>
                <a:gd name="T6" fmla="*/ 15 w 28"/>
                <a:gd name="T7" fmla="*/ 20 h 24"/>
                <a:gd name="T8" fmla="*/ 18 w 28"/>
                <a:gd name="T9" fmla="*/ 21 h 24"/>
                <a:gd name="T10" fmla="*/ 20 w 28"/>
                <a:gd name="T11" fmla="*/ 13 h 24"/>
                <a:gd name="T12" fmla="*/ 17 w 28"/>
                <a:gd name="T13" fmla="*/ 12 h 24"/>
                <a:gd name="T14" fmla="*/ 8 w 28"/>
                <a:gd name="T15" fmla="*/ 15 h 24"/>
                <a:gd name="T16" fmla="*/ 0 w 28"/>
                <a:gd name="T17" fmla="*/ 9 h 24"/>
                <a:gd name="T18" fmla="*/ 2 w 28"/>
                <a:gd name="T19" fmla="*/ 4 h 24"/>
                <a:gd name="T20" fmla="*/ 11 w 28"/>
                <a:gd name="T21" fmla="*/ 2 h 24"/>
                <a:gd name="T22" fmla="*/ 10 w 28"/>
                <a:gd name="T23" fmla="*/ 5 h 24"/>
                <a:gd name="T24" fmla="*/ 4 w 28"/>
                <a:gd name="T25" fmla="*/ 6 h 24"/>
                <a:gd name="T26" fmla="*/ 3 w 28"/>
                <a:gd name="T27" fmla="*/ 9 h 24"/>
                <a:gd name="T28" fmla="*/ 7 w 28"/>
                <a:gd name="T29" fmla="*/ 12 h 24"/>
                <a:gd name="T30" fmla="*/ 17 w 28"/>
                <a:gd name="T31" fmla="*/ 9 h 24"/>
                <a:gd name="T32" fmla="*/ 22 w 28"/>
                <a:gd name="T3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 h="24">
                  <a:moveTo>
                    <a:pt x="22" y="10"/>
                  </a:moveTo>
                  <a:cubicBezTo>
                    <a:pt x="28" y="13"/>
                    <a:pt x="26" y="23"/>
                    <a:pt x="19" y="24"/>
                  </a:cubicBezTo>
                  <a:cubicBezTo>
                    <a:pt x="17" y="24"/>
                    <a:pt x="15" y="24"/>
                    <a:pt x="14" y="23"/>
                  </a:cubicBezTo>
                  <a:cubicBezTo>
                    <a:pt x="15" y="20"/>
                    <a:pt x="15" y="20"/>
                    <a:pt x="15" y="20"/>
                  </a:cubicBezTo>
                  <a:cubicBezTo>
                    <a:pt x="16" y="21"/>
                    <a:pt x="17" y="21"/>
                    <a:pt x="18" y="21"/>
                  </a:cubicBezTo>
                  <a:cubicBezTo>
                    <a:pt x="23" y="20"/>
                    <a:pt x="23" y="15"/>
                    <a:pt x="20" y="13"/>
                  </a:cubicBezTo>
                  <a:cubicBezTo>
                    <a:pt x="19" y="12"/>
                    <a:pt x="18" y="12"/>
                    <a:pt x="17" y="12"/>
                  </a:cubicBezTo>
                  <a:cubicBezTo>
                    <a:pt x="13" y="13"/>
                    <a:pt x="11" y="15"/>
                    <a:pt x="8" y="15"/>
                  </a:cubicBezTo>
                  <a:cubicBezTo>
                    <a:pt x="4" y="15"/>
                    <a:pt x="1" y="13"/>
                    <a:pt x="0" y="9"/>
                  </a:cubicBezTo>
                  <a:cubicBezTo>
                    <a:pt x="0" y="7"/>
                    <a:pt x="1" y="5"/>
                    <a:pt x="2" y="4"/>
                  </a:cubicBezTo>
                  <a:cubicBezTo>
                    <a:pt x="4" y="0"/>
                    <a:pt x="8" y="0"/>
                    <a:pt x="11" y="2"/>
                  </a:cubicBezTo>
                  <a:cubicBezTo>
                    <a:pt x="10" y="5"/>
                    <a:pt x="10" y="5"/>
                    <a:pt x="10" y="5"/>
                  </a:cubicBezTo>
                  <a:cubicBezTo>
                    <a:pt x="8" y="4"/>
                    <a:pt x="5" y="4"/>
                    <a:pt x="4" y="6"/>
                  </a:cubicBezTo>
                  <a:cubicBezTo>
                    <a:pt x="3" y="7"/>
                    <a:pt x="3" y="8"/>
                    <a:pt x="3" y="9"/>
                  </a:cubicBezTo>
                  <a:cubicBezTo>
                    <a:pt x="4" y="11"/>
                    <a:pt x="5" y="12"/>
                    <a:pt x="7" y="12"/>
                  </a:cubicBezTo>
                  <a:cubicBezTo>
                    <a:pt x="11" y="11"/>
                    <a:pt x="13" y="8"/>
                    <a:pt x="17" y="9"/>
                  </a:cubicBezTo>
                  <a:cubicBezTo>
                    <a:pt x="18" y="9"/>
                    <a:pt x="20" y="9"/>
                    <a:pt x="22"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3" name="Freeform 121"/>
            <p:cNvSpPr/>
            <p:nvPr userDrawn="1"/>
          </p:nvSpPr>
          <p:spPr bwMode="auto">
            <a:xfrm>
              <a:off x="1234" y="906"/>
              <a:ext cx="31" cy="21"/>
            </a:xfrm>
            <a:custGeom>
              <a:avLst/>
              <a:gdLst>
                <a:gd name="T0" fmla="*/ 31 w 31"/>
                <a:gd name="T1" fmla="*/ 17 h 21"/>
                <a:gd name="T2" fmla="*/ 28 w 31"/>
                <a:gd name="T3" fmla="*/ 21 h 21"/>
                <a:gd name="T4" fmla="*/ 0 w 31"/>
                <a:gd name="T5" fmla="*/ 2 h 21"/>
                <a:gd name="T6" fmla="*/ 2 w 31"/>
                <a:gd name="T7" fmla="*/ 0 h 21"/>
                <a:gd name="T8" fmla="*/ 31 w 31"/>
                <a:gd name="T9" fmla="*/ 17 h 21"/>
              </a:gdLst>
              <a:ahLst/>
              <a:cxnLst>
                <a:cxn ang="0">
                  <a:pos x="T0" y="T1"/>
                </a:cxn>
                <a:cxn ang="0">
                  <a:pos x="T2" y="T3"/>
                </a:cxn>
                <a:cxn ang="0">
                  <a:pos x="T4" y="T5"/>
                </a:cxn>
                <a:cxn ang="0">
                  <a:pos x="T6" y="T7"/>
                </a:cxn>
                <a:cxn ang="0">
                  <a:pos x="T8" y="T9"/>
                </a:cxn>
              </a:cxnLst>
              <a:rect l="0" t="0" r="r" b="b"/>
              <a:pathLst>
                <a:path w="31" h="21">
                  <a:moveTo>
                    <a:pt x="31" y="17"/>
                  </a:moveTo>
                  <a:lnTo>
                    <a:pt x="28" y="21"/>
                  </a:lnTo>
                  <a:lnTo>
                    <a:pt x="0" y="2"/>
                  </a:lnTo>
                  <a:lnTo>
                    <a:pt x="2" y="0"/>
                  </a:lnTo>
                  <a:lnTo>
                    <a:pt x="31" y="17"/>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4" name="Freeform 122"/>
            <p:cNvSpPr/>
            <p:nvPr userDrawn="1"/>
          </p:nvSpPr>
          <p:spPr bwMode="auto">
            <a:xfrm>
              <a:off x="1239" y="884"/>
              <a:ext cx="36" cy="28"/>
            </a:xfrm>
            <a:custGeom>
              <a:avLst/>
              <a:gdLst>
                <a:gd name="T0" fmla="*/ 11 w 36"/>
                <a:gd name="T1" fmla="*/ 3 h 28"/>
                <a:gd name="T2" fmla="*/ 8 w 36"/>
                <a:gd name="T3" fmla="*/ 9 h 28"/>
                <a:gd name="T4" fmla="*/ 36 w 36"/>
                <a:gd name="T5" fmla="*/ 25 h 28"/>
                <a:gd name="T6" fmla="*/ 33 w 36"/>
                <a:gd name="T7" fmla="*/ 28 h 28"/>
                <a:gd name="T8" fmla="*/ 6 w 36"/>
                <a:gd name="T9" fmla="*/ 13 h 28"/>
                <a:gd name="T10" fmla="*/ 3 w 36"/>
                <a:gd name="T11" fmla="*/ 18 h 28"/>
                <a:gd name="T12" fmla="*/ 0 w 36"/>
                <a:gd name="T13" fmla="*/ 17 h 28"/>
                <a:gd name="T14" fmla="*/ 7 w 36"/>
                <a:gd name="T15" fmla="*/ 0 h 28"/>
                <a:gd name="T16" fmla="*/ 11 w 36"/>
                <a:gd name="T17"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28">
                  <a:moveTo>
                    <a:pt x="11" y="3"/>
                  </a:moveTo>
                  <a:lnTo>
                    <a:pt x="8" y="9"/>
                  </a:lnTo>
                  <a:lnTo>
                    <a:pt x="36" y="25"/>
                  </a:lnTo>
                  <a:lnTo>
                    <a:pt x="33" y="28"/>
                  </a:lnTo>
                  <a:lnTo>
                    <a:pt x="6" y="13"/>
                  </a:lnTo>
                  <a:lnTo>
                    <a:pt x="3" y="18"/>
                  </a:lnTo>
                  <a:lnTo>
                    <a:pt x="0" y="17"/>
                  </a:lnTo>
                  <a:lnTo>
                    <a:pt x="7" y="0"/>
                  </a:lnTo>
                  <a:lnTo>
                    <a:pt x="11" y="3"/>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5" name="Freeform 123"/>
            <p:cNvSpPr/>
            <p:nvPr userDrawn="1"/>
          </p:nvSpPr>
          <p:spPr bwMode="auto">
            <a:xfrm>
              <a:off x="1247" y="865"/>
              <a:ext cx="36" cy="23"/>
            </a:xfrm>
            <a:custGeom>
              <a:avLst/>
              <a:gdLst>
                <a:gd name="T0" fmla="*/ 8 w 36"/>
                <a:gd name="T1" fmla="*/ 0 h 23"/>
                <a:gd name="T2" fmla="*/ 25 w 36"/>
                <a:gd name="T3" fmla="*/ 14 h 23"/>
                <a:gd name="T4" fmla="*/ 36 w 36"/>
                <a:gd name="T5" fmla="*/ 19 h 23"/>
                <a:gd name="T6" fmla="*/ 34 w 36"/>
                <a:gd name="T7" fmla="*/ 23 h 23"/>
                <a:gd name="T8" fmla="*/ 24 w 36"/>
                <a:gd name="T9" fmla="*/ 18 h 23"/>
                <a:gd name="T10" fmla="*/ 0 w 36"/>
                <a:gd name="T11" fmla="*/ 18 h 23"/>
                <a:gd name="T12" fmla="*/ 2 w 36"/>
                <a:gd name="T13" fmla="*/ 14 h 23"/>
                <a:gd name="T14" fmla="*/ 18 w 36"/>
                <a:gd name="T15" fmla="*/ 14 h 23"/>
                <a:gd name="T16" fmla="*/ 7 w 36"/>
                <a:gd name="T17" fmla="*/ 5 h 23"/>
                <a:gd name="T18" fmla="*/ 8 w 36"/>
                <a:gd name="T1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3">
                  <a:moveTo>
                    <a:pt x="8" y="0"/>
                  </a:moveTo>
                  <a:lnTo>
                    <a:pt x="25" y="14"/>
                  </a:lnTo>
                  <a:lnTo>
                    <a:pt x="36" y="19"/>
                  </a:lnTo>
                  <a:lnTo>
                    <a:pt x="34" y="23"/>
                  </a:lnTo>
                  <a:lnTo>
                    <a:pt x="24" y="18"/>
                  </a:lnTo>
                  <a:lnTo>
                    <a:pt x="0" y="18"/>
                  </a:lnTo>
                  <a:lnTo>
                    <a:pt x="2" y="14"/>
                  </a:lnTo>
                  <a:lnTo>
                    <a:pt x="18" y="14"/>
                  </a:lnTo>
                  <a:lnTo>
                    <a:pt x="7" y="5"/>
                  </a:lnTo>
                  <a:lnTo>
                    <a:pt x="8" y="0"/>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6" name="Freeform 124"/>
            <p:cNvSpPr/>
            <p:nvPr userDrawn="1"/>
          </p:nvSpPr>
          <p:spPr bwMode="auto">
            <a:xfrm>
              <a:off x="1010" y="928"/>
              <a:ext cx="34" cy="25"/>
            </a:xfrm>
            <a:custGeom>
              <a:avLst/>
              <a:gdLst>
                <a:gd name="T0" fmla="*/ 14 w 28"/>
                <a:gd name="T1" fmla="*/ 16 h 20"/>
                <a:gd name="T2" fmla="*/ 8 w 28"/>
                <a:gd name="T3" fmla="*/ 20 h 20"/>
                <a:gd name="T4" fmla="*/ 2 w 28"/>
                <a:gd name="T5" fmla="*/ 17 h 20"/>
                <a:gd name="T6" fmla="*/ 0 w 28"/>
                <a:gd name="T7" fmla="*/ 12 h 20"/>
                <a:gd name="T8" fmla="*/ 1 w 28"/>
                <a:gd name="T9" fmla="*/ 9 h 20"/>
                <a:gd name="T10" fmla="*/ 4 w 28"/>
                <a:gd name="T11" fmla="*/ 10 h 20"/>
                <a:gd name="T12" fmla="*/ 3 w 28"/>
                <a:gd name="T13" fmla="*/ 12 h 20"/>
                <a:gd name="T14" fmla="*/ 4 w 28"/>
                <a:gd name="T15" fmla="*/ 15 h 20"/>
                <a:gd name="T16" fmla="*/ 8 w 28"/>
                <a:gd name="T17" fmla="*/ 16 h 20"/>
                <a:gd name="T18" fmla="*/ 12 w 28"/>
                <a:gd name="T19" fmla="*/ 14 h 20"/>
                <a:gd name="T20" fmla="*/ 25 w 28"/>
                <a:gd name="T21" fmla="*/ 0 h 20"/>
                <a:gd name="T22" fmla="*/ 28 w 28"/>
                <a:gd name="T23" fmla="*/ 3 h 20"/>
                <a:gd name="T24" fmla="*/ 14 w 28"/>
                <a:gd name="T25"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0">
                  <a:moveTo>
                    <a:pt x="14" y="16"/>
                  </a:moveTo>
                  <a:cubicBezTo>
                    <a:pt x="12" y="18"/>
                    <a:pt x="10" y="20"/>
                    <a:pt x="8" y="20"/>
                  </a:cubicBezTo>
                  <a:cubicBezTo>
                    <a:pt x="6" y="20"/>
                    <a:pt x="4" y="19"/>
                    <a:pt x="2" y="17"/>
                  </a:cubicBezTo>
                  <a:cubicBezTo>
                    <a:pt x="1" y="16"/>
                    <a:pt x="0" y="14"/>
                    <a:pt x="0" y="12"/>
                  </a:cubicBezTo>
                  <a:cubicBezTo>
                    <a:pt x="0" y="11"/>
                    <a:pt x="0" y="10"/>
                    <a:pt x="1" y="9"/>
                  </a:cubicBezTo>
                  <a:cubicBezTo>
                    <a:pt x="4" y="10"/>
                    <a:pt x="4" y="10"/>
                    <a:pt x="4" y="10"/>
                  </a:cubicBezTo>
                  <a:cubicBezTo>
                    <a:pt x="3" y="11"/>
                    <a:pt x="3" y="11"/>
                    <a:pt x="3" y="12"/>
                  </a:cubicBezTo>
                  <a:cubicBezTo>
                    <a:pt x="3" y="13"/>
                    <a:pt x="4" y="14"/>
                    <a:pt x="4" y="15"/>
                  </a:cubicBezTo>
                  <a:cubicBezTo>
                    <a:pt x="5" y="16"/>
                    <a:pt x="6" y="16"/>
                    <a:pt x="8" y="16"/>
                  </a:cubicBezTo>
                  <a:cubicBezTo>
                    <a:pt x="9" y="16"/>
                    <a:pt x="10" y="15"/>
                    <a:pt x="12" y="14"/>
                  </a:cubicBezTo>
                  <a:cubicBezTo>
                    <a:pt x="25" y="0"/>
                    <a:pt x="25" y="0"/>
                    <a:pt x="25" y="0"/>
                  </a:cubicBezTo>
                  <a:cubicBezTo>
                    <a:pt x="28" y="3"/>
                    <a:pt x="28" y="3"/>
                    <a:pt x="28" y="3"/>
                  </a:cubicBezTo>
                  <a:lnTo>
                    <a:pt x="14" y="16"/>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7" name="Freeform 125"/>
            <p:cNvSpPr>
              <a:spLocks noEditPoints="1"/>
            </p:cNvSpPr>
            <p:nvPr userDrawn="1"/>
          </p:nvSpPr>
          <p:spPr bwMode="auto">
            <a:xfrm>
              <a:off x="1073" y="917"/>
              <a:ext cx="106" cy="33"/>
            </a:xfrm>
            <a:custGeom>
              <a:avLst/>
              <a:gdLst>
                <a:gd name="T0" fmla="*/ 0 w 86"/>
                <a:gd name="T1" fmla="*/ 15 h 27"/>
                <a:gd name="T2" fmla="*/ 4 w 86"/>
                <a:gd name="T3" fmla="*/ 15 h 27"/>
                <a:gd name="T4" fmla="*/ 6 w 86"/>
                <a:gd name="T5" fmla="*/ 3 h 27"/>
                <a:gd name="T6" fmla="*/ 10 w 86"/>
                <a:gd name="T7" fmla="*/ 3 h 27"/>
                <a:gd name="T8" fmla="*/ 14 w 86"/>
                <a:gd name="T9" fmla="*/ 4 h 27"/>
                <a:gd name="T10" fmla="*/ 10 w 86"/>
                <a:gd name="T11" fmla="*/ 19 h 27"/>
                <a:gd name="T12" fmla="*/ 37 w 86"/>
                <a:gd name="T13" fmla="*/ 14 h 27"/>
                <a:gd name="T14" fmla="*/ 33 w 86"/>
                <a:gd name="T15" fmla="*/ 11 h 27"/>
                <a:gd name="T16" fmla="*/ 28 w 86"/>
                <a:gd name="T17" fmla="*/ 13 h 27"/>
                <a:gd name="T18" fmla="*/ 30 w 86"/>
                <a:gd name="T19" fmla="*/ 16 h 27"/>
                <a:gd name="T20" fmla="*/ 34 w 86"/>
                <a:gd name="T21" fmla="*/ 17 h 27"/>
                <a:gd name="T22" fmla="*/ 37 w 86"/>
                <a:gd name="T23" fmla="*/ 14 h 27"/>
                <a:gd name="T24" fmla="*/ 36 w 86"/>
                <a:gd name="T25" fmla="*/ 21 h 27"/>
                <a:gd name="T26" fmla="*/ 32 w 86"/>
                <a:gd name="T27" fmla="*/ 19 h 27"/>
                <a:gd name="T28" fmla="*/ 27 w 86"/>
                <a:gd name="T29" fmla="*/ 19 h 27"/>
                <a:gd name="T30" fmla="*/ 27 w 86"/>
                <a:gd name="T31" fmla="*/ 24 h 27"/>
                <a:gd name="T32" fmla="*/ 34 w 86"/>
                <a:gd name="T33" fmla="*/ 25 h 27"/>
                <a:gd name="T34" fmla="*/ 30 w 86"/>
                <a:gd name="T35" fmla="*/ 27 h 27"/>
                <a:gd name="T36" fmla="*/ 24 w 86"/>
                <a:gd name="T37" fmla="*/ 25 h 27"/>
                <a:gd name="T38" fmla="*/ 23 w 86"/>
                <a:gd name="T39" fmla="*/ 21 h 27"/>
                <a:gd name="T40" fmla="*/ 28 w 86"/>
                <a:gd name="T41" fmla="*/ 17 h 27"/>
                <a:gd name="T42" fmla="*/ 25 w 86"/>
                <a:gd name="T43" fmla="*/ 15 h 27"/>
                <a:gd name="T44" fmla="*/ 28 w 86"/>
                <a:gd name="T45" fmla="*/ 10 h 27"/>
                <a:gd name="T46" fmla="*/ 39 w 86"/>
                <a:gd name="T47" fmla="*/ 11 h 27"/>
                <a:gd name="T48" fmla="*/ 39 w 86"/>
                <a:gd name="T49" fmla="*/ 17 h 27"/>
                <a:gd name="T50" fmla="*/ 36 w 86"/>
                <a:gd name="T51" fmla="*/ 18 h 27"/>
                <a:gd name="T52" fmla="*/ 39 w 86"/>
                <a:gd name="T53" fmla="*/ 23 h 27"/>
                <a:gd name="T54" fmla="*/ 30 w 86"/>
                <a:gd name="T55" fmla="*/ 27 h 27"/>
                <a:gd name="T56" fmla="*/ 62 w 86"/>
                <a:gd name="T57" fmla="*/ 14 h 27"/>
                <a:gd name="T58" fmla="*/ 59 w 86"/>
                <a:gd name="T59" fmla="*/ 11 h 27"/>
                <a:gd name="T60" fmla="*/ 54 w 86"/>
                <a:gd name="T61" fmla="*/ 12 h 27"/>
                <a:gd name="T62" fmla="*/ 53 w 86"/>
                <a:gd name="T63" fmla="*/ 17 h 27"/>
                <a:gd name="T64" fmla="*/ 56 w 86"/>
                <a:gd name="T65" fmla="*/ 19 h 27"/>
                <a:gd name="T66" fmla="*/ 60 w 86"/>
                <a:gd name="T67" fmla="*/ 18 h 27"/>
                <a:gd name="T68" fmla="*/ 63 w 86"/>
                <a:gd name="T69" fmla="*/ 17 h 27"/>
                <a:gd name="T70" fmla="*/ 50 w 86"/>
                <a:gd name="T71" fmla="*/ 15 h 27"/>
                <a:gd name="T72" fmla="*/ 52 w 86"/>
                <a:gd name="T73" fmla="*/ 11 h 27"/>
                <a:gd name="T74" fmla="*/ 58 w 86"/>
                <a:gd name="T75" fmla="*/ 9 h 27"/>
                <a:gd name="T76" fmla="*/ 63 w 86"/>
                <a:gd name="T77" fmla="*/ 11 h 27"/>
                <a:gd name="T78" fmla="*/ 66 w 86"/>
                <a:gd name="T79" fmla="*/ 17 h 27"/>
                <a:gd name="T80" fmla="*/ 63 w 86"/>
                <a:gd name="T81" fmla="*/ 24 h 27"/>
                <a:gd name="T82" fmla="*/ 55 w 86"/>
                <a:gd name="T83" fmla="*/ 27 h 27"/>
                <a:gd name="T84" fmla="*/ 52 w 86"/>
                <a:gd name="T85" fmla="*/ 27 h 27"/>
                <a:gd name="T86" fmla="*/ 52 w 86"/>
                <a:gd name="T87" fmla="*/ 25 h 27"/>
                <a:gd name="T88" fmla="*/ 55 w 86"/>
                <a:gd name="T89" fmla="*/ 25 h 27"/>
                <a:gd name="T90" fmla="*/ 62 w 86"/>
                <a:gd name="T91" fmla="*/ 19 h 27"/>
                <a:gd name="T92" fmla="*/ 57 w 86"/>
                <a:gd name="T93" fmla="*/ 21 h 27"/>
                <a:gd name="T94" fmla="*/ 52 w 86"/>
                <a:gd name="T95" fmla="*/ 20 h 27"/>
                <a:gd name="T96" fmla="*/ 50 w 86"/>
                <a:gd name="T97" fmla="*/ 15 h 27"/>
                <a:gd name="T98" fmla="*/ 86 w 86"/>
                <a:gd name="T99" fmla="*/ 18 h 27"/>
                <a:gd name="T100" fmla="*/ 83 w 86"/>
                <a:gd name="T101" fmla="*/ 3 h 27"/>
                <a:gd name="T102" fmla="*/ 72 w 86"/>
                <a:gd name="T103" fmla="*/ 6 h 27"/>
                <a:gd name="T104" fmla="*/ 86 w 86"/>
                <a:gd name="T105"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27">
                  <a:moveTo>
                    <a:pt x="9" y="20"/>
                  </a:moveTo>
                  <a:cubicBezTo>
                    <a:pt x="0" y="15"/>
                    <a:pt x="0" y="15"/>
                    <a:pt x="0" y="15"/>
                  </a:cubicBezTo>
                  <a:cubicBezTo>
                    <a:pt x="0" y="13"/>
                    <a:pt x="0" y="13"/>
                    <a:pt x="0" y="13"/>
                  </a:cubicBezTo>
                  <a:cubicBezTo>
                    <a:pt x="4" y="15"/>
                    <a:pt x="4" y="15"/>
                    <a:pt x="4" y="15"/>
                  </a:cubicBezTo>
                  <a:cubicBezTo>
                    <a:pt x="10" y="5"/>
                    <a:pt x="10" y="5"/>
                    <a:pt x="10" y="5"/>
                  </a:cubicBezTo>
                  <a:cubicBezTo>
                    <a:pt x="6" y="3"/>
                    <a:pt x="6" y="3"/>
                    <a:pt x="6" y="3"/>
                  </a:cubicBezTo>
                  <a:cubicBezTo>
                    <a:pt x="7" y="2"/>
                    <a:pt x="7" y="2"/>
                    <a:pt x="7" y="2"/>
                  </a:cubicBezTo>
                  <a:cubicBezTo>
                    <a:pt x="8" y="3"/>
                    <a:pt x="9" y="3"/>
                    <a:pt x="10" y="3"/>
                  </a:cubicBezTo>
                  <a:cubicBezTo>
                    <a:pt x="11" y="3"/>
                    <a:pt x="11" y="3"/>
                    <a:pt x="12" y="2"/>
                  </a:cubicBezTo>
                  <a:cubicBezTo>
                    <a:pt x="14" y="4"/>
                    <a:pt x="14" y="4"/>
                    <a:pt x="14" y="4"/>
                  </a:cubicBezTo>
                  <a:cubicBezTo>
                    <a:pt x="6" y="17"/>
                    <a:pt x="6" y="17"/>
                    <a:pt x="6" y="17"/>
                  </a:cubicBezTo>
                  <a:cubicBezTo>
                    <a:pt x="10" y="19"/>
                    <a:pt x="10" y="19"/>
                    <a:pt x="10" y="19"/>
                  </a:cubicBezTo>
                  <a:lnTo>
                    <a:pt x="9" y="20"/>
                  </a:lnTo>
                  <a:close/>
                  <a:moveTo>
                    <a:pt x="37" y="14"/>
                  </a:moveTo>
                  <a:cubicBezTo>
                    <a:pt x="37" y="14"/>
                    <a:pt x="37" y="13"/>
                    <a:pt x="36" y="12"/>
                  </a:cubicBezTo>
                  <a:cubicBezTo>
                    <a:pt x="36" y="12"/>
                    <a:pt x="35" y="11"/>
                    <a:pt x="33" y="11"/>
                  </a:cubicBezTo>
                  <a:cubicBezTo>
                    <a:pt x="32" y="11"/>
                    <a:pt x="31" y="11"/>
                    <a:pt x="30" y="11"/>
                  </a:cubicBezTo>
                  <a:cubicBezTo>
                    <a:pt x="29" y="12"/>
                    <a:pt x="29" y="12"/>
                    <a:pt x="28" y="13"/>
                  </a:cubicBezTo>
                  <a:cubicBezTo>
                    <a:pt x="28" y="14"/>
                    <a:pt x="28" y="14"/>
                    <a:pt x="29" y="15"/>
                  </a:cubicBezTo>
                  <a:cubicBezTo>
                    <a:pt x="29" y="15"/>
                    <a:pt x="30" y="15"/>
                    <a:pt x="30" y="16"/>
                  </a:cubicBezTo>
                  <a:cubicBezTo>
                    <a:pt x="31" y="16"/>
                    <a:pt x="31" y="16"/>
                    <a:pt x="32" y="17"/>
                  </a:cubicBezTo>
                  <a:cubicBezTo>
                    <a:pt x="33" y="17"/>
                    <a:pt x="33" y="17"/>
                    <a:pt x="34" y="17"/>
                  </a:cubicBezTo>
                  <a:cubicBezTo>
                    <a:pt x="35" y="17"/>
                    <a:pt x="36" y="17"/>
                    <a:pt x="36" y="16"/>
                  </a:cubicBezTo>
                  <a:cubicBezTo>
                    <a:pt x="37" y="16"/>
                    <a:pt x="37" y="15"/>
                    <a:pt x="37" y="14"/>
                  </a:cubicBezTo>
                  <a:moveTo>
                    <a:pt x="36" y="23"/>
                  </a:moveTo>
                  <a:cubicBezTo>
                    <a:pt x="36" y="22"/>
                    <a:pt x="36" y="22"/>
                    <a:pt x="36" y="21"/>
                  </a:cubicBezTo>
                  <a:cubicBezTo>
                    <a:pt x="35" y="21"/>
                    <a:pt x="34" y="20"/>
                    <a:pt x="33" y="20"/>
                  </a:cubicBezTo>
                  <a:cubicBezTo>
                    <a:pt x="33" y="19"/>
                    <a:pt x="33" y="19"/>
                    <a:pt x="32" y="19"/>
                  </a:cubicBezTo>
                  <a:cubicBezTo>
                    <a:pt x="31" y="19"/>
                    <a:pt x="31" y="18"/>
                    <a:pt x="30" y="18"/>
                  </a:cubicBezTo>
                  <a:cubicBezTo>
                    <a:pt x="29" y="18"/>
                    <a:pt x="28" y="19"/>
                    <a:pt x="27" y="19"/>
                  </a:cubicBezTo>
                  <a:cubicBezTo>
                    <a:pt x="27" y="20"/>
                    <a:pt x="26" y="20"/>
                    <a:pt x="26" y="21"/>
                  </a:cubicBezTo>
                  <a:cubicBezTo>
                    <a:pt x="26" y="22"/>
                    <a:pt x="26" y="23"/>
                    <a:pt x="27" y="24"/>
                  </a:cubicBezTo>
                  <a:cubicBezTo>
                    <a:pt x="28" y="25"/>
                    <a:pt x="29" y="25"/>
                    <a:pt x="30" y="25"/>
                  </a:cubicBezTo>
                  <a:cubicBezTo>
                    <a:pt x="32" y="26"/>
                    <a:pt x="33" y="25"/>
                    <a:pt x="34" y="25"/>
                  </a:cubicBezTo>
                  <a:cubicBezTo>
                    <a:pt x="35" y="24"/>
                    <a:pt x="36" y="24"/>
                    <a:pt x="36" y="23"/>
                  </a:cubicBezTo>
                  <a:moveTo>
                    <a:pt x="30" y="27"/>
                  </a:moveTo>
                  <a:cubicBezTo>
                    <a:pt x="29" y="27"/>
                    <a:pt x="28" y="27"/>
                    <a:pt x="27" y="26"/>
                  </a:cubicBezTo>
                  <a:cubicBezTo>
                    <a:pt x="26" y="26"/>
                    <a:pt x="25" y="25"/>
                    <a:pt x="24" y="25"/>
                  </a:cubicBezTo>
                  <a:cubicBezTo>
                    <a:pt x="23" y="24"/>
                    <a:pt x="23" y="24"/>
                    <a:pt x="23" y="23"/>
                  </a:cubicBezTo>
                  <a:cubicBezTo>
                    <a:pt x="23" y="22"/>
                    <a:pt x="22" y="21"/>
                    <a:pt x="23" y="21"/>
                  </a:cubicBezTo>
                  <a:cubicBezTo>
                    <a:pt x="23" y="20"/>
                    <a:pt x="23" y="19"/>
                    <a:pt x="24" y="18"/>
                  </a:cubicBezTo>
                  <a:cubicBezTo>
                    <a:pt x="25" y="18"/>
                    <a:pt x="26" y="17"/>
                    <a:pt x="28" y="17"/>
                  </a:cubicBezTo>
                  <a:cubicBezTo>
                    <a:pt x="28" y="17"/>
                    <a:pt x="28" y="17"/>
                    <a:pt x="28" y="17"/>
                  </a:cubicBezTo>
                  <a:cubicBezTo>
                    <a:pt x="27" y="16"/>
                    <a:pt x="26" y="16"/>
                    <a:pt x="25" y="15"/>
                  </a:cubicBezTo>
                  <a:cubicBezTo>
                    <a:pt x="25" y="14"/>
                    <a:pt x="25" y="14"/>
                    <a:pt x="25" y="13"/>
                  </a:cubicBezTo>
                  <a:cubicBezTo>
                    <a:pt x="25" y="12"/>
                    <a:pt x="26" y="11"/>
                    <a:pt x="28" y="10"/>
                  </a:cubicBezTo>
                  <a:cubicBezTo>
                    <a:pt x="29" y="9"/>
                    <a:pt x="31" y="9"/>
                    <a:pt x="34" y="10"/>
                  </a:cubicBezTo>
                  <a:cubicBezTo>
                    <a:pt x="36" y="10"/>
                    <a:pt x="38" y="10"/>
                    <a:pt x="39" y="11"/>
                  </a:cubicBezTo>
                  <a:cubicBezTo>
                    <a:pt x="40" y="12"/>
                    <a:pt x="41" y="14"/>
                    <a:pt x="40" y="15"/>
                  </a:cubicBezTo>
                  <a:cubicBezTo>
                    <a:pt x="40" y="16"/>
                    <a:pt x="40" y="16"/>
                    <a:pt x="39" y="17"/>
                  </a:cubicBezTo>
                  <a:cubicBezTo>
                    <a:pt x="38" y="18"/>
                    <a:pt x="37" y="18"/>
                    <a:pt x="36" y="18"/>
                  </a:cubicBezTo>
                  <a:cubicBezTo>
                    <a:pt x="36" y="18"/>
                    <a:pt x="36" y="18"/>
                    <a:pt x="36" y="18"/>
                  </a:cubicBezTo>
                  <a:cubicBezTo>
                    <a:pt x="37" y="19"/>
                    <a:pt x="38" y="20"/>
                    <a:pt x="39" y="20"/>
                  </a:cubicBezTo>
                  <a:cubicBezTo>
                    <a:pt x="39" y="21"/>
                    <a:pt x="40" y="22"/>
                    <a:pt x="39" y="23"/>
                  </a:cubicBezTo>
                  <a:cubicBezTo>
                    <a:pt x="39" y="25"/>
                    <a:pt x="38" y="26"/>
                    <a:pt x="36" y="26"/>
                  </a:cubicBezTo>
                  <a:cubicBezTo>
                    <a:pt x="34" y="27"/>
                    <a:pt x="32" y="27"/>
                    <a:pt x="30" y="27"/>
                  </a:cubicBezTo>
                  <a:moveTo>
                    <a:pt x="63" y="17"/>
                  </a:moveTo>
                  <a:cubicBezTo>
                    <a:pt x="63" y="15"/>
                    <a:pt x="62" y="15"/>
                    <a:pt x="62" y="14"/>
                  </a:cubicBezTo>
                  <a:cubicBezTo>
                    <a:pt x="62" y="13"/>
                    <a:pt x="61" y="13"/>
                    <a:pt x="61" y="12"/>
                  </a:cubicBezTo>
                  <a:cubicBezTo>
                    <a:pt x="60" y="12"/>
                    <a:pt x="60" y="12"/>
                    <a:pt x="59" y="11"/>
                  </a:cubicBezTo>
                  <a:cubicBezTo>
                    <a:pt x="59" y="11"/>
                    <a:pt x="58" y="11"/>
                    <a:pt x="58" y="11"/>
                  </a:cubicBezTo>
                  <a:cubicBezTo>
                    <a:pt x="56" y="11"/>
                    <a:pt x="55" y="12"/>
                    <a:pt x="54" y="12"/>
                  </a:cubicBezTo>
                  <a:cubicBezTo>
                    <a:pt x="53" y="13"/>
                    <a:pt x="53" y="14"/>
                    <a:pt x="53" y="15"/>
                  </a:cubicBezTo>
                  <a:cubicBezTo>
                    <a:pt x="53" y="16"/>
                    <a:pt x="53" y="16"/>
                    <a:pt x="53" y="17"/>
                  </a:cubicBezTo>
                  <a:cubicBezTo>
                    <a:pt x="54" y="17"/>
                    <a:pt x="54" y="18"/>
                    <a:pt x="55" y="18"/>
                  </a:cubicBezTo>
                  <a:cubicBezTo>
                    <a:pt x="55" y="18"/>
                    <a:pt x="56" y="18"/>
                    <a:pt x="56" y="19"/>
                  </a:cubicBezTo>
                  <a:cubicBezTo>
                    <a:pt x="57" y="19"/>
                    <a:pt x="57" y="19"/>
                    <a:pt x="58" y="19"/>
                  </a:cubicBezTo>
                  <a:cubicBezTo>
                    <a:pt x="59" y="19"/>
                    <a:pt x="59" y="19"/>
                    <a:pt x="60" y="18"/>
                  </a:cubicBezTo>
                  <a:cubicBezTo>
                    <a:pt x="61" y="18"/>
                    <a:pt x="62" y="18"/>
                    <a:pt x="62" y="18"/>
                  </a:cubicBezTo>
                  <a:cubicBezTo>
                    <a:pt x="63" y="18"/>
                    <a:pt x="63" y="17"/>
                    <a:pt x="63" y="17"/>
                  </a:cubicBezTo>
                  <a:cubicBezTo>
                    <a:pt x="63" y="17"/>
                    <a:pt x="63" y="17"/>
                    <a:pt x="63" y="17"/>
                  </a:cubicBezTo>
                  <a:moveTo>
                    <a:pt x="50" y="15"/>
                  </a:moveTo>
                  <a:cubicBezTo>
                    <a:pt x="50" y="14"/>
                    <a:pt x="50" y="14"/>
                    <a:pt x="50" y="13"/>
                  </a:cubicBezTo>
                  <a:cubicBezTo>
                    <a:pt x="51" y="12"/>
                    <a:pt x="51" y="11"/>
                    <a:pt x="52" y="11"/>
                  </a:cubicBezTo>
                  <a:cubicBezTo>
                    <a:pt x="53" y="10"/>
                    <a:pt x="53" y="10"/>
                    <a:pt x="55" y="10"/>
                  </a:cubicBezTo>
                  <a:cubicBezTo>
                    <a:pt x="56" y="9"/>
                    <a:pt x="57" y="9"/>
                    <a:pt x="58" y="9"/>
                  </a:cubicBezTo>
                  <a:cubicBezTo>
                    <a:pt x="59" y="9"/>
                    <a:pt x="60" y="9"/>
                    <a:pt x="61" y="10"/>
                  </a:cubicBezTo>
                  <a:cubicBezTo>
                    <a:pt x="62" y="10"/>
                    <a:pt x="63" y="10"/>
                    <a:pt x="63" y="11"/>
                  </a:cubicBezTo>
                  <a:cubicBezTo>
                    <a:pt x="64" y="11"/>
                    <a:pt x="65" y="12"/>
                    <a:pt x="65" y="13"/>
                  </a:cubicBezTo>
                  <a:cubicBezTo>
                    <a:pt x="66" y="14"/>
                    <a:pt x="66" y="16"/>
                    <a:pt x="66" y="17"/>
                  </a:cubicBezTo>
                  <a:cubicBezTo>
                    <a:pt x="66" y="19"/>
                    <a:pt x="66" y="20"/>
                    <a:pt x="65" y="21"/>
                  </a:cubicBezTo>
                  <a:cubicBezTo>
                    <a:pt x="65" y="22"/>
                    <a:pt x="64" y="23"/>
                    <a:pt x="63" y="24"/>
                  </a:cubicBezTo>
                  <a:cubicBezTo>
                    <a:pt x="62" y="25"/>
                    <a:pt x="61" y="26"/>
                    <a:pt x="60" y="26"/>
                  </a:cubicBezTo>
                  <a:cubicBezTo>
                    <a:pt x="58" y="27"/>
                    <a:pt x="57" y="27"/>
                    <a:pt x="55" y="27"/>
                  </a:cubicBezTo>
                  <a:cubicBezTo>
                    <a:pt x="54" y="27"/>
                    <a:pt x="54" y="27"/>
                    <a:pt x="53" y="27"/>
                  </a:cubicBezTo>
                  <a:cubicBezTo>
                    <a:pt x="53" y="27"/>
                    <a:pt x="52" y="27"/>
                    <a:pt x="52" y="27"/>
                  </a:cubicBezTo>
                  <a:cubicBezTo>
                    <a:pt x="52" y="25"/>
                    <a:pt x="52" y="25"/>
                    <a:pt x="52" y="25"/>
                  </a:cubicBezTo>
                  <a:cubicBezTo>
                    <a:pt x="52" y="25"/>
                    <a:pt x="52" y="25"/>
                    <a:pt x="52" y="25"/>
                  </a:cubicBezTo>
                  <a:cubicBezTo>
                    <a:pt x="52" y="25"/>
                    <a:pt x="53" y="25"/>
                    <a:pt x="53" y="25"/>
                  </a:cubicBezTo>
                  <a:cubicBezTo>
                    <a:pt x="54" y="25"/>
                    <a:pt x="54" y="25"/>
                    <a:pt x="55" y="25"/>
                  </a:cubicBezTo>
                  <a:cubicBezTo>
                    <a:pt x="57" y="25"/>
                    <a:pt x="59" y="25"/>
                    <a:pt x="60" y="24"/>
                  </a:cubicBezTo>
                  <a:cubicBezTo>
                    <a:pt x="62" y="23"/>
                    <a:pt x="62" y="21"/>
                    <a:pt x="62" y="19"/>
                  </a:cubicBezTo>
                  <a:cubicBezTo>
                    <a:pt x="62" y="20"/>
                    <a:pt x="61" y="20"/>
                    <a:pt x="60" y="20"/>
                  </a:cubicBezTo>
                  <a:cubicBezTo>
                    <a:pt x="59" y="20"/>
                    <a:pt x="58" y="21"/>
                    <a:pt x="57" y="21"/>
                  </a:cubicBezTo>
                  <a:cubicBezTo>
                    <a:pt x="56" y="21"/>
                    <a:pt x="55" y="20"/>
                    <a:pt x="55" y="20"/>
                  </a:cubicBezTo>
                  <a:cubicBezTo>
                    <a:pt x="54" y="20"/>
                    <a:pt x="53" y="20"/>
                    <a:pt x="52" y="20"/>
                  </a:cubicBezTo>
                  <a:cubicBezTo>
                    <a:pt x="51" y="19"/>
                    <a:pt x="51" y="18"/>
                    <a:pt x="50" y="18"/>
                  </a:cubicBezTo>
                  <a:cubicBezTo>
                    <a:pt x="50" y="17"/>
                    <a:pt x="50" y="16"/>
                    <a:pt x="50" y="15"/>
                  </a:cubicBezTo>
                  <a:moveTo>
                    <a:pt x="86" y="1"/>
                  </a:moveTo>
                  <a:cubicBezTo>
                    <a:pt x="86" y="18"/>
                    <a:pt x="86" y="18"/>
                    <a:pt x="86" y="18"/>
                  </a:cubicBezTo>
                  <a:cubicBezTo>
                    <a:pt x="83" y="20"/>
                    <a:pt x="83" y="20"/>
                    <a:pt x="83" y="20"/>
                  </a:cubicBezTo>
                  <a:cubicBezTo>
                    <a:pt x="83" y="3"/>
                    <a:pt x="83" y="3"/>
                    <a:pt x="83" y="3"/>
                  </a:cubicBezTo>
                  <a:cubicBezTo>
                    <a:pt x="73" y="8"/>
                    <a:pt x="73" y="8"/>
                    <a:pt x="73" y="8"/>
                  </a:cubicBezTo>
                  <a:cubicBezTo>
                    <a:pt x="72" y="6"/>
                    <a:pt x="72" y="6"/>
                    <a:pt x="72" y="6"/>
                  </a:cubicBezTo>
                  <a:cubicBezTo>
                    <a:pt x="85" y="0"/>
                    <a:pt x="85" y="0"/>
                    <a:pt x="85" y="0"/>
                  </a:cubicBezTo>
                  <a:lnTo>
                    <a:pt x="86" y="1"/>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8" name="Freeform 126"/>
            <p:cNvSpPr/>
            <p:nvPr userDrawn="1"/>
          </p:nvSpPr>
          <p:spPr bwMode="auto">
            <a:xfrm>
              <a:off x="1184" y="728"/>
              <a:ext cx="14" cy="14"/>
            </a:xfrm>
            <a:custGeom>
              <a:avLst/>
              <a:gdLst>
                <a:gd name="T0" fmla="*/ 2 w 11"/>
                <a:gd name="T1" fmla="*/ 12 h 12"/>
                <a:gd name="T2" fmla="*/ 2 w 11"/>
                <a:gd name="T3" fmla="*/ 8 h 12"/>
                <a:gd name="T4" fmla="*/ 1 w 11"/>
                <a:gd name="T5" fmla="*/ 3 h 12"/>
                <a:gd name="T6" fmla="*/ 8 w 11"/>
                <a:gd name="T7" fmla="*/ 3 h 12"/>
                <a:gd name="T8" fmla="*/ 9 w 11"/>
                <a:gd name="T9" fmla="*/ 5 h 12"/>
                <a:gd name="T10" fmla="*/ 8 w 11"/>
                <a:gd name="T11" fmla="*/ 11 h 12"/>
                <a:gd name="T12" fmla="*/ 2 w 11"/>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 h="12">
                  <a:moveTo>
                    <a:pt x="2" y="12"/>
                  </a:moveTo>
                  <a:cubicBezTo>
                    <a:pt x="0" y="11"/>
                    <a:pt x="1" y="10"/>
                    <a:pt x="2" y="8"/>
                  </a:cubicBezTo>
                  <a:cubicBezTo>
                    <a:pt x="2" y="7"/>
                    <a:pt x="1" y="5"/>
                    <a:pt x="1" y="3"/>
                  </a:cubicBezTo>
                  <a:cubicBezTo>
                    <a:pt x="2" y="0"/>
                    <a:pt x="6" y="2"/>
                    <a:pt x="8" y="3"/>
                  </a:cubicBezTo>
                  <a:cubicBezTo>
                    <a:pt x="8" y="3"/>
                    <a:pt x="9" y="4"/>
                    <a:pt x="9" y="5"/>
                  </a:cubicBezTo>
                  <a:cubicBezTo>
                    <a:pt x="10" y="7"/>
                    <a:pt x="11" y="10"/>
                    <a:pt x="8" y="11"/>
                  </a:cubicBezTo>
                  <a:cubicBezTo>
                    <a:pt x="6" y="12"/>
                    <a:pt x="4" y="12"/>
                    <a:pt x="2"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59" name="Freeform 127"/>
            <p:cNvSpPr/>
            <p:nvPr userDrawn="1"/>
          </p:nvSpPr>
          <p:spPr bwMode="auto">
            <a:xfrm>
              <a:off x="1148" y="686"/>
              <a:ext cx="51" cy="45"/>
            </a:xfrm>
            <a:custGeom>
              <a:avLst/>
              <a:gdLst>
                <a:gd name="T0" fmla="*/ 7 w 41"/>
                <a:gd name="T1" fmla="*/ 35 h 36"/>
                <a:gd name="T2" fmla="*/ 7 w 41"/>
                <a:gd name="T3" fmla="*/ 35 h 36"/>
                <a:gd name="T4" fmla="*/ 7 w 41"/>
                <a:gd name="T5" fmla="*/ 34 h 36"/>
                <a:gd name="T6" fmla="*/ 15 w 41"/>
                <a:gd name="T7" fmla="*/ 32 h 36"/>
                <a:gd name="T8" fmla="*/ 20 w 41"/>
                <a:gd name="T9" fmla="*/ 28 h 36"/>
                <a:gd name="T10" fmla="*/ 6 w 41"/>
                <a:gd name="T11" fmla="*/ 29 h 36"/>
                <a:gd name="T12" fmla="*/ 2 w 41"/>
                <a:gd name="T13" fmla="*/ 26 h 36"/>
                <a:gd name="T14" fmla="*/ 2 w 41"/>
                <a:gd name="T15" fmla="*/ 26 h 36"/>
                <a:gd name="T16" fmla="*/ 3 w 41"/>
                <a:gd name="T17" fmla="*/ 21 h 36"/>
                <a:gd name="T18" fmla="*/ 19 w 41"/>
                <a:gd name="T19" fmla="*/ 21 h 36"/>
                <a:gd name="T20" fmla="*/ 24 w 41"/>
                <a:gd name="T21" fmla="*/ 20 h 36"/>
                <a:gd name="T22" fmla="*/ 29 w 41"/>
                <a:gd name="T23" fmla="*/ 3 h 36"/>
                <a:gd name="T24" fmla="*/ 35 w 41"/>
                <a:gd name="T25" fmla="*/ 6 h 36"/>
                <a:gd name="T26" fmla="*/ 36 w 41"/>
                <a:gd name="T27" fmla="*/ 7 h 36"/>
                <a:gd name="T28" fmla="*/ 36 w 41"/>
                <a:gd name="T29" fmla="*/ 7 h 36"/>
                <a:gd name="T30" fmla="*/ 35 w 41"/>
                <a:gd name="T31" fmla="*/ 11 h 36"/>
                <a:gd name="T32" fmla="*/ 31 w 41"/>
                <a:gd name="T33" fmla="*/ 20 h 36"/>
                <a:gd name="T34" fmla="*/ 40 w 41"/>
                <a:gd name="T35" fmla="*/ 19 h 36"/>
                <a:gd name="T36" fmla="*/ 38 w 41"/>
                <a:gd name="T37" fmla="*/ 23 h 36"/>
                <a:gd name="T38" fmla="*/ 29 w 41"/>
                <a:gd name="T39" fmla="*/ 24 h 36"/>
                <a:gd name="T40" fmla="*/ 23 w 41"/>
                <a:gd name="T41" fmla="*/ 32 h 36"/>
                <a:gd name="T42" fmla="*/ 21 w 41"/>
                <a:gd name="T43" fmla="*/ 34 h 36"/>
                <a:gd name="T44" fmla="*/ 14 w 41"/>
                <a:gd name="T45" fmla="*/ 35 h 36"/>
                <a:gd name="T46" fmla="*/ 7 w 41"/>
                <a:gd name="T47" fmla="*/ 3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1" h="36">
                  <a:moveTo>
                    <a:pt x="7" y="35"/>
                  </a:moveTo>
                  <a:cubicBezTo>
                    <a:pt x="7" y="35"/>
                    <a:pt x="7" y="35"/>
                    <a:pt x="7" y="35"/>
                  </a:cubicBezTo>
                  <a:cubicBezTo>
                    <a:pt x="7" y="35"/>
                    <a:pt x="7" y="35"/>
                    <a:pt x="7" y="34"/>
                  </a:cubicBezTo>
                  <a:cubicBezTo>
                    <a:pt x="8" y="34"/>
                    <a:pt x="15" y="32"/>
                    <a:pt x="15" y="32"/>
                  </a:cubicBezTo>
                  <a:cubicBezTo>
                    <a:pt x="17" y="31"/>
                    <a:pt x="19" y="30"/>
                    <a:pt x="20" y="28"/>
                  </a:cubicBezTo>
                  <a:cubicBezTo>
                    <a:pt x="15" y="28"/>
                    <a:pt x="11" y="30"/>
                    <a:pt x="6" y="29"/>
                  </a:cubicBezTo>
                  <a:cubicBezTo>
                    <a:pt x="4" y="28"/>
                    <a:pt x="3" y="27"/>
                    <a:pt x="2" y="26"/>
                  </a:cubicBezTo>
                  <a:cubicBezTo>
                    <a:pt x="2" y="26"/>
                    <a:pt x="2" y="26"/>
                    <a:pt x="2" y="26"/>
                  </a:cubicBezTo>
                  <a:cubicBezTo>
                    <a:pt x="0" y="24"/>
                    <a:pt x="0" y="22"/>
                    <a:pt x="3" y="21"/>
                  </a:cubicBezTo>
                  <a:cubicBezTo>
                    <a:pt x="7" y="23"/>
                    <a:pt x="15" y="22"/>
                    <a:pt x="19" y="21"/>
                  </a:cubicBezTo>
                  <a:cubicBezTo>
                    <a:pt x="20" y="21"/>
                    <a:pt x="23" y="21"/>
                    <a:pt x="24" y="20"/>
                  </a:cubicBezTo>
                  <a:cubicBezTo>
                    <a:pt x="26" y="15"/>
                    <a:pt x="27" y="9"/>
                    <a:pt x="29" y="3"/>
                  </a:cubicBezTo>
                  <a:cubicBezTo>
                    <a:pt x="31" y="0"/>
                    <a:pt x="33" y="3"/>
                    <a:pt x="35" y="6"/>
                  </a:cubicBezTo>
                  <a:cubicBezTo>
                    <a:pt x="35" y="6"/>
                    <a:pt x="36" y="6"/>
                    <a:pt x="36" y="7"/>
                  </a:cubicBezTo>
                  <a:cubicBezTo>
                    <a:pt x="36" y="7"/>
                    <a:pt x="36" y="7"/>
                    <a:pt x="36" y="7"/>
                  </a:cubicBezTo>
                  <a:cubicBezTo>
                    <a:pt x="37" y="9"/>
                    <a:pt x="37" y="10"/>
                    <a:pt x="35" y="11"/>
                  </a:cubicBezTo>
                  <a:cubicBezTo>
                    <a:pt x="33" y="14"/>
                    <a:pt x="32" y="17"/>
                    <a:pt x="31" y="20"/>
                  </a:cubicBezTo>
                  <a:cubicBezTo>
                    <a:pt x="34" y="20"/>
                    <a:pt x="37" y="18"/>
                    <a:pt x="40" y="19"/>
                  </a:cubicBezTo>
                  <a:cubicBezTo>
                    <a:pt x="41" y="21"/>
                    <a:pt x="40" y="22"/>
                    <a:pt x="38" y="23"/>
                  </a:cubicBezTo>
                  <a:cubicBezTo>
                    <a:pt x="36" y="23"/>
                    <a:pt x="33" y="24"/>
                    <a:pt x="29" y="24"/>
                  </a:cubicBezTo>
                  <a:cubicBezTo>
                    <a:pt x="28" y="27"/>
                    <a:pt x="26" y="30"/>
                    <a:pt x="23" y="32"/>
                  </a:cubicBezTo>
                  <a:cubicBezTo>
                    <a:pt x="23" y="33"/>
                    <a:pt x="21" y="34"/>
                    <a:pt x="21" y="34"/>
                  </a:cubicBezTo>
                  <a:cubicBezTo>
                    <a:pt x="19" y="34"/>
                    <a:pt x="17" y="35"/>
                    <a:pt x="14" y="35"/>
                  </a:cubicBezTo>
                  <a:cubicBezTo>
                    <a:pt x="8" y="36"/>
                    <a:pt x="8" y="35"/>
                    <a:pt x="7" y="3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0" name="Freeform 128"/>
            <p:cNvSpPr/>
            <p:nvPr userDrawn="1"/>
          </p:nvSpPr>
          <p:spPr bwMode="auto">
            <a:xfrm>
              <a:off x="1063" y="714"/>
              <a:ext cx="20" cy="41"/>
            </a:xfrm>
            <a:custGeom>
              <a:avLst/>
              <a:gdLst>
                <a:gd name="T0" fmla="*/ 7 w 16"/>
                <a:gd name="T1" fmla="*/ 33 h 33"/>
                <a:gd name="T2" fmla="*/ 0 w 16"/>
                <a:gd name="T3" fmla="*/ 30 h 33"/>
                <a:gd name="T4" fmla="*/ 0 w 16"/>
                <a:gd name="T5" fmla="*/ 28 h 33"/>
                <a:gd name="T6" fmla="*/ 10 w 16"/>
                <a:gd name="T7" fmla="*/ 11 h 33"/>
                <a:gd name="T8" fmla="*/ 12 w 16"/>
                <a:gd name="T9" fmla="*/ 3 h 33"/>
                <a:gd name="T10" fmla="*/ 12 w 16"/>
                <a:gd name="T11" fmla="*/ 2 h 33"/>
                <a:gd name="T12" fmla="*/ 12 w 16"/>
                <a:gd name="T13" fmla="*/ 2 h 33"/>
                <a:gd name="T14" fmla="*/ 15 w 16"/>
                <a:gd name="T15" fmla="*/ 2 h 33"/>
                <a:gd name="T16" fmla="*/ 14 w 16"/>
                <a:gd name="T17" fmla="*/ 7 h 33"/>
                <a:gd name="T18" fmla="*/ 13 w 16"/>
                <a:gd name="T19" fmla="*/ 16 h 33"/>
                <a:gd name="T20" fmla="*/ 13 w 16"/>
                <a:gd name="T21" fmla="*/ 19 h 33"/>
                <a:gd name="T22" fmla="*/ 11 w 16"/>
                <a:gd name="T23" fmla="*/ 26 h 33"/>
                <a:gd name="T24" fmla="*/ 9 w 16"/>
                <a:gd name="T25" fmla="*/ 33 h 33"/>
                <a:gd name="T26" fmla="*/ 7 w 16"/>
                <a:gd name="T2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33">
                  <a:moveTo>
                    <a:pt x="7" y="33"/>
                  </a:moveTo>
                  <a:cubicBezTo>
                    <a:pt x="5" y="33"/>
                    <a:pt x="2" y="31"/>
                    <a:pt x="0" y="30"/>
                  </a:cubicBezTo>
                  <a:cubicBezTo>
                    <a:pt x="0" y="30"/>
                    <a:pt x="0" y="29"/>
                    <a:pt x="0" y="28"/>
                  </a:cubicBezTo>
                  <a:cubicBezTo>
                    <a:pt x="4" y="23"/>
                    <a:pt x="7" y="17"/>
                    <a:pt x="10" y="11"/>
                  </a:cubicBezTo>
                  <a:cubicBezTo>
                    <a:pt x="11" y="8"/>
                    <a:pt x="11" y="5"/>
                    <a:pt x="12" y="3"/>
                  </a:cubicBezTo>
                  <a:cubicBezTo>
                    <a:pt x="12" y="3"/>
                    <a:pt x="12" y="3"/>
                    <a:pt x="12" y="2"/>
                  </a:cubicBezTo>
                  <a:cubicBezTo>
                    <a:pt x="12" y="2"/>
                    <a:pt x="12" y="2"/>
                    <a:pt x="12" y="2"/>
                  </a:cubicBezTo>
                  <a:cubicBezTo>
                    <a:pt x="13" y="1"/>
                    <a:pt x="14" y="0"/>
                    <a:pt x="15" y="2"/>
                  </a:cubicBezTo>
                  <a:cubicBezTo>
                    <a:pt x="16" y="3"/>
                    <a:pt x="14" y="5"/>
                    <a:pt x="14" y="7"/>
                  </a:cubicBezTo>
                  <a:cubicBezTo>
                    <a:pt x="14" y="10"/>
                    <a:pt x="14" y="13"/>
                    <a:pt x="13" y="16"/>
                  </a:cubicBezTo>
                  <a:cubicBezTo>
                    <a:pt x="13" y="16"/>
                    <a:pt x="13" y="16"/>
                    <a:pt x="13" y="19"/>
                  </a:cubicBezTo>
                  <a:cubicBezTo>
                    <a:pt x="12" y="21"/>
                    <a:pt x="11" y="24"/>
                    <a:pt x="11" y="26"/>
                  </a:cubicBezTo>
                  <a:cubicBezTo>
                    <a:pt x="10" y="28"/>
                    <a:pt x="10" y="31"/>
                    <a:pt x="9" y="33"/>
                  </a:cubicBezTo>
                  <a:cubicBezTo>
                    <a:pt x="8" y="33"/>
                    <a:pt x="8" y="33"/>
                    <a:pt x="7" y="33"/>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1" name="Freeform 129"/>
            <p:cNvSpPr/>
            <p:nvPr userDrawn="1"/>
          </p:nvSpPr>
          <p:spPr bwMode="auto">
            <a:xfrm>
              <a:off x="1090" y="704"/>
              <a:ext cx="16" cy="16"/>
            </a:xfrm>
            <a:custGeom>
              <a:avLst/>
              <a:gdLst>
                <a:gd name="T0" fmla="*/ 8 w 13"/>
                <a:gd name="T1" fmla="*/ 12 h 13"/>
                <a:gd name="T2" fmla="*/ 1 w 13"/>
                <a:gd name="T3" fmla="*/ 10 h 13"/>
                <a:gd name="T4" fmla="*/ 1 w 13"/>
                <a:gd name="T5" fmla="*/ 8 h 13"/>
                <a:gd name="T6" fmla="*/ 2 w 13"/>
                <a:gd name="T7" fmla="*/ 7 h 13"/>
                <a:gd name="T8" fmla="*/ 5 w 13"/>
                <a:gd name="T9" fmla="*/ 6 h 13"/>
                <a:gd name="T10" fmla="*/ 12 w 13"/>
                <a:gd name="T11" fmla="*/ 1 h 13"/>
                <a:gd name="T12" fmla="*/ 8 w 13"/>
                <a:gd name="T13" fmla="*/ 12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8" y="12"/>
                  </a:moveTo>
                  <a:cubicBezTo>
                    <a:pt x="5" y="13"/>
                    <a:pt x="3" y="12"/>
                    <a:pt x="1" y="10"/>
                  </a:cubicBezTo>
                  <a:cubicBezTo>
                    <a:pt x="0" y="10"/>
                    <a:pt x="1" y="9"/>
                    <a:pt x="1" y="8"/>
                  </a:cubicBezTo>
                  <a:cubicBezTo>
                    <a:pt x="1" y="8"/>
                    <a:pt x="1" y="8"/>
                    <a:pt x="2" y="7"/>
                  </a:cubicBezTo>
                  <a:cubicBezTo>
                    <a:pt x="3" y="7"/>
                    <a:pt x="3" y="7"/>
                    <a:pt x="5" y="6"/>
                  </a:cubicBezTo>
                  <a:cubicBezTo>
                    <a:pt x="6" y="5"/>
                    <a:pt x="10" y="0"/>
                    <a:pt x="12" y="1"/>
                  </a:cubicBezTo>
                  <a:cubicBezTo>
                    <a:pt x="13" y="4"/>
                    <a:pt x="11" y="10"/>
                    <a:pt x="8" y="12"/>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2" name="Freeform 130"/>
            <p:cNvSpPr/>
            <p:nvPr userDrawn="1"/>
          </p:nvSpPr>
          <p:spPr bwMode="auto">
            <a:xfrm>
              <a:off x="1062" y="710"/>
              <a:ext cx="12" cy="14"/>
            </a:xfrm>
            <a:custGeom>
              <a:avLst/>
              <a:gdLst>
                <a:gd name="T0" fmla="*/ 5 w 10"/>
                <a:gd name="T1" fmla="*/ 11 h 11"/>
                <a:gd name="T2" fmla="*/ 1 w 10"/>
                <a:gd name="T3" fmla="*/ 4 h 11"/>
                <a:gd name="T4" fmla="*/ 6 w 10"/>
                <a:gd name="T5" fmla="*/ 1 h 11"/>
                <a:gd name="T6" fmla="*/ 10 w 10"/>
                <a:gd name="T7" fmla="*/ 6 h 11"/>
                <a:gd name="T8" fmla="*/ 5 w 10"/>
                <a:gd name="T9" fmla="*/ 11 h 11"/>
              </a:gdLst>
              <a:ahLst/>
              <a:cxnLst>
                <a:cxn ang="0">
                  <a:pos x="T0" y="T1"/>
                </a:cxn>
                <a:cxn ang="0">
                  <a:pos x="T2" y="T3"/>
                </a:cxn>
                <a:cxn ang="0">
                  <a:pos x="T4" y="T5"/>
                </a:cxn>
                <a:cxn ang="0">
                  <a:pos x="T6" y="T7"/>
                </a:cxn>
                <a:cxn ang="0">
                  <a:pos x="T8" y="T9"/>
                </a:cxn>
              </a:cxnLst>
              <a:rect l="0" t="0" r="r" b="b"/>
              <a:pathLst>
                <a:path w="10" h="11">
                  <a:moveTo>
                    <a:pt x="5" y="11"/>
                  </a:moveTo>
                  <a:cubicBezTo>
                    <a:pt x="3" y="10"/>
                    <a:pt x="1" y="5"/>
                    <a:pt x="1" y="4"/>
                  </a:cubicBezTo>
                  <a:cubicBezTo>
                    <a:pt x="0" y="1"/>
                    <a:pt x="3" y="0"/>
                    <a:pt x="6" y="1"/>
                  </a:cubicBezTo>
                  <a:cubicBezTo>
                    <a:pt x="9" y="2"/>
                    <a:pt x="10" y="3"/>
                    <a:pt x="10" y="6"/>
                  </a:cubicBezTo>
                  <a:cubicBezTo>
                    <a:pt x="8" y="9"/>
                    <a:pt x="7" y="9"/>
                    <a:pt x="5"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3" name="Freeform 131"/>
            <p:cNvSpPr/>
            <p:nvPr userDrawn="1"/>
          </p:nvSpPr>
          <p:spPr bwMode="auto">
            <a:xfrm>
              <a:off x="1085" y="688"/>
              <a:ext cx="19" cy="21"/>
            </a:xfrm>
            <a:custGeom>
              <a:avLst/>
              <a:gdLst>
                <a:gd name="T0" fmla="*/ 8 w 15"/>
                <a:gd name="T1" fmla="*/ 17 h 17"/>
                <a:gd name="T2" fmla="*/ 7 w 15"/>
                <a:gd name="T3" fmla="*/ 12 h 17"/>
                <a:gd name="T4" fmla="*/ 5 w 15"/>
                <a:gd name="T5" fmla="*/ 13 h 17"/>
                <a:gd name="T6" fmla="*/ 0 w 15"/>
                <a:gd name="T7" fmla="*/ 9 h 17"/>
                <a:gd name="T8" fmla="*/ 2 w 15"/>
                <a:gd name="T9" fmla="*/ 7 h 17"/>
                <a:gd name="T10" fmla="*/ 7 w 15"/>
                <a:gd name="T11" fmla="*/ 2 h 17"/>
                <a:gd name="T12" fmla="*/ 14 w 15"/>
                <a:gd name="T13" fmla="*/ 4 h 17"/>
                <a:gd name="T14" fmla="*/ 13 w 15"/>
                <a:gd name="T15" fmla="*/ 11 h 17"/>
                <a:gd name="T16" fmla="*/ 9 w 15"/>
                <a:gd name="T17" fmla="*/ 16 h 17"/>
                <a:gd name="T18" fmla="*/ 8 w 15"/>
                <a:gd name="T19"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7">
                  <a:moveTo>
                    <a:pt x="8" y="17"/>
                  </a:moveTo>
                  <a:cubicBezTo>
                    <a:pt x="7" y="16"/>
                    <a:pt x="8" y="12"/>
                    <a:pt x="7" y="12"/>
                  </a:cubicBezTo>
                  <a:cubicBezTo>
                    <a:pt x="6" y="12"/>
                    <a:pt x="6" y="13"/>
                    <a:pt x="5" y="13"/>
                  </a:cubicBezTo>
                  <a:cubicBezTo>
                    <a:pt x="3" y="13"/>
                    <a:pt x="0" y="11"/>
                    <a:pt x="0" y="9"/>
                  </a:cubicBezTo>
                  <a:cubicBezTo>
                    <a:pt x="1" y="7"/>
                    <a:pt x="0" y="8"/>
                    <a:pt x="2" y="7"/>
                  </a:cubicBezTo>
                  <a:cubicBezTo>
                    <a:pt x="4" y="5"/>
                    <a:pt x="6" y="3"/>
                    <a:pt x="7" y="2"/>
                  </a:cubicBezTo>
                  <a:cubicBezTo>
                    <a:pt x="11" y="0"/>
                    <a:pt x="13" y="1"/>
                    <a:pt x="14" y="4"/>
                  </a:cubicBezTo>
                  <a:cubicBezTo>
                    <a:pt x="15" y="7"/>
                    <a:pt x="14" y="9"/>
                    <a:pt x="13" y="11"/>
                  </a:cubicBezTo>
                  <a:cubicBezTo>
                    <a:pt x="12" y="13"/>
                    <a:pt x="10" y="15"/>
                    <a:pt x="9" y="16"/>
                  </a:cubicBezTo>
                  <a:cubicBezTo>
                    <a:pt x="9" y="17"/>
                    <a:pt x="8" y="17"/>
                    <a:pt x="8" y="1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4" name="Freeform 132"/>
            <p:cNvSpPr/>
            <p:nvPr userDrawn="1"/>
          </p:nvSpPr>
          <p:spPr bwMode="auto">
            <a:xfrm>
              <a:off x="1062" y="693"/>
              <a:ext cx="12" cy="13"/>
            </a:xfrm>
            <a:custGeom>
              <a:avLst/>
              <a:gdLst>
                <a:gd name="T0" fmla="*/ 4 w 10"/>
                <a:gd name="T1" fmla="*/ 11 h 11"/>
                <a:gd name="T2" fmla="*/ 3 w 10"/>
                <a:gd name="T3" fmla="*/ 9 h 11"/>
                <a:gd name="T4" fmla="*/ 1 w 10"/>
                <a:gd name="T5" fmla="*/ 6 h 11"/>
                <a:gd name="T6" fmla="*/ 1 w 10"/>
                <a:gd name="T7" fmla="*/ 0 h 11"/>
                <a:gd name="T8" fmla="*/ 10 w 10"/>
                <a:gd name="T9" fmla="*/ 5 h 11"/>
                <a:gd name="T10" fmla="*/ 4 w 10"/>
                <a:gd name="T11" fmla="*/ 11 h 11"/>
              </a:gdLst>
              <a:ahLst/>
              <a:cxnLst>
                <a:cxn ang="0">
                  <a:pos x="T0" y="T1"/>
                </a:cxn>
                <a:cxn ang="0">
                  <a:pos x="T2" y="T3"/>
                </a:cxn>
                <a:cxn ang="0">
                  <a:pos x="T4" y="T5"/>
                </a:cxn>
                <a:cxn ang="0">
                  <a:pos x="T6" y="T7"/>
                </a:cxn>
                <a:cxn ang="0">
                  <a:pos x="T8" y="T9"/>
                </a:cxn>
                <a:cxn ang="0">
                  <a:pos x="T10" y="T11"/>
                </a:cxn>
              </a:cxnLst>
              <a:rect l="0" t="0" r="r" b="b"/>
              <a:pathLst>
                <a:path w="10" h="11">
                  <a:moveTo>
                    <a:pt x="4" y="11"/>
                  </a:moveTo>
                  <a:cubicBezTo>
                    <a:pt x="3" y="11"/>
                    <a:pt x="3" y="10"/>
                    <a:pt x="3" y="9"/>
                  </a:cubicBezTo>
                  <a:cubicBezTo>
                    <a:pt x="3" y="8"/>
                    <a:pt x="2" y="7"/>
                    <a:pt x="1" y="6"/>
                  </a:cubicBezTo>
                  <a:cubicBezTo>
                    <a:pt x="0" y="3"/>
                    <a:pt x="0" y="2"/>
                    <a:pt x="1" y="0"/>
                  </a:cubicBezTo>
                  <a:cubicBezTo>
                    <a:pt x="3" y="0"/>
                    <a:pt x="10" y="1"/>
                    <a:pt x="10" y="5"/>
                  </a:cubicBezTo>
                  <a:cubicBezTo>
                    <a:pt x="9" y="7"/>
                    <a:pt x="6" y="10"/>
                    <a:pt x="4" y="11"/>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5" name="Freeform 133"/>
            <p:cNvSpPr/>
            <p:nvPr userDrawn="1"/>
          </p:nvSpPr>
          <p:spPr bwMode="auto">
            <a:xfrm>
              <a:off x="996" y="742"/>
              <a:ext cx="47" cy="83"/>
            </a:xfrm>
            <a:custGeom>
              <a:avLst/>
              <a:gdLst>
                <a:gd name="T0" fmla="*/ 22 w 38"/>
                <a:gd name="T1" fmla="*/ 64 h 66"/>
                <a:gd name="T2" fmla="*/ 13 w 38"/>
                <a:gd name="T3" fmla="*/ 61 h 66"/>
                <a:gd name="T4" fmla="*/ 13 w 38"/>
                <a:gd name="T5" fmla="*/ 59 h 66"/>
                <a:gd name="T6" fmla="*/ 13 w 38"/>
                <a:gd name="T7" fmla="*/ 59 h 66"/>
                <a:gd name="T8" fmla="*/ 8 w 38"/>
                <a:gd name="T9" fmla="*/ 46 h 66"/>
                <a:gd name="T10" fmla="*/ 7 w 38"/>
                <a:gd name="T11" fmla="*/ 42 h 66"/>
                <a:gd name="T12" fmla="*/ 10 w 38"/>
                <a:gd name="T13" fmla="*/ 44 h 66"/>
                <a:gd name="T14" fmla="*/ 11 w 38"/>
                <a:gd name="T15" fmla="*/ 42 h 66"/>
                <a:gd name="T16" fmla="*/ 11 w 38"/>
                <a:gd name="T17" fmla="*/ 33 h 66"/>
                <a:gd name="T18" fmla="*/ 8 w 38"/>
                <a:gd name="T19" fmla="*/ 31 h 66"/>
                <a:gd name="T20" fmla="*/ 4 w 38"/>
                <a:gd name="T21" fmla="*/ 34 h 66"/>
                <a:gd name="T22" fmla="*/ 4 w 38"/>
                <a:gd name="T23" fmla="*/ 27 h 66"/>
                <a:gd name="T24" fmla="*/ 0 w 38"/>
                <a:gd name="T25" fmla="*/ 23 h 66"/>
                <a:gd name="T26" fmla="*/ 6 w 38"/>
                <a:gd name="T27" fmla="*/ 21 h 66"/>
                <a:gd name="T28" fmla="*/ 10 w 38"/>
                <a:gd name="T29" fmla="*/ 23 h 66"/>
                <a:gd name="T30" fmla="*/ 11 w 38"/>
                <a:gd name="T31" fmla="*/ 25 h 66"/>
                <a:gd name="T32" fmla="*/ 12 w 38"/>
                <a:gd name="T33" fmla="*/ 24 h 66"/>
                <a:gd name="T34" fmla="*/ 12 w 38"/>
                <a:gd name="T35" fmla="*/ 17 h 66"/>
                <a:gd name="T36" fmla="*/ 7 w 38"/>
                <a:gd name="T37" fmla="*/ 10 h 66"/>
                <a:gd name="T38" fmla="*/ 12 w 38"/>
                <a:gd name="T39" fmla="*/ 6 h 66"/>
                <a:gd name="T40" fmla="*/ 13 w 38"/>
                <a:gd name="T41" fmla="*/ 1 h 66"/>
                <a:gd name="T42" fmla="*/ 14 w 38"/>
                <a:gd name="T43" fmla="*/ 0 h 66"/>
                <a:gd name="T44" fmla="*/ 16 w 38"/>
                <a:gd name="T45" fmla="*/ 1 h 66"/>
                <a:gd name="T46" fmla="*/ 18 w 38"/>
                <a:gd name="T47" fmla="*/ 12 h 66"/>
                <a:gd name="T48" fmla="*/ 17 w 38"/>
                <a:gd name="T49" fmla="*/ 8 h 66"/>
                <a:gd name="T50" fmla="*/ 22 w 38"/>
                <a:gd name="T51" fmla="*/ 3 h 66"/>
                <a:gd name="T52" fmla="*/ 25 w 38"/>
                <a:gd name="T53" fmla="*/ 7 h 66"/>
                <a:gd name="T54" fmla="*/ 26 w 38"/>
                <a:gd name="T55" fmla="*/ 8 h 66"/>
                <a:gd name="T56" fmla="*/ 35 w 38"/>
                <a:gd name="T57" fmla="*/ 15 h 66"/>
                <a:gd name="T58" fmla="*/ 37 w 38"/>
                <a:gd name="T59" fmla="*/ 19 h 66"/>
                <a:gd name="T60" fmla="*/ 37 w 38"/>
                <a:gd name="T61" fmla="*/ 20 h 66"/>
                <a:gd name="T62" fmla="*/ 37 w 38"/>
                <a:gd name="T63" fmla="*/ 20 h 66"/>
                <a:gd name="T64" fmla="*/ 36 w 38"/>
                <a:gd name="T65" fmla="*/ 24 h 66"/>
                <a:gd name="T66" fmla="*/ 23 w 38"/>
                <a:gd name="T67" fmla="*/ 15 h 66"/>
                <a:gd name="T68" fmla="*/ 23 w 38"/>
                <a:gd name="T69" fmla="*/ 15 h 66"/>
                <a:gd name="T70" fmla="*/ 27 w 38"/>
                <a:gd name="T71" fmla="*/ 25 h 66"/>
                <a:gd name="T72" fmla="*/ 22 w 38"/>
                <a:gd name="T73" fmla="*/ 27 h 66"/>
                <a:gd name="T74" fmla="*/ 22 w 38"/>
                <a:gd name="T75" fmla="*/ 25 h 66"/>
                <a:gd name="T76" fmla="*/ 15 w 38"/>
                <a:gd name="T77" fmla="*/ 19 h 66"/>
                <a:gd name="T78" fmla="*/ 16 w 38"/>
                <a:gd name="T79" fmla="*/ 27 h 66"/>
                <a:gd name="T80" fmla="*/ 17 w 38"/>
                <a:gd name="T81" fmla="*/ 31 h 66"/>
                <a:gd name="T82" fmla="*/ 21 w 38"/>
                <a:gd name="T83" fmla="*/ 35 h 66"/>
                <a:gd name="T84" fmla="*/ 22 w 38"/>
                <a:gd name="T85" fmla="*/ 38 h 66"/>
                <a:gd name="T86" fmla="*/ 22 w 38"/>
                <a:gd name="T87" fmla="*/ 39 h 66"/>
                <a:gd name="T88" fmla="*/ 22 w 38"/>
                <a:gd name="T89" fmla="*/ 44 h 66"/>
                <a:gd name="T90" fmla="*/ 21 w 38"/>
                <a:gd name="T91" fmla="*/ 44 h 66"/>
                <a:gd name="T92" fmla="*/ 17 w 38"/>
                <a:gd name="T93" fmla="*/ 38 h 66"/>
                <a:gd name="T94" fmla="*/ 16 w 38"/>
                <a:gd name="T95" fmla="*/ 44 h 66"/>
                <a:gd name="T96" fmla="*/ 13 w 38"/>
                <a:gd name="T97" fmla="*/ 46 h 66"/>
                <a:gd name="T98" fmla="*/ 13 w 38"/>
                <a:gd name="T99" fmla="*/ 46 h 66"/>
                <a:gd name="T100" fmla="*/ 12 w 38"/>
                <a:gd name="T101" fmla="*/ 47 h 66"/>
                <a:gd name="T102" fmla="*/ 14 w 38"/>
                <a:gd name="T103" fmla="*/ 50 h 66"/>
                <a:gd name="T104" fmla="*/ 23 w 38"/>
                <a:gd name="T105" fmla="*/ 62 h 66"/>
                <a:gd name="T106" fmla="*/ 22 w 38"/>
                <a:gd name="T107" fmla="*/ 6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 h="66">
                  <a:moveTo>
                    <a:pt x="22" y="64"/>
                  </a:moveTo>
                  <a:cubicBezTo>
                    <a:pt x="19" y="66"/>
                    <a:pt x="12" y="65"/>
                    <a:pt x="13" y="61"/>
                  </a:cubicBezTo>
                  <a:cubicBezTo>
                    <a:pt x="13" y="60"/>
                    <a:pt x="13" y="59"/>
                    <a:pt x="13" y="59"/>
                  </a:cubicBezTo>
                  <a:cubicBezTo>
                    <a:pt x="13" y="59"/>
                    <a:pt x="13" y="59"/>
                    <a:pt x="13" y="59"/>
                  </a:cubicBezTo>
                  <a:cubicBezTo>
                    <a:pt x="12" y="54"/>
                    <a:pt x="9" y="50"/>
                    <a:pt x="8" y="46"/>
                  </a:cubicBezTo>
                  <a:cubicBezTo>
                    <a:pt x="7" y="45"/>
                    <a:pt x="7" y="44"/>
                    <a:pt x="7" y="42"/>
                  </a:cubicBezTo>
                  <a:cubicBezTo>
                    <a:pt x="8" y="42"/>
                    <a:pt x="9" y="43"/>
                    <a:pt x="10" y="44"/>
                  </a:cubicBezTo>
                  <a:cubicBezTo>
                    <a:pt x="11" y="44"/>
                    <a:pt x="11" y="43"/>
                    <a:pt x="11" y="42"/>
                  </a:cubicBezTo>
                  <a:cubicBezTo>
                    <a:pt x="11" y="39"/>
                    <a:pt x="11" y="36"/>
                    <a:pt x="11" y="33"/>
                  </a:cubicBezTo>
                  <a:cubicBezTo>
                    <a:pt x="10" y="32"/>
                    <a:pt x="9" y="31"/>
                    <a:pt x="8" y="31"/>
                  </a:cubicBezTo>
                  <a:cubicBezTo>
                    <a:pt x="8" y="32"/>
                    <a:pt x="6" y="37"/>
                    <a:pt x="4" y="34"/>
                  </a:cubicBezTo>
                  <a:cubicBezTo>
                    <a:pt x="5" y="32"/>
                    <a:pt x="5" y="29"/>
                    <a:pt x="4" y="27"/>
                  </a:cubicBezTo>
                  <a:cubicBezTo>
                    <a:pt x="2" y="25"/>
                    <a:pt x="0" y="24"/>
                    <a:pt x="0" y="23"/>
                  </a:cubicBezTo>
                  <a:cubicBezTo>
                    <a:pt x="0" y="20"/>
                    <a:pt x="4" y="20"/>
                    <a:pt x="6" y="21"/>
                  </a:cubicBezTo>
                  <a:cubicBezTo>
                    <a:pt x="8" y="21"/>
                    <a:pt x="8" y="17"/>
                    <a:pt x="10" y="23"/>
                  </a:cubicBezTo>
                  <a:cubicBezTo>
                    <a:pt x="10" y="24"/>
                    <a:pt x="11" y="24"/>
                    <a:pt x="11" y="25"/>
                  </a:cubicBezTo>
                  <a:cubicBezTo>
                    <a:pt x="12" y="25"/>
                    <a:pt x="12" y="24"/>
                    <a:pt x="12" y="24"/>
                  </a:cubicBezTo>
                  <a:cubicBezTo>
                    <a:pt x="12" y="22"/>
                    <a:pt x="12" y="19"/>
                    <a:pt x="12" y="17"/>
                  </a:cubicBezTo>
                  <a:cubicBezTo>
                    <a:pt x="10" y="15"/>
                    <a:pt x="8" y="13"/>
                    <a:pt x="7" y="10"/>
                  </a:cubicBezTo>
                  <a:cubicBezTo>
                    <a:pt x="7" y="8"/>
                    <a:pt x="10" y="6"/>
                    <a:pt x="12" y="6"/>
                  </a:cubicBezTo>
                  <a:cubicBezTo>
                    <a:pt x="13" y="4"/>
                    <a:pt x="13" y="3"/>
                    <a:pt x="13" y="1"/>
                  </a:cubicBezTo>
                  <a:cubicBezTo>
                    <a:pt x="13" y="1"/>
                    <a:pt x="13" y="1"/>
                    <a:pt x="14" y="0"/>
                  </a:cubicBezTo>
                  <a:cubicBezTo>
                    <a:pt x="15" y="0"/>
                    <a:pt x="15" y="0"/>
                    <a:pt x="16" y="1"/>
                  </a:cubicBezTo>
                  <a:cubicBezTo>
                    <a:pt x="18" y="3"/>
                    <a:pt x="14" y="11"/>
                    <a:pt x="18" y="12"/>
                  </a:cubicBezTo>
                  <a:cubicBezTo>
                    <a:pt x="19" y="11"/>
                    <a:pt x="18" y="9"/>
                    <a:pt x="17" y="8"/>
                  </a:cubicBezTo>
                  <a:cubicBezTo>
                    <a:pt x="17" y="6"/>
                    <a:pt x="20" y="4"/>
                    <a:pt x="22" y="3"/>
                  </a:cubicBezTo>
                  <a:cubicBezTo>
                    <a:pt x="26" y="3"/>
                    <a:pt x="25" y="4"/>
                    <a:pt x="25" y="7"/>
                  </a:cubicBezTo>
                  <a:cubicBezTo>
                    <a:pt x="26" y="7"/>
                    <a:pt x="26" y="8"/>
                    <a:pt x="26" y="8"/>
                  </a:cubicBezTo>
                  <a:cubicBezTo>
                    <a:pt x="30" y="11"/>
                    <a:pt x="30" y="11"/>
                    <a:pt x="35" y="15"/>
                  </a:cubicBezTo>
                  <a:cubicBezTo>
                    <a:pt x="36" y="16"/>
                    <a:pt x="37" y="17"/>
                    <a:pt x="37" y="19"/>
                  </a:cubicBezTo>
                  <a:cubicBezTo>
                    <a:pt x="37" y="19"/>
                    <a:pt x="37" y="19"/>
                    <a:pt x="37" y="20"/>
                  </a:cubicBezTo>
                  <a:cubicBezTo>
                    <a:pt x="37" y="20"/>
                    <a:pt x="37" y="20"/>
                    <a:pt x="37" y="20"/>
                  </a:cubicBezTo>
                  <a:cubicBezTo>
                    <a:pt x="38" y="21"/>
                    <a:pt x="38" y="24"/>
                    <a:pt x="36" y="24"/>
                  </a:cubicBezTo>
                  <a:cubicBezTo>
                    <a:pt x="32" y="21"/>
                    <a:pt x="27" y="18"/>
                    <a:pt x="23" y="15"/>
                  </a:cubicBezTo>
                  <a:cubicBezTo>
                    <a:pt x="23" y="15"/>
                    <a:pt x="23" y="15"/>
                    <a:pt x="23" y="15"/>
                  </a:cubicBezTo>
                  <a:cubicBezTo>
                    <a:pt x="25" y="17"/>
                    <a:pt x="27" y="22"/>
                    <a:pt x="27" y="25"/>
                  </a:cubicBezTo>
                  <a:cubicBezTo>
                    <a:pt x="26" y="26"/>
                    <a:pt x="24" y="27"/>
                    <a:pt x="22" y="27"/>
                  </a:cubicBezTo>
                  <a:cubicBezTo>
                    <a:pt x="22" y="26"/>
                    <a:pt x="22" y="26"/>
                    <a:pt x="22" y="25"/>
                  </a:cubicBezTo>
                  <a:cubicBezTo>
                    <a:pt x="21" y="23"/>
                    <a:pt x="17" y="21"/>
                    <a:pt x="15" y="19"/>
                  </a:cubicBezTo>
                  <a:cubicBezTo>
                    <a:pt x="14" y="21"/>
                    <a:pt x="16" y="25"/>
                    <a:pt x="16" y="27"/>
                  </a:cubicBezTo>
                  <a:cubicBezTo>
                    <a:pt x="16" y="28"/>
                    <a:pt x="16" y="30"/>
                    <a:pt x="17" y="31"/>
                  </a:cubicBezTo>
                  <a:cubicBezTo>
                    <a:pt x="18" y="32"/>
                    <a:pt x="19" y="34"/>
                    <a:pt x="21" y="35"/>
                  </a:cubicBezTo>
                  <a:cubicBezTo>
                    <a:pt x="21" y="36"/>
                    <a:pt x="22" y="37"/>
                    <a:pt x="22" y="38"/>
                  </a:cubicBezTo>
                  <a:cubicBezTo>
                    <a:pt x="22" y="38"/>
                    <a:pt x="22" y="38"/>
                    <a:pt x="22" y="39"/>
                  </a:cubicBezTo>
                  <a:cubicBezTo>
                    <a:pt x="23" y="40"/>
                    <a:pt x="24" y="44"/>
                    <a:pt x="22" y="44"/>
                  </a:cubicBezTo>
                  <a:cubicBezTo>
                    <a:pt x="21" y="44"/>
                    <a:pt x="21" y="44"/>
                    <a:pt x="21" y="44"/>
                  </a:cubicBezTo>
                  <a:cubicBezTo>
                    <a:pt x="20" y="41"/>
                    <a:pt x="18" y="39"/>
                    <a:pt x="17" y="38"/>
                  </a:cubicBezTo>
                  <a:cubicBezTo>
                    <a:pt x="16" y="40"/>
                    <a:pt x="17" y="42"/>
                    <a:pt x="16" y="44"/>
                  </a:cubicBezTo>
                  <a:cubicBezTo>
                    <a:pt x="15" y="45"/>
                    <a:pt x="14" y="46"/>
                    <a:pt x="13" y="46"/>
                  </a:cubicBezTo>
                  <a:cubicBezTo>
                    <a:pt x="13" y="46"/>
                    <a:pt x="13" y="46"/>
                    <a:pt x="13" y="46"/>
                  </a:cubicBezTo>
                  <a:cubicBezTo>
                    <a:pt x="12" y="46"/>
                    <a:pt x="12" y="46"/>
                    <a:pt x="12" y="47"/>
                  </a:cubicBezTo>
                  <a:cubicBezTo>
                    <a:pt x="12" y="48"/>
                    <a:pt x="13" y="49"/>
                    <a:pt x="14" y="50"/>
                  </a:cubicBezTo>
                  <a:cubicBezTo>
                    <a:pt x="16" y="54"/>
                    <a:pt x="19" y="58"/>
                    <a:pt x="23" y="62"/>
                  </a:cubicBezTo>
                  <a:cubicBezTo>
                    <a:pt x="23" y="63"/>
                    <a:pt x="23" y="63"/>
                    <a:pt x="22" y="64"/>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6" name="Freeform 134"/>
            <p:cNvSpPr/>
            <p:nvPr userDrawn="1"/>
          </p:nvSpPr>
          <p:spPr bwMode="auto">
            <a:xfrm>
              <a:off x="989" y="789"/>
              <a:ext cx="13" cy="11"/>
            </a:xfrm>
            <a:custGeom>
              <a:avLst/>
              <a:gdLst>
                <a:gd name="T0" fmla="*/ 9 w 11"/>
                <a:gd name="T1" fmla="*/ 9 h 9"/>
                <a:gd name="T2" fmla="*/ 7 w 11"/>
                <a:gd name="T3" fmla="*/ 7 h 9"/>
                <a:gd name="T4" fmla="*/ 0 w 11"/>
                <a:gd name="T5" fmla="*/ 2 h 9"/>
                <a:gd name="T6" fmla="*/ 0 w 11"/>
                <a:gd name="T7" fmla="*/ 1 h 9"/>
                <a:gd name="T8" fmla="*/ 7 w 11"/>
                <a:gd name="T9" fmla="*/ 0 h 9"/>
                <a:gd name="T10" fmla="*/ 9 w 11"/>
                <a:gd name="T11" fmla="*/ 9 h 9"/>
              </a:gdLst>
              <a:ahLst/>
              <a:cxnLst>
                <a:cxn ang="0">
                  <a:pos x="T0" y="T1"/>
                </a:cxn>
                <a:cxn ang="0">
                  <a:pos x="T2" y="T3"/>
                </a:cxn>
                <a:cxn ang="0">
                  <a:pos x="T4" y="T5"/>
                </a:cxn>
                <a:cxn ang="0">
                  <a:pos x="T6" y="T7"/>
                </a:cxn>
                <a:cxn ang="0">
                  <a:pos x="T8" y="T9"/>
                </a:cxn>
                <a:cxn ang="0">
                  <a:pos x="T10" y="T11"/>
                </a:cxn>
              </a:cxnLst>
              <a:rect l="0" t="0" r="r" b="b"/>
              <a:pathLst>
                <a:path w="11" h="9">
                  <a:moveTo>
                    <a:pt x="9" y="9"/>
                  </a:moveTo>
                  <a:cubicBezTo>
                    <a:pt x="8" y="9"/>
                    <a:pt x="7" y="8"/>
                    <a:pt x="7" y="7"/>
                  </a:cubicBezTo>
                  <a:cubicBezTo>
                    <a:pt x="3" y="6"/>
                    <a:pt x="1" y="5"/>
                    <a:pt x="0" y="2"/>
                  </a:cubicBezTo>
                  <a:cubicBezTo>
                    <a:pt x="0" y="2"/>
                    <a:pt x="0" y="2"/>
                    <a:pt x="0" y="1"/>
                  </a:cubicBezTo>
                  <a:cubicBezTo>
                    <a:pt x="2" y="1"/>
                    <a:pt x="5" y="0"/>
                    <a:pt x="7" y="0"/>
                  </a:cubicBezTo>
                  <a:cubicBezTo>
                    <a:pt x="11" y="1"/>
                    <a:pt x="10" y="6"/>
                    <a:pt x="9" y="9"/>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7" name="Freeform 135"/>
            <p:cNvSpPr/>
            <p:nvPr userDrawn="1"/>
          </p:nvSpPr>
          <p:spPr bwMode="auto">
            <a:xfrm>
              <a:off x="977" y="776"/>
              <a:ext cx="14" cy="13"/>
            </a:xfrm>
            <a:custGeom>
              <a:avLst/>
              <a:gdLst>
                <a:gd name="T0" fmla="*/ 10 w 11"/>
                <a:gd name="T1" fmla="*/ 10 h 10"/>
                <a:gd name="T2" fmla="*/ 9 w 11"/>
                <a:gd name="T3" fmla="*/ 10 h 10"/>
                <a:gd name="T4" fmla="*/ 8 w 11"/>
                <a:gd name="T5" fmla="*/ 8 h 10"/>
                <a:gd name="T6" fmla="*/ 1 w 11"/>
                <a:gd name="T7" fmla="*/ 2 h 10"/>
                <a:gd name="T8" fmla="*/ 4 w 11"/>
                <a:gd name="T9" fmla="*/ 2 h 10"/>
                <a:gd name="T10" fmla="*/ 11 w 11"/>
                <a:gd name="T11" fmla="*/ 5 h 10"/>
                <a:gd name="T12" fmla="*/ 10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10" y="10"/>
                  </a:moveTo>
                  <a:cubicBezTo>
                    <a:pt x="9" y="10"/>
                    <a:pt x="9" y="10"/>
                    <a:pt x="9" y="10"/>
                  </a:cubicBezTo>
                  <a:cubicBezTo>
                    <a:pt x="8" y="9"/>
                    <a:pt x="8" y="9"/>
                    <a:pt x="8" y="8"/>
                  </a:cubicBezTo>
                  <a:cubicBezTo>
                    <a:pt x="4" y="8"/>
                    <a:pt x="0" y="6"/>
                    <a:pt x="1" y="2"/>
                  </a:cubicBezTo>
                  <a:cubicBezTo>
                    <a:pt x="2" y="1"/>
                    <a:pt x="2" y="2"/>
                    <a:pt x="4" y="2"/>
                  </a:cubicBezTo>
                  <a:cubicBezTo>
                    <a:pt x="7" y="2"/>
                    <a:pt x="11" y="0"/>
                    <a:pt x="11" y="5"/>
                  </a:cubicBezTo>
                  <a:cubicBezTo>
                    <a:pt x="11" y="6"/>
                    <a:pt x="10" y="8"/>
                    <a:pt x="10" y="10"/>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8" name="Freeform 136"/>
            <p:cNvSpPr/>
            <p:nvPr userDrawn="1"/>
          </p:nvSpPr>
          <p:spPr bwMode="auto">
            <a:xfrm>
              <a:off x="1048" y="786"/>
              <a:ext cx="163" cy="141"/>
            </a:xfrm>
            <a:custGeom>
              <a:avLst/>
              <a:gdLst>
                <a:gd name="T0" fmla="*/ 132 w 132"/>
                <a:gd name="T1" fmla="*/ 6 h 113"/>
                <a:gd name="T2" fmla="*/ 98 w 132"/>
                <a:gd name="T3" fmla="*/ 6 h 113"/>
                <a:gd name="T4" fmla="*/ 79 w 132"/>
                <a:gd name="T5" fmla="*/ 25 h 113"/>
                <a:gd name="T6" fmla="*/ 73 w 132"/>
                <a:gd name="T7" fmla="*/ 12 h 113"/>
                <a:gd name="T8" fmla="*/ 83 w 132"/>
                <a:gd name="T9" fmla="*/ 8 h 113"/>
                <a:gd name="T10" fmla="*/ 57 w 132"/>
                <a:gd name="T11" fmla="*/ 8 h 113"/>
                <a:gd name="T12" fmla="*/ 53 w 132"/>
                <a:gd name="T13" fmla="*/ 25 h 113"/>
                <a:gd name="T14" fmla="*/ 34 w 132"/>
                <a:gd name="T15" fmla="*/ 6 h 113"/>
                <a:gd name="T16" fmla="*/ 0 w 132"/>
                <a:gd name="T17" fmla="*/ 6 h 113"/>
                <a:gd name="T18" fmla="*/ 24 w 132"/>
                <a:gd name="T19" fmla="*/ 16 h 113"/>
                <a:gd name="T20" fmla="*/ 27 w 132"/>
                <a:gd name="T21" fmla="*/ 22 h 113"/>
                <a:gd name="T22" fmla="*/ 9 w 132"/>
                <a:gd name="T23" fmla="*/ 22 h 113"/>
                <a:gd name="T24" fmla="*/ 31 w 132"/>
                <a:gd name="T25" fmla="*/ 32 h 113"/>
                <a:gd name="T26" fmla="*/ 34 w 132"/>
                <a:gd name="T27" fmla="*/ 38 h 113"/>
                <a:gd name="T28" fmla="*/ 20 w 132"/>
                <a:gd name="T29" fmla="*/ 39 h 113"/>
                <a:gd name="T30" fmla="*/ 38 w 132"/>
                <a:gd name="T31" fmla="*/ 48 h 113"/>
                <a:gd name="T32" fmla="*/ 41 w 132"/>
                <a:gd name="T33" fmla="*/ 54 h 113"/>
                <a:gd name="T34" fmla="*/ 30 w 132"/>
                <a:gd name="T35" fmla="*/ 54 h 113"/>
                <a:gd name="T36" fmla="*/ 45 w 132"/>
                <a:gd name="T37" fmla="*/ 63 h 113"/>
                <a:gd name="T38" fmla="*/ 47 w 132"/>
                <a:gd name="T39" fmla="*/ 69 h 113"/>
                <a:gd name="T40" fmla="*/ 39 w 132"/>
                <a:gd name="T41" fmla="*/ 69 h 113"/>
                <a:gd name="T42" fmla="*/ 51 w 132"/>
                <a:gd name="T43" fmla="*/ 78 h 113"/>
                <a:gd name="T44" fmla="*/ 51 w 132"/>
                <a:gd name="T45" fmla="*/ 89 h 113"/>
                <a:gd name="T46" fmla="*/ 66 w 132"/>
                <a:gd name="T47" fmla="*/ 113 h 113"/>
                <a:gd name="T48" fmla="*/ 81 w 132"/>
                <a:gd name="T49" fmla="*/ 89 h 113"/>
                <a:gd name="T50" fmla="*/ 81 w 132"/>
                <a:gd name="T51" fmla="*/ 78 h 113"/>
                <a:gd name="T52" fmla="*/ 92 w 132"/>
                <a:gd name="T53" fmla="*/ 69 h 113"/>
                <a:gd name="T54" fmla="*/ 85 w 132"/>
                <a:gd name="T55" fmla="*/ 69 h 113"/>
                <a:gd name="T56" fmla="*/ 87 w 132"/>
                <a:gd name="T57" fmla="*/ 63 h 113"/>
                <a:gd name="T58" fmla="*/ 102 w 132"/>
                <a:gd name="T59" fmla="*/ 54 h 113"/>
                <a:gd name="T60" fmla="*/ 91 w 132"/>
                <a:gd name="T61" fmla="*/ 54 h 113"/>
                <a:gd name="T62" fmla="*/ 93 w 132"/>
                <a:gd name="T63" fmla="*/ 48 h 113"/>
                <a:gd name="T64" fmla="*/ 111 w 132"/>
                <a:gd name="T65" fmla="*/ 39 h 113"/>
                <a:gd name="T66" fmla="*/ 97 w 132"/>
                <a:gd name="T67" fmla="*/ 38 h 113"/>
                <a:gd name="T68" fmla="*/ 100 w 132"/>
                <a:gd name="T69" fmla="*/ 32 h 113"/>
                <a:gd name="T70" fmla="*/ 123 w 132"/>
                <a:gd name="T71" fmla="*/ 22 h 113"/>
                <a:gd name="T72" fmla="*/ 105 w 132"/>
                <a:gd name="T73" fmla="*/ 22 h 113"/>
                <a:gd name="T74" fmla="*/ 107 w 132"/>
                <a:gd name="T75" fmla="*/ 16 h 113"/>
                <a:gd name="T76" fmla="*/ 132 w 132"/>
                <a:gd name="T7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2" h="113">
                  <a:moveTo>
                    <a:pt x="132" y="6"/>
                  </a:moveTo>
                  <a:cubicBezTo>
                    <a:pt x="98" y="6"/>
                    <a:pt x="98" y="6"/>
                    <a:pt x="98" y="6"/>
                  </a:cubicBezTo>
                  <a:cubicBezTo>
                    <a:pt x="88" y="6"/>
                    <a:pt x="83" y="16"/>
                    <a:pt x="79" y="25"/>
                  </a:cubicBezTo>
                  <a:cubicBezTo>
                    <a:pt x="73" y="12"/>
                    <a:pt x="73" y="12"/>
                    <a:pt x="73" y="12"/>
                  </a:cubicBezTo>
                  <a:cubicBezTo>
                    <a:pt x="83" y="8"/>
                    <a:pt x="83" y="8"/>
                    <a:pt x="83" y="8"/>
                  </a:cubicBezTo>
                  <a:cubicBezTo>
                    <a:pt x="77" y="3"/>
                    <a:pt x="59" y="0"/>
                    <a:pt x="57" y="8"/>
                  </a:cubicBezTo>
                  <a:cubicBezTo>
                    <a:pt x="53" y="25"/>
                    <a:pt x="53" y="25"/>
                    <a:pt x="53" y="25"/>
                  </a:cubicBezTo>
                  <a:cubicBezTo>
                    <a:pt x="50" y="17"/>
                    <a:pt x="45" y="6"/>
                    <a:pt x="34" y="6"/>
                  </a:cubicBezTo>
                  <a:cubicBezTo>
                    <a:pt x="0" y="6"/>
                    <a:pt x="0" y="6"/>
                    <a:pt x="0" y="6"/>
                  </a:cubicBezTo>
                  <a:cubicBezTo>
                    <a:pt x="4" y="14"/>
                    <a:pt x="8" y="17"/>
                    <a:pt x="24" y="16"/>
                  </a:cubicBezTo>
                  <a:cubicBezTo>
                    <a:pt x="27" y="22"/>
                    <a:pt x="27" y="22"/>
                    <a:pt x="27" y="22"/>
                  </a:cubicBezTo>
                  <a:cubicBezTo>
                    <a:pt x="9" y="22"/>
                    <a:pt x="9" y="22"/>
                    <a:pt x="9" y="22"/>
                  </a:cubicBezTo>
                  <a:cubicBezTo>
                    <a:pt x="14" y="32"/>
                    <a:pt x="17" y="32"/>
                    <a:pt x="31" y="32"/>
                  </a:cubicBezTo>
                  <a:cubicBezTo>
                    <a:pt x="34" y="38"/>
                    <a:pt x="34" y="38"/>
                    <a:pt x="34" y="38"/>
                  </a:cubicBezTo>
                  <a:cubicBezTo>
                    <a:pt x="20" y="39"/>
                    <a:pt x="20" y="39"/>
                    <a:pt x="20" y="39"/>
                  </a:cubicBezTo>
                  <a:cubicBezTo>
                    <a:pt x="23" y="45"/>
                    <a:pt x="27" y="48"/>
                    <a:pt x="38" y="48"/>
                  </a:cubicBezTo>
                  <a:cubicBezTo>
                    <a:pt x="41" y="54"/>
                    <a:pt x="41" y="54"/>
                    <a:pt x="41" y="54"/>
                  </a:cubicBezTo>
                  <a:cubicBezTo>
                    <a:pt x="30" y="54"/>
                    <a:pt x="30" y="54"/>
                    <a:pt x="30" y="54"/>
                  </a:cubicBezTo>
                  <a:cubicBezTo>
                    <a:pt x="34" y="61"/>
                    <a:pt x="36" y="64"/>
                    <a:pt x="45" y="63"/>
                  </a:cubicBezTo>
                  <a:cubicBezTo>
                    <a:pt x="47" y="69"/>
                    <a:pt x="47" y="69"/>
                    <a:pt x="47" y="69"/>
                  </a:cubicBezTo>
                  <a:cubicBezTo>
                    <a:pt x="39" y="69"/>
                    <a:pt x="39" y="69"/>
                    <a:pt x="39" y="69"/>
                  </a:cubicBezTo>
                  <a:cubicBezTo>
                    <a:pt x="43" y="77"/>
                    <a:pt x="46" y="77"/>
                    <a:pt x="51" y="78"/>
                  </a:cubicBezTo>
                  <a:cubicBezTo>
                    <a:pt x="55" y="78"/>
                    <a:pt x="56" y="86"/>
                    <a:pt x="51" y="89"/>
                  </a:cubicBezTo>
                  <a:cubicBezTo>
                    <a:pt x="66" y="113"/>
                    <a:pt x="66" y="113"/>
                    <a:pt x="66" y="113"/>
                  </a:cubicBezTo>
                  <a:cubicBezTo>
                    <a:pt x="81" y="89"/>
                    <a:pt x="81" y="89"/>
                    <a:pt x="81" y="89"/>
                  </a:cubicBezTo>
                  <a:cubicBezTo>
                    <a:pt x="76" y="86"/>
                    <a:pt x="76" y="78"/>
                    <a:pt x="81" y="78"/>
                  </a:cubicBezTo>
                  <a:cubicBezTo>
                    <a:pt x="85" y="77"/>
                    <a:pt x="89" y="77"/>
                    <a:pt x="92" y="69"/>
                  </a:cubicBezTo>
                  <a:cubicBezTo>
                    <a:pt x="85" y="69"/>
                    <a:pt x="85" y="69"/>
                    <a:pt x="85" y="69"/>
                  </a:cubicBezTo>
                  <a:cubicBezTo>
                    <a:pt x="87" y="63"/>
                    <a:pt x="87" y="63"/>
                    <a:pt x="87" y="63"/>
                  </a:cubicBezTo>
                  <a:cubicBezTo>
                    <a:pt x="96" y="64"/>
                    <a:pt x="98" y="60"/>
                    <a:pt x="102" y="54"/>
                  </a:cubicBezTo>
                  <a:cubicBezTo>
                    <a:pt x="91" y="54"/>
                    <a:pt x="91" y="54"/>
                    <a:pt x="91" y="54"/>
                  </a:cubicBezTo>
                  <a:cubicBezTo>
                    <a:pt x="93" y="48"/>
                    <a:pt x="93" y="48"/>
                    <a:pt x="93" y="48"/>
                  </a:cubicBezTo>
                  <a:cubicBezTo>
                    <a:pt x="105" y="48"/>
                    <a:pt x="108" y="45"/>
                    <a:pt x="111" y="39"/>
                  </a:cubicBezTo>
                  <a:cubicBezTo>
                    <a:pt x="97" y="38"/>
                    <a:pt x="97" y="38"/>
                    <a:pt x="97" y="38"/>
                  </a:cubicBezTo>
                  <a:cubicBezTo>
                    <a:pt x="100" y="32"/>
                    <a:pt x="100" y="32"/>
                    <a:pt x="100" y="32"/>
                  </a:cubicBezTo>
                  <a:cubicBezTo>
                    <a:pt x="115" y="32"/>
                    <a:pt x="118" y="32"/>
                    <a:pt x="123" y="22"/>
                  </a:cubicBezTo>
                  <a:cubicBezTo>
                    <a:pt x="105" y="22"/>
                    <a:pt x="105" y="22"/>
                    <a:pt x="105" y="22"/>
                  </a:cubicBezTo>
                  <a:cubicBezTo>
                    <a:pt x="107" y="16"/>
                    <a:pt x="107" y="16"/>
                    <a:pt x="107" y="16"/>
                  </a:cubicBezTo>
                  <a:cubicBezTo>
                    <a:pt x="123" y="17"/>
                    <a:pt x="128" y="14"/>
                    <a:pt x="132" y="6"/>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69" name="Freeform 137"/>
            <p:cNvSpPr>
              <a:spLocks noEditPoints="1"/>
            </p:cNvSpPr>
            <p:nvPr userDrawn="1"/>
          </p:nvSpPr>
          <p:spPr bwMode="auto">
            <a:xfrm>
              <a:off x="1214" y="757"/>
              <a:ext cx="64" cy="43"/>
            </a:xfrm>
            <a:custGeom>
              <a:avLst/>
              <a:gdLst>
                <a:gd name="T0" fmla="*/ 51 w 52"/>
                <a:gd name="T1" fmla="*/ 10 h 34"/>
                <a:gd name="T2" fmla="*/ 48 w 52"/>
                <a:gd name="T3" fmla="*/ 10 h 34"/>
                <a:gd name="T4" fmla="*/ 47 w 52"/>
                <a:gd name="T5" fmla="*/ 8 h 34"/>
                <a:gd name="T6" fmla="*/ 50 w 52"/>
                <a:gd name="T7" fmla="*/ 7 h 34"/>
                <a:gd name="T8" fmla="*/ 52 w 52"/>
                <a:gd name="T9" fmla="*/ 2 h 34"/>
                <a:gd name="T10" fmla="*/ 44 w 52"/>
                <a:gd name="T11" fmla="*/ 3 h 34"/>
                <a:gd name="T12" fmla="*/ 36 w 52"/>
                <a:gd name="T13" fmla="*/ 1 h 34"/>
                <a:gd name="T14" fmla="*/ 36 w 52"/>
                <a:gd name="T15" fmla="*/ 3 h 34"/>
                <a:gd name="T16" fmla="*/ 35 w 52"/>
                <a:gd name="T17" fmla="*/ 4 h 34"/>
                <a:gd name="T18" fmla="*/ 35 w 52"/>
                <a:gd name="T19" fmla="*/ 5 h 34"/>
                <a:gd name="T20" fmla="*/ 34 w 52"/>
                <a:gd name="T21" fmla="*/ 7 h 34"/>
                <a:gd name="T22" fmla="*/ 34 w 52"/>
                <a:gd name="T23" fmla="*/ 6 h 34"/>
                <a:gd name="T24" fmla="*/ 30 w 52"/>
                <a:gd name="T25" fmla="*/ 5 h 34"/>
                <a:gd name="T26" fmla="*/ 28 w 52"/>
                <a:gd name="T27" fmla="*/ 9 h 34"/>
                <a:gd name="T28" fmla="*/ 28 w 52"/>
                <a:gd name="T29" fmla="*/ 10 h 34"/>
                <a:gd name="T30" fmla="*/ 31 w 52"/>
                <a:gd name="T31" fmla="*/ 11 h 34"/>
                <a:gd name="T32" fmla="*/ 33 w 52"/>
                <a:gd name="T33" fmla="*/ 12 h 34"/>
                <a:gd name="T34" fmla="*/ 30 w 52"/>
                <a:gd name="T35" fmla="*/ 14 h 34"/>
                <a:gd name="T36" fmla="*/ 26 w 52"/>
                <a:gd name="T37" fmla="*/ 14 h 34"/>
                <a:gd name="T38" fmla="*/ 13 w 52"/>
                <a:gd name="T39" fmla="*/ 11 h 34"/>
                <a:gd name="T40" fmla="*/ 13 w 52"/>
                <a:gd name="T41" fmla="*/ 12 h 34"/>
                <a:gd name="T42" fmla="*/ 20 w 52"/>
                <a:gd name="T43" fmla="*/ 16 h 34"/>
                <a:gd name="T44" fmla="*/ 32 w 52"/>
                <a:gd name="T45" fmla="*/ 20 h 34"/>
                <a:gd name="T46" fmla="*/ 31 w 52"/>
                <a:gd name="T47" fmla="*/ 20 h 34"/>
                <a:gd name="T48" fmla="*/ 24 w 52"/>
                <a:gd name="T49" fmla="*/ 20 h 34"/>
                <a:gd name="T50" fmla="*/ 19 w 52"/>
                <a:gd name="T51" fmla="*/ 19 h 34"/>
                <a:gd name="T52" fmla="*/ 18 w 52"/>
                <a:gd name="T53" fmla="*/ 19 h 34"/>
                <a:gd name="T54" fmla="*/ 4 w 52"/>
                <a:gd name="T55" fmla="*/ 14 h 34"/>
                <a:gd name="T56" fmla="*/ 2 w 52"/>
                <a:gd name="T57" fmla="*/ 12 h 34"/>
                <a:gd name="T58" fmla="*/ 3 w 52"/>
                <a:gd name="T59" fmla="*/ 20 h 34"/>
                <a:gd name="T60" fmla="*/ 13 w 52"/>
                <a:gd name="T61" fmla="*/ 23 h 34"/>
                <a:gd name="T62" fmla="*/ 13 w 52"/>
                <a:gd name="T63" fmla="*/ 24 h 34"/>
                <a:gd name="T64" fmla="*/ 9 w 52"/>
                <a:gd name="T65" fmla="*/ 27 h 34"/>
                <a:gd name="T66" fmla="*/ 4 w 52"/>
                <a:gd name="T67" fmla="*/ 26 h 34"/>
                <a:gd name="T68" fmla="*/ 9 w 52"/>
                <a:gd name="T69" fmla="*/ 33 h 34"/>
                <a:gd name="T70" fmla="*/ 10 w 52"/>
                <a:gd name="T71" fmla="*/ 34 h 34"/>
                <a:gd name="T72" fmla="*/ 18 w 52"/>
                <a:gd name="T73" fmla="*/ 28 h 34"/>
                <a:gd name="T74" fmla="*/ 23 w 52"/>
                <a:gd name="T75" fmla="*/ 28 h 34"/>
                <a:gd name="T76" fmla="*/ 22 w 52"/>
                <a:gd name="T77" fmla="*/ 23 h 34"/>
                <a:gd name="T78" fmla="*/ 23 w 52"/>
                <a:gd name="T79" fmla="*/ 21 h 34"/>
                <a:gd name="T80" fmla="*/ 30 w 52"/>
                <a:gd name="T81" fmla="*/ 22 h 34"/>
                <a:gd name="T82" fmla="*/ 36 w 52"/>
                <a:gd name="T83" fmla="*/ 25 h 34"/>
                <a:gd name="T84" fmla="*/ 39 w 52"/>
                <a:gd name="T85" fmla="*/ 21 h 34"/>
                <a:gd name="T86" fmla="*/ 39 w 52"/>
                <a:gd name="T87" fmla="*/ 20 h 34"/>
                <a:gd name="T88" fmla="*/ 51 w 52"/>
                <a:gd name="T89" fmla="*/ 14 h 34"/>
                <a:gd name="T90" fmla="*/ 38 w 52"/>
                <a:gd name="T91" fmla="*/ 14 h 34"/>
                <a:gd name="T92" fmla="*/ 38 w 52"/>
                <a:gd name="T93" fmla="*/ 12 h 34"/>
                <a:gd name="T94" fmla="*/ 36 w 52"/>
                <a:gd name="T95" fmla="*/ 11 h 34"/>
                <a:gd name="T96" fmla="*/ 36 w 52"/>
                <a:gd name="T97" fmla="*/ 10 h 34"/>
                <a:gd name="T98" fmla="*/ 40 w 52"/>
                <a:gd name="T99" fmla="*/ 9 h 34"/>
                <a:gd name="T100" fmla="*/ 43 w 52"/>
                <a:gd name="T101" fmla="*/ 14 h 34"/>
                <a:gd name="T102" fmla="*/ 38 w 52"/>
                <a:gd name="T103"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2" h="34">
                  <a:moveTo>
                    <a:pt x="51" y="13"/>
                  </a:moveTo>
                  <a:cubicBezTo>
                    <a:pt x="51" y="12"/>
                    <a:pt x="51" y="12"/>
                    <a:pt x="51" y="12"/>
                  </a:cubicBezTo>
                  <a:cubicBezTo>
                    <a:pt x="51" y="11"/>
                    <a:pt x="51" y="11"/>
                    <a:pt x="51" y="10"/>
                  </a:cubicBezTo>
                  <a:cubicBezTo>
                    <a:pt x="51" y="10"/>
                    <a:pt x="50" y="10"/>
                    <a:pt x="50" y="10"/>
                  </a:cubicBezTo>
                  <a:cubicBezTo>
                    <a:pt x="49" y="10"/>
                    <a:pt x="49" y="10"/>
                    <a:pt x="49" y="10"/>
                  </a:cubicBezTo>
                  <a:cubicBezTo>
                    <a:pt x="48" y="10"/>
                    <a:pt x="48" y="10"/>
                    <a:pt x="48" y="10"/>
                  </a:cubicBezTo>
                  <a:cubicBezTo>
                    <a:pt x="48" y="9"/>
                    <a:pt x="48" y="9"/>
                    <a:pt x="48" y="9"/>
                  </a:cubicBezTo>
                  <a:cubicBezTo>
                    <a:pt x="48" y="9"/>
                    <a:pt x="48" y="9"/>
                    <a:pt x="48" y="9"/>
                  </a:cubicBezTo>
                  <a:cubicBezTo>
                    <a:pt x="47" y="8"/>
                    <a:pt x="47" y="8"/>
                    <a:pt x="47" y="8"/>
                  </a:cubicBezTo>
                  <a:cubicBezTo>
                    <a:pt x="47" y="8"/>
                    <a:pt x="47" y="8"/>
                    <a:pt x="47" y="8"/>
                  </a:cubicBezTo>
                  <a:cubicBezTo>
                    <a:pt x="48" y="8"/>
                    <a:pt x="48" y="8"/>
                    <a:pt x="48" y="8"/>
                  </a:cubicBezTo>
                  <a:cubicBezTo>
                    <a:pt x="48" y="7"/>
                    <a:pt x="49" y="7"/>
                    <a:pt x="50" y="7"/>
                  </a:cubicBezTo>
                  <a:cubicBezTo>
                    <a:pt x="50" y="7"/>
                    <a:pt x="50" y="7"/>
                    <a:pt x="50" y="7"/>
                  </a:cubicBezTo>
                  <a:cubicBezTo>
                    <a:pt x="50" y="7"/>
                    <a:pt x="50" y="7"/>
                    <a:pt x="50" y="7"/>
                  </a:cubicBezTo>
                  <a:cubicBezTo>
                    <a:pt x="51" y="6"/>
                    <a:pt x="52" y="4"/>
                    <a:pt x="52" y="2"/>
                  </a:cubicBezTo>
                  <a:cubicBezTo>
                    <a:pt x="52" y="2"/>
                    <a:pt x="51" y="2"/>
                    <a:pt x="50" y="2"/>
                  </a:cubicBezTo>
                  <a:cubicBezTo>
                    <a:pt x="49" y="2"/>
                    <a:pt x="48" y="2"/>
                    <a:pt x="46" y="3"/>
                  </a:cubicBezTo>
                  <a:cubicBezTo>
                    <a:pt x="46" y="3"/>
                    <a:pt x="45" y="3"/>
                    <a:pt x="44" y="3"/>
                  </a:cubicBezTo>
                  <a:cubicBezTo>
                    <a:pt x="43" y="3"/>
                    <a:pt x="43" y="3"/>
                    <a:pt x="43" y="3"/>
                  </a:cubicBezTo>
                  <a:cubicBezTo>
                    <a:pt x="41" y="2"/>
                    <a:pt x="41" y="2"/>
                    <a:pt x="36" y="0"/>
                  </a:cubicBezTo>
                  <a:cubicBezTo>
                    <a:pt x="36" y="0"/>
                    <a:pt x="36" y="0"/>
                    <a:pt x="36" y="1"/>
                  </a:cubicBezTo>
                  <a:cubicBezTo>
                    <a:pt x="35" y="1"/>
                    <a:pt x="35" y="2"/>
                    <a:pt x="36" y="3"/>
                  </a:cubicBezTo>
                  <a:cubicBezTo>
                    <a:pt x="36" y="3"/>
                    <a:pt x="36" y="3"/>
                    <a:pt x="36" y="3"/>
                  </a:cubicBezTo>
                  <a:cubicBezTo>
                    <a:pt x="36" y="3"/>
                    <a:pt x="36" y="3"/>
                    <a:pt x="36" y="3"/>
                  </a:cubicBezTo>
                  <a:cubicBezTo>
                    <a:pt x="36" y="3"/>
                    <a:pt x="36" y="3"/>
                    <a:pt x="36" y="3"/>
                  </a:cubicBezTo>
                  <a:cubicBezTo>
                    <a:pt x="35" y="4"/>
                    <a:pt x="35" y="4"/>
                    <a:pt x="35" y="4"/>
                  </a:cubicBezTo>
                  <a:cubicBezTo>
                    <a:pt x="35" y="4"/>
                    <a:pt x="35" y="4"/>
                    <a:pt x="35" y="4"/>
                  </a:cubicBezTo>
                  <a:cubicBezTo>
                    <a:pt x="35" y="4"/>
                    <a:pt x="35" y="4"/>
                    <a:pt x="35" y="4"/>
                  </a:cubicBezTo>
                  <a:cubicBezTo>
                    <a:pt x="35" y="4"/>
                    <a:pt x="35" y="4"/>
                    <a:pt x="35" y="4"/>
                  </a:cubicBezTo>
                  <a:cubicBezTo>
                    <a:pt x="35" y="4"/>
                    <a:pt x="35" y="5"/>
                    <a:pt x="35" y="5"/>
                  </a:cubicBezTo>
                  <a:cubicBezTo>
                    <a:pt x="35" y="5"/>
                    <a:pt x="35" y="5"/>
                    <a:pt x="35" y="5"/>
                  </a:cubicBezTo>
                  <a:cubicBezTo>
                    <a:pt x="35" y="6"/>
                    <a:pt x="35" y="6"/>
                    <a:pt x="35" y="6"/>
                  </a:cubicBezTo>
                  <a:cubicBezTo>
                    <a:pt x="34" y="7"/>
                    <a:pt x="34" y="7"/>
                    <a:pt x="34" y="7"/>
                  </a:cubicBezTo>
                  <a:cubicBezTo>
                    <a:pt x="34" y="7"/>
                    <a:pt x="34" y="7"/>
                    <a:pt x="34" y="7"/>
                  </a:cubicBezTo>
                  <a:cubicBezTo>
                    <a:pt x="34" y="7"/>
                    <a:pt x="34" y="7"/>
                    <a:pt x="34" y="7"/>
                  </a:cubicBezTo>
                  <a:cubicBezTo>
                    <a:pt x="34" y="6"/>
                    <a:pt x="34" y="6"/>
                    <a:pt x="34" y="6"/>
                  </a:cubicBezTo>
                  <a:cubicBezTo>
                    <a:pt x="33" y="6"/>
                    <a:pt x="33" y="6"/>
                    <a:pt x="32" y="5"/>
                  </a:cubicBezTo>
                  <a:cubicBezTo>
                    <a:pt x="32" y="5"/>
                    <a:pt x="32" y="5"/>
                    <a:pt x="32" y="5"/>
                  </a:cubicBezTo>
                  <a:cubicBezTo>
                    <a:pt x="31" y="5"/>
                    <a:pt x="31" y="5"/>
                    <a:pt x="30" y="5"/>
                  </a:cubicBezTo>
                  <a:cubicBezTo>
                    <a:pt x="30" y="6"/>
                    <a:pt x="30" y="6"/>
                    <a:pt x="30" y="6"/>
                  </a:cubicBezTo>
                  <a:cubicBezTo>
                    <a:pt x="30" y="7"/>
                    <a:pt x="30" y="7"/>
                    <a:pt x="30" y="7"/>
                  </a:cubicBezTo>
                  <a:cubicBezTo>
                    <a:pt x="30" y="7"/>
                    <a:pt x="30" y="8"/>
                    <a:pt x="28" y="9"/>
                  </a:cubicBezTo>
                  <a:cubicBezTo>
                    <a:pt x="27" y="8"/>
                    <a:pt x="27" y="8"/>
                    <a:pt x="27" y="8"/>
                  </a:cubicBezTo>
                  <a:cubicBezTo>
                    <a:pt x="26" y="8"/>
                    <a:pt x="26" y="9"/>
                    <a:pt x="26" y="9"/>
                  </a:cubicBezTo>
                  <a:cubicBezTo>
                    <a:pt x="26" y="10"/>
                    <a:pt x="26" y="10"/>
                    <a:pt x="28" y="10"/>
                  </a:cubicBezTo>
                  <a:cubicBezTo>
                    <a:pt x="29" y="10"/>
                    <a:pt x="29" y="11"/>
                    <a:pt x="30" y="11"/>
                  </a:cubicBezTo>
                  <a:cubicBezTo>
                    <a:pt x="30" y="11"/>
                    <a:pt x="30" y="11"/>
                    <a:pt x="30" y="11"/>
                  </a:cubicBezTo>
                  <a:cubicBezTo>
                    <a:pt x="31" y="11"/>
                    <a:pt x="31" y="11"/>
                    <a:pt x="31" y="11"/>
                  </a:cubicBezTo>
                  <a:cubicBezTo>
                    <a:pt x="32" y="11"/>
                    <a:pt x="32" y="11"/>
                    <a:pt x="32" y="11"/>
                  </a:cubicBezTo>
                  <a:cubicBezTo>
                    <a:pt x="33" y="11"/>
                    <a:pt x="33" y="11"/>
                    <a:pt x="33" y="11"/>
                  </a:cubicBezTo>
                  <a:cubicBezTo>
                    <a:pt x="33" y="12"/>
                    <a:pt x="33" y="12"/>
                    <a:pt x="33" y="12"/>
                  </a:cubicBezTo>
                  <a:cubicBezTo>
                    <a:pt x="31" y="12"/>
                    <a:pt x="31" y="12"/>
                    <a:pt x="31" y="12"/>
                  </a:cubicBezTo>
                  <a:cubicBezTo>
                    <a:pt x="31" y="12"/>
                    <a:pt x="31" y="13"/>
                    <a:pt x="30" y="13"/>
                  </a:cubicBezTo>
                  <a:cubicBezTo>
                    <a:pt x="30" y="14"/>
                    <a:pt x="30" y="14"/>
                    <a:pt x="30" y="14"/>
                  </a:cubicBezTo>
                  <a:cubicBezTo>
                    <a:pt x="29" y="15"/>
                    <a:pt x="29" y="15"/>
                    <a:pt x="29" y="15"/>
                  </a:cubicBezTo>
                  <a:cubicBezTo>
                    <a:pt x="29" y="14"/>
                    <a:pt x="29" y="14"/>
                    <a:pt x="29" y="14"/>
                  </a:cubicBezTo>
                  <a:cubicBezTo>
                    <a:pt x="28" y="14"/>
                    <a:pt x="27" y="14"/>
                    <a:pt x="26" y="14"/>
                  </a:cubicBezTo>
                  <a:cubicBezTo>
                    <a:pt x="24" y="13"/>
                    <a:pt x="24" y="13"/>
                    <a:pt x="24" y="13"/>
                  </a:cubicBezTo>
                  <a:cubicBezTo>
                    <a:pt x="22" y="13"/>
                    <a:pt x="18" y="12"/>
                    <a:pt x="15" y="11"/>
                  </a:cubicBezTo>
                  <a:cubicBezTo>
                    <a:pt x="15" y="11"/>
                    <a:pt x="14" y="11"/>
                    <a:pt x="13" y="11"/>
                  </a:cubicBezTo>
                  <a:cubicBezTo>
                    <a:pt x="12" y="10"/>
                    <a:pt x="12" y="10"/>
                    <a:pt x="12" y="10"/>
                  </a:cubicBezTo>
                  <a:cubicBezTo>
                    <a:pt x="11" y="11"/>
                    <a:pt x="11" y="11"/>
                    <a:pt x="11" y="11"/>
                  </a:cubicBezTo>
                  <a:cubicBezTo>
                    <a:pt x="12" y="11"/>
                    <a:pt x="12" y="12"/>
                    <a:pt x="13" y="12"/>
                  </a:cubicBezTo>
                  <a:cubicBezTo>
                    <a:pt x="13" y="12"/>
                    <a:pt x="13" y="12"/>
                    <a:pt x="13" y="12"/>
                  </a:cubicBezTo>
                  <a:cubicBezTo>
                    <a:pt x="14" y="13"/>
                    <a:pt x="14" y="15"/>
                    <a:pt x="16" y="16"/>
                  </a:cubicBezTo>
                  <a:cubicBezTo>
                    <a:pt x="17" y="16"/>
                    <a:pt x="18" y="16"/>
                    <a:pt x="20" y="16"/>
                  </a:cubicBezTo>
                  <a:cubicBezTo>
                    <a:pt x="23" y="16"/>
                    <a:pt x="28" y="17"/>
                    <a:pt x="31" y="19"/>
                  </a:cubicBezTo>
                  <a:cubicBezTo>
                    <a:pt x="32" y="20"/>
                    <a:pt x="32" y="20"/>
                    <a:pt x="32" y="20"/>
                  </a:cubicBezTo>
                  <a:cubicBezTo>
                    <a:pt x="32" y="20"/>
                    <a:pt x="32" y="20"/>
                    <a:pt x="32" y="20"/>
                  </a:cubicBezTo>
                  <a:cubicBezTo>
                    <a:pt x="32" y="20"/>
                    <a:pt x="32" y="20"/>
                    <a:pt x="32" y="20"/>
                  </a:cubicBezTo>
                  <a:cubicBezTo>
                    <a:pt x="32" y="20"/>
                    <a:pt x="32" y="20"/>
                    <a:pt x="32" y="20"/>
                  </a:cubicBezTo>
                  <a:cubicBezTo>
                    <a:pt x="31" y="20"/>
                    <a:pt x="31" y="20"/>
                    <a:pt x="31" y="20"/>
                  </a:cubicBezTo>
                  <a:cubicBezTo>
                    <a:pt x="30" y="20"/>
                    <a:pt x="30" y="21"/>
                    <a:pt x="30" y="21"/>
                  </a:cubicBezTo>
                  <a:cubicBezTo>
                    <a:pt x="29" y="21"/>
                    <a:pt x="29" y="21"/>
                    <a:pt x="29" y="21"/>
                  </a:cubicBezTo>
                  <a:cubicBezTo>
                    <a:pt x="26" y="20"/>
                    <a:pt x="26" y="20"/>
                    <a:pt x="24" y="20"/>
                  </a:cubicBezTo>
                  <a:cubicBezTo>
                    <a:pt x="23" y="19"/>
                    <a:pt x="22" y="18"/>
                    <a:pt x="21" y="18"/>
                  </a:cubicBezTo>
                  <a:cubicBezTo>
                    <a:pt x="21" y="18"/>
                    <a:pt x="20" y="19"/>
                    <a:pt x="19" y="19"/>
                  </a:cubicBezTo>
                  <a:cubicBezTo>
                    <a:pt x="19" y="19"/>
                    <a:pt x="19" y="19"/>
                    <a:pt x="19" y="19"/>
                  </a:cubicBezTo>
                  <a:cubicBezTo>
                    <a:pt x="19" y="19"/>
                    <a:pt x="19" y="19"/>
                    <a:pt x="19" y="19"/>
                  </a:cubicBezTo>
                  <a:cubicBezTo>
                    <a:pt x="19" y="20"/>
                    <a:pt x="19" y="20"/>
                    <a:pt x="19" y="20"/>
                  </a:cubicBezTo>
                  <a:cubicBezTo>
                    <a:pt x="18" y="19"/>
                    <a:pt x="18" y="19"/>
                    <a:pt x="18" y="19"/>
                  </a:cubicBezTo>
                  <a:cubicBezTo>
                    <a:pt x="18" y="19"/>
                    <a:pt x="18" y="19"/>
                    <a:pt x="17" y="19"/>
                  </a:cubicBezTo>
                  <a:cubicBezTo>
                    <a:pt x="16" y="19"/>
                    <a:pt x="15" y="18"/>
                    <a:pt x="14" y="18"/>
                  </a:cubicBezTo>
                  <a:cubicBezTo>
                    <a:pt x="10" y="17"/>
                    <a:pt x="7" y="16"/>
                    <a:pt x="4" y="14"/>
                  </a:cubicBezTo>
                  <a:cubicBezTo>
                    <a:pt x="3" y="13"/>
                    <a:pt x="3" y="13"/>
                    <a:pt x="2" y="12"/>
                  </a:cubicBezTo>
                  <a:cubicBezTo>
                    <a:pt x="2" y="12"/>
                    <a:pt x="2" y="12"/>
                    <a:pt x="2" y="12"/>
                  </a:cubicBezTo>
                  <a:cubicBezTo>
                    <a:pt x="2" y="12"/>
                    <a:pt x="2" y="12"/>
                    <a:pt x="2" y="12"/>
                  </a:cubicBezTo>
                  <a:cubicBezTo>
                    <a:pt x="2" y="11"/>
                    <a:pt x="2" y="11"/>
                    <a:pt x="2" y="11"/>
                  </a:cubicBezTo>
                  <a:cubicBezTo>
                    <a:pt x="1" y="11"/>
                    <a:pt x="1" y="12"/>
                    <a:pt x="0" y="12"/>
                  </a:cubicBezTo>
                  <a:cubicBezTo>
                    <a:pt x="0" y="14"/>
                    <a:pt x="2" y="19"/>
                    <a:pt x="3" y="20"/>
                  </a:cubicBezTo>
                  <a:cubicBezTo>
                    <a:pt x="4" y="20"/>
                    <a:pt x="5" y="21"/>
                    <a:pt x="6" y="21"/>
                  </a:cubicBezTo>
                  <a:cubicBezTo>
                    <a:pt x="8" y="21"/>
                    <a:pt x="11" y="22"/>
                    <a:pt x="12" y="23"/>
                  </a:cubicBezTo>
                  <a:cubicBezTo>
                    <a:pt x="13" y="23"/>
                    <a:pt x="13" y="23"/>
                    <a:pt x="13" y="23"/>
                  </a:cubicBezTo>
                  <a:cubicBezTo>
                    <a:pt x="13" y="23"/>
                    <a:pt x="13" y="23"/>
                    <a:pt x="13" y="23"/>
                  </a:cubicBezTo>
                  <a:cubicBezTo>
                    <a:pt x="13" y="23"/>
                    <a:pt x="13" y="23"/>
                    <a:pt x="13" y="23"/>
                  </a:cubicBezTo>
                  <a:cubicBezTo>
                    <a:pt x="13" y="24"/>
                    <a:pt x="13" y="24"/>
                    <a:pt x="13" y="24"/>
                  </a:cubicBezTo>
                  <a:cubicBezTo>
                    <a:pt x="12" y="25"/>
                    <a:pt x="11" y="26"/>
                    <a:pt x="10" y="26"/>
                  </a:cubicBezTo>
                  <a:cubicBezTo>
                    <a:pt x="10" y="27"/>
                    <a:pt x="10" y="27"/>
                    <a:pt x="10" y="27"/>
                  </a:cubicBezTo>
                  <a:cubicBezTo>
                    <a:pt x="10" y="27"/>
                    <a:pt x="9" y="27"/>
                    <a:pt x="9" y="27"/>
                  </a:cubicBezTo>
                  <a:cubicBezTo>
                    <a:pt x="9" y="27"/>
                    <a:pt x="9" y="27"/>
                    <a:pt x="9" y="27"/>
                  </a:cubicBezTo>
                  <a:cubicBezTo>
                    <a:pt x="9" y="28"/>
                    <a:pt x="8" y="28"/>
                    <a:pt x="8" y="28"/>
                  </a:cubicBezTo>
                  <a:cubicBezTo>
                    <a:pt x="7" y="28"/>
                    <a:pt x="5" y="27"/>
                    <a:pt x="4" y="26"/>
                  </a:cubicBezTo>
                  <a:cubicBezTo>
                    <a:pt x="4" y="26"/>
                    <a:pt x="3" y="26"/>
                    <a:pt x="3" y="26"/>
                  </a:cubicBezTo>
                  <a:cubicBezTo>
                    <a:pt x="3" y="26"/>
                    <a:pt x="3" y="26"/>
                    <a:pt x="3" y="26"/>
                  </a:cubicBezTo>
                  <a:cubicBezTo>
                    <a:pt x="4" y="29"/>
                    <a:pt x="6" y="31"/>
                    <a:pt x="9" y="33"/>
                  </a:cubicBezTo>
                  <a:cubicBezTo>
                    <a:pt x="9" y="34"/>
                    <a:pt x="9" y="34"/>
                    <a:pt x="9" y="34"/>
                  </a:cubicBezTo>
                  <a:cubicBezTo>
                    <a:pt x="10" y="34"/>
                    <a:pt x="10" y="34"/>
                    <a:pt x="10" y="34"/>
                  </a:cubicBezTo>
                  <a:cubicBezTo>
                    <a:pt x="10" y="34"/>
                    <a:pt x="10" y="34"/>
                    <a:pt x="10" y="34"/>
                  </a:cubicBezTo>
                  <a:cubicBezTo>
                    <a:pt x="12" y="34"/>
                    <a:pt x="15" y="31"/>
                    <a:pt x="16" y="29"/>
                  </a:cubicBezTo>
                  <a:cubicBezTo>
                    <a:pt x="16" y="29"/>
                    <a:pt x="17" y="28"/>
                    <a:pt x="17" y="28"/>
                  </a:cubicBezTo>
                  <a:cubicBezTo>
                    <a:pt x="18" y="28"/>
                    <a:pt x="18" y="28"/>
                    <a:pt x="18" y="28"/>
                  </a:cubicBezTo>
                  <a:cubicBezTo>
                    <a:pt x="19" y="27"/>
                    <a:pt x="19" y="27"/>
                    <a:pt x="19" y="27"/>
                  </a:cubicBezTo>
                  <a:cubicBezTo>
                    <a:pt x="19" y="27"/>
                    <a:pt x="19" y="27"/>
                    <a:pt x="19" y="27"/>
                  </a:cubicBezTo>
                  <a:cubicBezTo>
                    <a:pt x="21" y="27"/>
                    <a:pt x="22" y="27"/>
                    <a:pt x="23" y="28"/>
                  </a:cubicBezTo>
                  <a:cubicBezTo>
                    <a:pt x="24" y="28"/>
                    <a:pt x="25" y="26"/>
                    <a:pt x="25" y="25"/>
                  </a:cubicBezTo>
                  <a:cubicBezTo>
                    <a:pt x="25" y="25"/>
                    <a:pt x="25" y="25"/>
                    <a:pt x="25" y="25"/>
                  </a:cubicBezTo>
                  <a:cubicBezTo>
                    <a:pt x="24" y="24"/>
                    <a:pt x="23" y="23"/>
                    <a:pt x="22" y="23"/>
                  </a:cubicBezTo>
                  <a:cubicBezTo>
                    <a:pt x="22" y="23"/>
                    <a:pt x="22" y="23"/>
                    <a:pt x="22" y="23"/>
                  </a:cubicBezTo>
                  <a:cubicBezTo>
                    <a:pt x="22" y="22"/>
                    <a:pt x="22" y="22"/>
                    <a:pt x="22" y="22"/>
                  </a:cubicBezTo>
                  <a:cubicBezTo>
                    <a:pt x="23" y="21"/>
                    <a:pt x="23" y="21"/>
                    <a:pt x="23" y="21"/>
                  </a:cubicBezTo>
                  <a:cubicBezTo>
                    <a:pt x="23" y="20"/>
                    <a:pt x="23" y="20"/>
                    <a:pt x="23" y="20"/>
                  </a:cubicBezTo>
                  <a:cubicBezTo>
                    <a:pt x="24" y="20"/>
                    <a:pt x="24" y="20"/>
                    <a:pt x="24" y="20"/>
                  </a:cubicBezTo>
                  <a:cubicBezTo>
                    <a:pt x="26" y="21"/>
                    <a:pt x="28" y="22"/>
                    <a:pt x="30" y="22"/>
                  </a:cubicBezTo>
                  <a:cubicBezTo>
                    <a:pt x="32" y="23"/>
                    <a:pt x="32" y="23"/>
                    <a:pt x="32" y="23"/>
                  </a:cubicBezTo>
                  <a:cubicBezTo>
                    <a:pt x="33" y="23"/>
                    <a:pt x="33" y="23"/>
                    <a:pt x="33" y="23"/>
                  </a:cubicBezTo>
                  <a:cubicBezTo>
                    <a:pt x="34" y="24"/>
                    <a:pt x="35" y="25"/>
                    <a:pt x="36" y="25"/>
                  </a:cubicBezTo>
                  <a:cubicBezTo>
                    <a:pt x="36" y="25"/>
                    <a:pt x="37" y="25"/>
                    <a:pt x="37" y="25"/>
                  </a:cubicBezTo>
                  <a:cubicBezTo>
                    <a:pt x="38" y="23"/>
                    <a:pt x="39" y="22"/>
                    <a:pt x="39" y="21"/>
                  </a:cubicBezTo>
                  <a:cubicBezTo>
                    <a:pt x="39" y="21"/>
                    <a:pt x="39" y="21"/>
                    <a:pt x="39" y="21"/>
                  </a:cubicBezTo>
                  <a:cubicBezTo>
                    <a:pt x="39" y="21"/>
                    <a:pt x="40" y="21"/>
                    <a:pt x="40" y="21"/>
                  </a:cubicBezTo>
                  <a:cubicBezTo>
                    <a:pt x="39" y="21"/>
                    <a:pt x="39" y="21"/>
                    <a:pt x="39" y="21"/>
                  </a:cubicBezTo>
                  <a:cubicBezTo>
                    <a:pt x="39" y="20"/>
                    <a:pt x="39" y="20"/>
                    <a:pt x="39" y="20"/>
                  </a:cubicBezTo>
                  <a:cubicBezTo>
                    <a:pt x="39" y="20"/>
                    <a:pt x="40" y="20"/>
                    <a:pt x="40" y="20"/>
                  </a:cubicBezTo>
                  <a:cubicBezTo>
                    <a:pt x="43" y="19"/>
                    <a:pt x="47" y="17"/>
                    <a:pt x="50" y="16"/>
                  </a:cubicBezTo>
                  <a:cubicBezTo>
                    <a:pt x="51" y="15"/>
                    <a:pt x="52" y="15"/>
                    <a:pt x="51" y="14"/>
                  </a:cubicBezTo>
                  <a:cubicBezTo>
                    <a:pt x="51" y="13"/>
                    <a:pt x="51" y="13"/>
                    <a:pt x="51" y="13"/>
                  </a:cubicBezTo>
                  <a:moveTo>
                    <a:pt x="37" y="15"/>
                  </a:moveTo>
                  <a:cubicBezTo>
                    <a:pt x="38" y="14"/>
                    <a:pt x="38" y="14"/>
                    <a:pt x="38" y="14"/>
                  </a:cubicBezTo>
                  <a:cubicBezTo>
                    <a:pt x="39" y="13"/>
                    <a:pt x="39" y="13"/>
                    <a:pt x="39" y="13"/>
                  </a:cubicBezTo>
                  <a:cubicBezTo>
                    <a:pt x="39" y="13"/>
                    <a:pt x="39" y="12"/>
                    <a:pt x="38" y="12"/>
                  </a:cubicBezTo>
                  <a:cubicBezTo>
                    <a:pt x="38" y="12"/>
                    <a:pt x="38" y="12"/>
                    <a:pt x="38" y="12"/>
                  </a:cubicBezTo>
                  <a:cubicBezTo>
                    <a:pt x="38" y="12"/>
                    <a:pt x="38" y="12"/>
                    <a:pt x="38" y="12"/>
                  </a:cubicBezTo>
                  <a:cubicBezTo>
                    <a:pt x="37" y="12"/>
                    <a:pt x="37" y="12"/>
                    <a:pt x="37" y="12"/>
                  </a:cubicBezTo>
                  <a:cubicBezTo>
                    <a:pt x="36" y="11"/>
                    <a:pt x="36" y="11"/>
                    <a:pt x="36" y="11"/>
                  </a:cubicBezTo>
                  <a:cubicBezTo>
                    <a:pt x="36" y="11"/>
                    <a:pt x="36" y="11"/>
                    <a:pt x="36" y="11"/>
                  </a:cubicBezTo>
                  <a:cubicBezTo>
                    <a:pt x="37" y="10"/>
                    <a:pt x="37" y="10"/>
                    <a:pt x="37" y="10"/>
                  </a:cubicBezTo>
                  <a:cubicBezTo>
                    <a:pt x="36" y="10"/>
                    <a:pt x="36" y="10"/>
                    <a:pt x="36" y="10"/>
                  </a:cubicBezTo>
                  <a:cubicBezTo>
                    <a:pt x="37" y="10"/>
                    <a:pt x="37" y="10"/>
                    <a:pt x="37" y="10"/>
                  </a:cubicBezTo>
                  <a:cubicBezTo>
                    <a:pt x="40" y="9"/>
                    <a:pt x="40" y="9"/>
                    <a:pt x="40" y="9"/>
                  </a:cubicBezTo>
                  <a:cubicBezTo>
                    <a:pt x="40" y="9"/>
                    <a:pt x="40" y="9"/>
                    <a:pt x="40" y="9"/>
                  </a:cubicBezTo>
                  <a:cubicBezTo>
                    <a:pt x="41" y="9"/>
                    <a:pt x="41" y="9"/>
                    <a:pt x="41" y="9"/>
                  </a:cubicBezTo>
                  <a:cubicBezTo>
                    <a:pt x="41" y="10"/>
                    <a:pt x="43" y="11"/>
                    <a:pt x="43" y="13"/>
                  </a:cubicBezTo>
                  <a:cubicBezTo>
                    <a:pt x="43" y="14"/>
                    <a:pt x="43" y="14"/>
                    <a:pt x="43" y="14"/>
                  </a:cubicBezTo>
                  <a:cubicBezTo>
                    <a:pt x="42" y="15"/>
                    <a:pt x="40" y="16"/>
                    <a:pt x="38" y="16"/>
                  </a:cubicBezTo>
                  <a:cubicBezTo>
                    <a:pt x="38" y="16"/>
                    <a:pt x="38" y="16"/>
                    <a:pt x="38" y="16"/>
                  </a:cubicBezTo>
                  <a:cubicBezTo>
                    <a:pt x="38" y="15"/>
                    <a:pt x="38" y="15"/>
                    <a:pt x="38" y="15"/>
                  </a:cubicBezTo>
                  <a:cubicBezTo>
                    <a:pt x="37" y="15"/>
                    <a:pt x="37" y="15"/>
                    <a:pt x="37" y="15"/>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70" name="Freeform 138"/>
            <p:cNvSpPr/>
            <p:nvPr userDrawn="1"/>
          </p:nvSpPr>
          <p:spPr bwMode="auto">
            <a:xfrm>
              <a:off x="1239" y="750"/>
              <a:ext cx="10" cy="19"/>
            </a:xfrm>
            <a:custGeom>
              <a:avLst/>
              <a:gdLst>
                <a:gd name="T0" fmla="*/ 2 w 8"/>
                <a:gd name="T1" fmla="*/ 15 h 15"/>
                <a:gd name="T2" fmla="*/ 0 w 8"/>
                <a:gd name="T3" fmla="*/ 14 h 15"/>
                <a:gd name="T4" fmla="*/ 2 w 8"/>
                <a:gd name="T5" fmla="*/ 9 h 15"/>
                <a:gd name="T6" fmla="*/ 3 w 8"/>
                <a:gd name="T7" fmla="*/ 8 h 15"/>
                <a:gd name="T8" fmla="*/ 3 w 8"/>
                <a:gd name="T9" fmla="*/ 8 h 15"/>
                <a:gd name="T10" fmla="*/ 3 w 8"/>
                <a:gd name="T11" fmla="*/ 7 h 15"/>
                <a:gd name="T12" fmla="*/ 4 w 8"/>
                <a:gd name="T13" fmla="*/ 5 h 15"/>
                <a:gd name="T14" fmla="*/ 5 w 8"/>
                <a:gd name="T15" fmla="*/ 4 h 15"/>
                <a:gd name="T16" fmla="*/ 7 w 8"/>
                <a:gd name="T17" fmla="*/ 0 h 15"/>
                <a:gd name="T18" fmla="*/ 8 w 8"/>
                <a:gd name="T19" fmla="*/ 1 h 15"/>
                <a:gd name="T20" fmla="*/ 8 w 8"/>
                <a:gd name="T21" fmla="*/ 2 h 15"/>
                <a:gd name="T22" fmla="*/ 8 w 8"/>
                <a:gd name="T23" fmla="*/ 2 h 15"/>
                <a:gd name="T24" fmla="*/ 8 w 8"/>
                <a:gd name="T25" fmla="*/ 3 h 15"/>
                <a:gd name="T26" fmla="*/ 8 w 8"/>
                <a:gd name="T27" fmla="*/ 7 h 15"/>
                <a:gd name="T28" fmla="*/ 8 w 8"/>
                <a:gd name="T29" fmla="*/ 8 h 15"/>
                <a:gd name="T30" fmla="*/ 8 w 8"/>
                <a:gd name="T31" fmla="*/ 9 h 15"/>
                <a:gd name="T32" fmla="*/ 6 w 8"/>
                <a:gd name="T33" fmla="*/ 13 h 15"/>
                <a:gd name="T34" fmla="*/ 5 w 8"/>
                <a:gd name="T35" fmla="*/ 14 h 15"/>
                <a:gd name="T36" fmla="*/ 5 w 8"/>
                <a:gd name="T37" fmla="*/ 14 h 15"/>
                <a:gd name="T38" fmla="*/ 3 w 8"/>
                <a:gd name="T39" fmla="*/ 15 h 15"/>
                <a:gd name="T40" fmla="*/ 2 w 8"/>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 h="15">
                  <a:moveTo>
                    <a:pt x="2" y="15"/>
                  </a:moveTo>
                  <a:cubicBezTo>
                    <a:pt x="2" y="15"/>
                    <a:pt x="1" y="14"/>
                    <a:pt x="0" y="14"/>
                  </a:cubicBezTo>
                  <a:cubicBezTo>
                    <a:pt x="0" y="12"/>
                    <a:pt x="1" y="11"/>
                    <a:pt x="2" y="9"/>
                  </a:cubicBezTo>
                  <a:cubicBezTo>
                    <a:pt x="2" y="9"/>
                    <a:pt x="3" y="8"/>
                    <a:pt x="3" y="8"/>
                  </a:cubicBezTo>
                  <a:cubicBezTo>
                    <a:pt x="3" y="8"/>
                    <a:pt x="3" y="8"/>
                    <a:pt x="3" y="8"/>
                  </a:cubicBezTo>
                  <a:cubicBezTo>
                    <a:pt x="3" y="7"/>
                    <a:pt x="3" y="7"/>
                    <a:pt x="3" y="7"/>
                  </a:cubicBezTo>
                  <a:cubicBezTo>
                    <a:pt x="4" y="7"/>
                    <a:pt x="4" y="6"/>
                    <a:pt x="4" y="5"/>
                  </a:cubicBezTo>
                  <a:cubicBezTo>
                    <a:pt x="4" y="5"/>
                    <a:pt x="4" y="4"/>
                    <a:pt x="5" y="4"/>
                  </a:cubicBezTo>
                  <a:cubicBezTo>
                    <a:pt x="5" y="2"/>
                    <a:pt x="6" y="0"/>
                    <a:pt x="7" y="0"/>
                  </a:cubicBezTo>
                  <a:cubicBezTo>
                    <a:pt x="7" y="0"/>
                    <a:pt x="8" y="0"/>
                    <a:pt x="8" y="1"/>
                  </a:cubicBezTo>
                  <a:cubicBezTo>
                    <a:pt x="8" y="1"/>
                    <a:pt x="8" y="1"/>
                    <a:pt x="8" y="2"/>
                  </a:cubicBezTo>
                  <a:cubicBezTo>
                    <a:pt x="8" y="2"/>
                    <a:pt x="8" y="2"/>
                    <a:pt x="8" y="2"/>
                  </a:cubicBezTo>
                  <a:cubicBezTo>
                    <a:pt x="8" y="3"/>
                    <a:pt x="8" y="3"/>
                    <a:pt x="8" y="3"/>
                  </a:cubicBezTo>
                  <a:cubicBezTo>
                    <a:pt x="8" y="5"/>
                    <a:pt x="8" y="6"/>
                    <a:pt x="8" y="7"/>
                  </a:cubicBezTo>
                  <a:cubicBezTo>
                    <a:pt x="8" y="8"/>
                    <a:pt x="8" y="8"/>
                    <a:pt x="8" y="8"/>
                  </a:cubicBezTo>
                  <a:cubicBezTo>
                    <a:pt x="8" y="8"/>
                    <a:pt x="8" y="9"/>
                    <a:pt x="8" y="9"/>
                  </a:cubicBezTo>
                  <a:cubicBezTo>
                    <a:pt x="7" y="11"/>
                    <a:pt x="7" y="12"/>
                    <a:pt x="6" y="13"/>
                  </a:cubicBezTo>
                  <a:cubicBezTo>
                    <a:pt x="5" y="14"/>
                    <a:pt x="5" y="14"/>
                    <a:pt x="5" y="14"/>
                  </a:cubicBezTo>
                  <a:cubicBezTo>
                    <a:pt x="5" y="14"/>
                    <a:pt x="5" y="14"/>
                    <a:pt x="5" y="14"/>
                  </a:cubicBezTo>
                  <a:cubicBezTo>
                    <a:pt x="4" y="14"/>
                    <a:pt x="3" y="15"/>
                    <a:pt x="3" y="15"/>
                  </a:cubicBezTo>
                  <a:lnTo>
                    <a:pt x="2" y="15"/>
                  </a:ln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71" name="Freeform 139"/>
            <p:cNvSpPr/>
            <p:nvPr userDrawn="1"/>
          </p:nvSpPr>
          <p:spPr bwMode="auto">
            <a:xfrm>
              <a:off x="1239" y="750"/>
              <a:ext cx="10" cy="19"/>
            </a:xfrm>
            <a:custGeom>
              <a:avLst/>
              <a:gdLst>
                <a:gd name="T0" fmla="*/ 2 w 8"/>
                <a:gd name="T1" fmla="*/ 15 h 15"/>
                <a:gd name="T2" fmla="*/ 3 w 8"/>
                <a:gd name="T3" fmla="*/ 15 h 15"/>
                <a:gd name="T4" fmla="*/ 5 w 8"/>
                <a:gd name="T5" fmla="*/ 14 h 15"/>
                <a:gd name="T6" fmla="*/ 5 w 8"/>
                <a:gd name="T7" fmla="*/ 14 h 15"/>
                <a:gd name="T8" fmla="*/ 6 w 8"/>
                <a:gd name="T9" fmla="*/ 13 h 15"/>
                <a:gd name="T10" fmla="*/ 8 w 8"/>
                <a:gd name="T11" fmla="*/ 9 h 15"/>
                <a:gd name="T12" fmla="*/ 8 w 8"/>
                <a:gd name="T13" fmla="*/ 8 h 15"/>
                <a:gd name="T14" fmla="*/ 8 w 8"/>
                <a:gd name="T15" fmla="*/ 7 h 15"/>
                <a:gd name="T16" fmla="*/ 8 w 8"/>
                <a:gd name="T17" fmla="*/ 3 h 15"/>
                <a:gd name="T18" fmla="*/ 8 w 8"/>
                <a:gd name="T19" fmla="*/ 2 h 15"/>
                <a:gd name="T20" fmla="*/ 8 w 8"/>
                <a:gd name="T21" fmla="*/ 2 h 15"/>
                <a:gd name="T22" fmla="*/ 8 w 8"/>
                <a:gd name="T23" fmla="*/ 2 h 15"/>
                <a:gd name="T24" fmla="*/ 8 w 8"/>
                <a:gd name="T25" fmla="*/ 1 h 15"/>
                <a:gd name="T26" fmla="*/ 7 w 8"/>
                <a:gd name="T27" fmla="*/ 0 h 15"/>
                <a:gd name="T28" fmla="*/ 5 w 8"/>
                <a:gd name="T29" fmla="*/ 4 h 15"/>
                <a:gd name="T30" fmla="*/ 4 w 8"/>
                <a:gd name="T31" fmla="*/ 5 h 15"/>
                <a:gd name="T32" fmla="*/ 3 w 8"/>
                <a:gd name="T33" fmla="*/ 7 h 15"/>
                <a:gd name="T34" fmla="*/ 3 w 8"/>
                <a:gd name="T35" fmla="*/ 8 h 15"/>
                <a:gd name="T36" fmla="*/ 3 w 8"/>
                <a:gd name="T37" fmla="*/ 8 h 15"/>
                <a:gd name="T38" fmla="*/ 2 w 8"/>
                <a:gd name="T39" fmla="*/ 9 h 15"/>
                <a:gd name="T40" fmla="*/ 0 w 8"/>
                <a:gd name="T41" fmla="*/ 14 h 15"/>
                <a:gd name="T42" fmla="*/ 2 w 8"/>
                <a:gd name="T43"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 h="15">
                  <a:moveTo>
                    <a:pt x="2" y="15"/>
                  </a:moveTo>
                  <a:cubicBezTo>
                    <a:pt x="3" y="15"/>
                    <a:pt x="3" y="15"/>
                    <a:pt x="3" y="15"/>
                  </a:cubicBezTo>
                  <a:cubicBezTo>
                    <a:pt x="3" y="15"/>
                    <a:pt x="4" y="14"/>
                    <a:pt x="5" y="14"/>
                  </a:cubicBezTo>
                  <a:cubicBezTo>
                    <a:pt x="5" y="14"/>
                    <a:pt x="5" y="14"/>
                    <a:pt x="5" y="14"/>
                  </a:cubicBezTo>
                  <a:cubicBezTo>
                    <a:pt x="6" y="13"/>
                    <a:pt x="6" y="13"/>
                    <a:pt x="6" y="13"/>
                  </a:cubicBezTo>
                  <a:cubicBezTo>
                    <a:pt x="7" y="12"/>
                    <a:pt x="7" y="10"/>
                    <a:pt x="8" y="9"/>
                  </a:cubicBezTo>
                  <a:cubicBezTo>
                    <a:pt x="8" y="9"/>
                    <a:pt x="8" y="8"/>
                    <a:pt x="8" y="8"/>
                  </a:cubicBezTo>
                  <a:cubicBezTo>
                    <a:pt x="8" y="7"/>
                    <a:pt x="8" y="7"/>
                    <a:pt x="8" y="7"/>
                  </a:cubicBezTo>
                  <a:cubicBezTo>
                    <a:pt x="8" y="6"/>
                    <a:pt x="8" y="5"/>
                    <a:pt x="8" y="3"/>
                  </a:cubicBezTo>
                  <a:cubicBezTo>
                    <a:pt x="8" y="3"/>
                    <a:pt x="8" y="3"/>
                    <a:pt x="8" y="2"/>
                  </a:cubicBezTo>
                  <a:cubicBezTo>
                    <a:pt x="8" y="2"/>
                    <a:pt x="8" y="2"/>
                    <a:pt x="8" y="2"/>
                  </a:cubicBezTo>
                  <a:cubicBezTo>
                    <a:pt x="8" y="2"/>
                    <a:pt x="8" y="2"/>
                    <a:pt x="8" y="2"/>
                  </a:cubicBezTo>
                  <a:cubicBezTo>
                    <a:pt x="8" y="1"/>
                    <a:pt x="8" y="1"/>
                    <a:pt x="8" y="1"/>
                  </a:cubicBezTo>
                  <a:cubicBezTo>
                    <a:pt x="8" y="0"/>
                    <a:pt x="7" y="0"/>
                    <a:pt x="7" y="0"/>
                  </a:cubicBezTo>
                  <a:cubicBezTo>
                    <a:pt x="6" y="0"/>
                    <a:pt x="5" y="2"/>
                    <a:pt x="5" y="4"/>
                  </a:cubicBezTo>
                  <a:cubicBezTo>
                    <a:pt x="5" y="4"/>
                    <a:pt x="4" y="5"/>
                    <a:pt x="4" y="5"/>
                  </a:cubicBezTo>
                  <a:cubicBezTo>
                    <a:pt x="4" y="6"/>
                    <a:pt x="4" y="7"/>
                    <a:pt x="3" y="7"/>
                  </a:cubicBezTo>
                  <a:cubicBezTo>
                    <a:pt x="3" y="8"/>
                    <a:pt x="3" y="8"/>
                    <a:pt x="3" y="8"/>
                  </a:cubicBezTo>
                  <a:cubicBezTo>
                    <a:pt x="3" y="8"/>
                    <a:pt x="3" y="8"/>
                    <a:pt x="3" y="8"/>
                  </a:cubicBezTo>
                  <a:cubicBezTo>
                    <a:pt x="3" y="8"/>
                    <a:pt x="2" y="9"/>
                    <a:pt x="2" y="9"/>
                  </a:cubicBezTo>
                  <a:cubicBezTo>
                    <a:pt x="1" y="11"/>
                    <a:pt x="0" y="12"/>
                    <a:pt x="0" y="14"/>
                  </a:cubicBezTo>
                  <a:cubicBezTo>
                    <a:pt x="1" y="14"/>
                    <a:pt x="2" y="15"/>
                    <a:pt x="2" y="15"/>
                  </a:cubicBezTo>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72" name="Freeform 140"/>
            <p:cNvSpPr/>
            <p:nvPr userDrawn="1"/>
          </p:nvSpPr>
          <p:spPr bwMode="auto">
            <a:xfrm>
              <a:off x="1229" y="757"/>
              <a:ext cx="7" cy="9"/>
            </a:xfrm>
            <a:custGeom>
              <a:avLst/>
              <a:gdLst>
                <a:gd name="T0" fmla="*/ 3 w 6"/>
                <a:gd name="T1" fmla="*/ 7 h 7"/>
                <a:gd name="T2" fmla="*/ 1 w 6"/>
                <a:gd name="T3" fmla="*/ 6 h 7"/>
                <a:gd name="T4" fmla="*/ 5 w 6"/>
                <a:gd name="T5" fmla="*/ 0 h 7"/>
                <a:gd name="T6" fmla="*/ 6 w 6"/>
                <a:gd name="T7" fmla="*/ 1 h 7"/>
                <a:gd name="T8" fmla="*/ 5 w 6"/>
                <a:gd name="T9" fmla="*/ 5 h 7"/>
                <a:gd name="T10" fmla="*/ 3 w 6"/>
                <a:gd name="T11" fmla="*/ 7 h 7"/>
              </a:gdLst>
              <a:ahLst/>
              <a:cxnLst>
                <a:cxn ang="0">
                  <a:pos x="T0" y="T1"/>
                </a:cxn>
                <a:cxn ang="0">
                  <a:pos x="T2" y="T3"/>
                </a:cxn>
                <a:cxn ang="0">
                  <a:pos x="T4" y="T5"/>
                </a:cxn>
                <a:cxn ang="0">
                  <a:pos x="T6" y="T7"/>
                </a:cxn>
                <a:cxn ang="0">
                  <a:pos x="T8" y="T9"/>
                </a:cxn>
                <a:cxn ang="0">
                  <a:pos x="T10" y="T11"/>
                </a:cxn>
              </a:cxnLst>
              <a:rect l="0" t="0" r="r" b="b"/>
              <a:pathLst>
                <a:path w="6" h="7">
                  <a:moveTo>
                    <a:pt x="3" y="7"/>
                  </a:moveTo>
                  <a:cubicBezTo>
                    <a:pt x="3" y="7"/>
                    <a:pt x="2" y="6"/>
                    <a:pt x="1" y="6"/>
                  </a:cubicBezTo>
                  <a:cubicBezTo>
                    <a:pt x="0" y="3"/>
                    <a:pt x="4" y="0"/>
                    <a:pt x="5" y="0"/>
                  </a:cubicBezTo>
                  <a:cubicBezTo>
                    <a:pt x="5" y="0"/>
                    <a:pt x="6" y="1"/>
                    <a:pt x="6" y="1"/>
                  </a:cubicBezTo>
                  <a:cubicBezTo>
                    <a:pt x="6" y="2"/>
                    <a:pt x="6" y="4"/>
                    <a:pt x="5" y="5"/>
                  </a:cubicBezTo>
                  <a:cubicBezTo>
                    <a:pt x="4" y="6"/>
                    <a:pt x="3" y="7"/>
                    <a:pt x="3" y="7"/>
                  </a:cubicBezTo>
                  <a:close/>
                </a:path>
              </a:pathLst>
            </a:custGeom>
            <a:solidFill>
              <a:srgbClr val="003F88"/>
            </a:solidFill>
            <a:ln>
              <a:noFill/>
            </a:ln>
          </p:spPr>
          <p:txBody>
            <a:bodyPr vert="horz" wrap="square" lIns="91440" tIns="45720" rIns="91440" bIns="45720" numCol="1" anchor="t" anchorCtr="0" compatLnSpc="1"/>
            <a:lstStyle/>
            <a:p>
              <a:endParaRPr lang="zh-CN" altLang="en-US"/>
            </a:p>
          </p:txBody>
        </p:sp>
        <p:sp>
          <p:nvSpPr>
            <p:cNvPr id="73" name="Freeform 141"/>
            <p:cNvSpPr/>
            <p:nvPr userDrawn="1"/>
          </p:nvSpPr>
          <p:spPr bwMode="auto">
            <a:xfrm>
              <a:off x="1229" y="757"/>
              <a:ext cx="7" cy="9"/>
            </a:xfrm>
            <a:custGeom>
              <a:avLst/>
              <a:gdLst>
                <a:gd name="T0" fmla="*/ 3 w 6"/>
                <a:gd name="T1" fmla="*/ 7 h 7"/>
                <a:gd name="T2" fmla="*/ 3 w 6"/>
                <a:gd name="T3" fmla="*/ 7 h 7"/>
                <a:gd name="T4" fmla="*/ 5 w 6"/>
                <a:gd name="T5" fmla="*/ 5 h 7"/>
                <a:gd name="T6" fmla="*/ 6 w 6"/>
                <a:gd name="T7" fmla="*/ 1 h 7"/>
                <a:gd name="T8" fmla="*/ 5 w 6"/>
                <a:gd name="T9" fmla="*/ 0 h 7"/>
                <a:gd name="T10" fmla="*/ 1 w 6"/>
                <a:gd name="T11" fmla="*/ 6 h 7"/>
                <a:gd name="T12" fmla="*/ 3 w 6"/>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3" y="7"/>
                  </a:moveTo>
                  <a:cubicBezTo>
                    <a:pt x="3" y="7"/>
                    <a:pt x="3" y="7"/>
                    <a:pt x="3" y="7"/>
                  </a:cubicBezTo>
                  <a:cubicBezTo>
                    <a:pt x="3" y="7"/>
                    <a:pt x="4" y="6"/>
                    <a:pt x="5" y="5"/>
                  </a:cubicBezTo>
                  <a:cubicBezTo>
                    <a:pt x="6" y="4"/>
                    <a:pt x="6" y="2"/>
                    <a:pt x="6" y="1"/>
                  </a:cubicBezTo>
                  <a:cubicBezTo>
                    <a:pt x="6" y="1"/>
                    <a:pt x="5" y="0"/>
                    <a:pt x="5" y="0"/>
                  </a:cubicBezTo>
                  <a:cubicBezTo>
                    <a:pt x="4" y="0"/>
                    <a:pt x="0" y="3"/>
                    <a:pt x="1" y="6"/>
                  </a:cubicBezTo>
                  <a:cubicBezTo>
                    <a:pt x="2" y="6"/>
                    <a:pt x="3" y="7"/>
                    <a:pt x="3" y="7"/>
                  </a:cubicBezTo>
                </a:path>
              </a:pathLst>
            </a:custGeom>
            <a:solidFill>
              <a:srgbClr val="003F88"/>
            </a:solidFill>
            <a:ln>
              <a:noFill/>
            </a:ln>
          </p:spPr>
          <p:txBody>
            <a:bodyPr vert="horz" wrap="square" lIns="91440" tIns="45720" rIns="91440" bIns="45720" numCol="1" anchor="t" anchorCtr="0" compatLnSpc="1"/>
            <a:lstStyle/>
            <a:p>
              <a:endParaRPr lang="zh-CN" altLang="en-US"/>
            </a:p>
          </p:txBody>
        </p:sp>
      </p:grpSp>
      <p:cxnSp>
        <p:nvCxnSpPr>
          <p:cNvPr id="76" name="直接连接符 75"/>
          <p:cNvCxnSpPr/>
          <p:nvPr userDrawn="1"/>
        </p:nvCxnSpPr>
        <p:spPr>
          <a:xfrm>
            <a:off x="719833" y="803088"/>
            <a:ext cx="10790378" cy="0"/>
          </a:xfrm>
          <a:prstGeom prst="line">
            <a:avLst/>
          </a:prstGeom>
          <a:ln w="38100">
            <a:solidFill>
              <a:srgbClr val="04428A"/>
            </a:solidFill>
          </a:ln>
        </p:spPr>
        <p:style>
          <a:lnRef idx="1">
            <a:schemeClr val="accent1"/>
          </a:lnRef>
          <a:fillRef idx="0">
            <a:schemeClr val="accent1"/>
          </a:fillRef>
          <a:effectRef idx="0">
            <a:schemeClr val="accent1"/>
          </a:effectRef>
          <a:fontRef idx="minor">
            <a:schemeClr val="tx1"/>
          </a:fontRef>
        </p:style>
      </p:cxnSp>
      <p:sp>
        <p:nvSpPr>
          <p:cNvPr id="77" name="矩形 76"/>
          <p:cNvSpPr/>
          <p:nvPr userDrawn="1"/>
        </p:nvSpPr>
        <p:spPr>
          <a:xfrm>
            <a:off x="304647" y="-5194"/>
            <a:ext cx="236852" cy="808281"/>
          </a:xfrm>
          <a:prstGeom prst="rect">
            <a:avLst/>
          </a:pr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4353" y="6468880"/>
            <a:ext cx="1865182" cy="39267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0C782F-F9D2-44A1-BC3F-04F6BB5CC08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88CC23-743B-4CDD-8A77-7335E521C2A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endParaRPr lang="zh-CN" altLang="en-US" dirty="0"/>
          </a:p>
        </p:txBody>
      </p:sp>
      <p:sp>
        <p:nvSpPr>
          <p:cNvPr id="3" name="灯片编号占位符 2"/>
          <p:cNvSpPr>
            <a:spLocks noGrp="1"/>
          </p:cNvSpPr>
          <p:nvPr>
            <p:ph type="sldNum" sz="quarter" idx="12"/>
          </p:nvPr>
        </p:nvSpPr>
        <p:spPr/>
        <p:txBody>
          <a:bodyPr/>
          <a:lstStyle/>
          <a:p>
            <a:fld id="{1AAC388E-FA9E-4A2C-95EA-1F6B3A07935A}" type="slidenum">
              <a:rPr lang="zh-CN" altLang="en-US" smtClean="0"/>
            </a:fld>
            <a:endParaRPr lang="zh-CN" altLang="en-US" dirty="0"/>
          </a:p>
        </p:txBody>
      </p:sp>
      <p:sp>
        <p:nvSpPr>
          <p:cNvPr id="6" name="矩形 5"/>
          <p:cNvSpPr/>
          <p:nvPr/>
        </p:nvSpPr>
        <p:spPr>
          <a:xfrm>
            <a:off x="930414" y="895898"/>
            <a:ext cx="877163" cy="923330"/>
          </a:xfrm>
          <a:prstGeom prst="rect">
            <a:avLst/>
          </a:prstGeom>
          <a:noFill/>
        </p:spPr>
        <p:txBody>
          <a:bodyPr wrap="none" lIns="91440" tIns="45720" rIns="91440" bIns="45720">
            <a:spAutoFit/>
          </a:bodyPr>
          <a:lstStyle/>
          <a:p>
            <a:pPr algn="ctr"/>
            <a:r>
              <a:rPr lang="zh-CN" altLang="en-US" sz="5400" b="1" cap="none" spc="0" dirty="0">
                <a:ln w="10160">
                  <a:noFill/>
                  <a:prstDash val="solid"/>
                </a:ln>
                <a:solidFill>
                  <a:schemeClr val="tx2"/>
                </a:solidFill>
                <a:effectLst>
                  <a:outerShdw blurRad="38100" dist="22860" dir="5400000" algn="tl" rotWithShape="0">
                    <a:srgbClr val="000000">
                      <a:alpha val="30000"/>
                    </a:srgbClr>
                  </a:outerShdw>
                </a:effectLst>
              </a:rPr>
              <a:t>“</a:t>
            </a:r>
            <a:endParaRPr lang="zh-CN" altLang="en-US" sz="5400" b="1" cap="none" spc="0" dirty="0">
              <a:ln w="10160">
                <a:noFill/>
                <a:prstDash val="solid"/>
              </a:ln>
              <a:solidFill>
                <a:schemeClr val="tx2"/>
              </a:solidFill>
              <a:effectLst>
                <a:outerShdw blurRad="38100" dist="22860" dir="5400000" algn="tl" rotWithShape="0">
                  <a:srgbClr val="000000">
                    <a:alpha val="30000"/>
                  </a:srgbClr>
                </a:outerShdw>
              </a:effectLst>
            </a:endParaRPr>
          </a:p>
        </p:txBody>
      </p:sp>
      <p:sp>
        <p:nvSpPr>
          <p:cNvPr id="7" name="矩形 14"/>
          <p:cNvSpPr/>
          <p:nvPr/>
        </p:nvSpPr>
        <p:spPr>
          <a:xfrm>
            <a:off x="670999" y="1203849"/>
            <a:ext cx="11045162" cy="5290485"/>
          </a:xfrm>
          <a:custGeom>
            <a:avLst/>
            <a:gdLst>
              <a:gd name="connsiteX0" fmla="*/ 0 w 9359758"/>
              <a:gd name="connsiteY0" fmla="*/ 0 h 3747053"/>
              <a:gd name="connsiteX1" fmla="*/ 9359758 w 9359758"/>
              <a:gd name="connsiteY1" fmla="*/ 0 h 3747053"/>
              <a:gd name="connsiteX2" fmla="*/ 9359758 w 9359758"/>
              <a:gd name="connsiteY2" fmla="*/ 3747053 h 3747053"/>
              <a:gd name="connsiteX3" fmla="*/ 0 w 9359758"/>
              <a:gd name="connsiteY3" fmla="*/ 3747053 h 3747053"/>
              <a:gd name="connsiteX4" fmla="*/ 0 w 9359758"/>
              <a:gd name="connsiteY4" fmla="*/ 0 h 3747053"/>
              <a:gd name="connsiteX0-1" fmla="*/ 0 w 9588358"/>
              <a:gd name="connsiteY0-2" fmla="*/ 0 h 3806688"/>
              <a:gd name="connsiteX1-3" fmla="*/ 9588358 w 9588358"/>
              <a:gd name="connsiteY1-4" fmla="*/ 59635 h 3806688"/>
              <a:gd name="connsiteX2-5" fmla="*/ 9588358 w 9588358"/>
              <a:gd name="connsiteY2-6" fmla="*/ 3806688 h 3806688"/>
              <a:gd name="connsiteX3-7" fmla="*/ 228600 w 9588358"/>
              <a:gd name="connsiteY3-8" fmla="*/ 3806688 h 3806688"/>
              <a:gd name="connsiteX4-9" fmla="*/ 0 w 9588358"/>
              <a:gd name="connsiteY4-10" fmla="*/ 0 h 3806688"/>
              <a:gd name="connsiteX0-11" fmla="*/ 0 w 9797080"/>
              <a:gd name="connsiteY0-12" fmla="*/ 0 h 3806688"/>
              <a:gd name="connsiteX1-13" fmla="*/ 9797080 w 9797080"/>
              <a:gd name="connsiteY1-14" fmla="*/ 39756 h 3806688"/>
              <a:gd name="connsiteX2-15" fmla="*/ 9588358 w 9797080"/>
              <a:gd name="connsiteY2-16" fmla="*/ 3806688 h 3806688"/>
              <a:gd name="connsiteX3-17" fmla="*/ 228600 w 9797080"/>
              <a:gd name="connsiteY3-18" fmla="*/ 3806688 h 3806688"/>
              <a:gd name="connsiteX4-19" fmla="*/ 0 w 9797080"/>
              <a:gd name="connsiteY4-20" fmla="*/ 0 h 3806688"/>
              <a:gd name="connsiteX0-21" fmla="*/ 0 w 9797080"/>
              <a:gd name="connsiteY0-22" fmla="*/ 0 h 3806688"/>
              <a:gd name="connsiteX1-23" fmla="*/ 9797080 w 9797080"/>
              <a:gd name="connsiteY1-24" fmla="*/ 39756 h 3806688"/>
              <a:gd name="connsiteX2-25" fmla="*/ 9588358 w 9797080"/>
              <a:gd name="connsiteY2-26" fmla="*/ 3806688 h 3806688"/>
              <a:gd name="connsiteX3-27" fmla="*/ 347870 w 9797080"/>
              <a:gd name="connsiteY3-28" fmla="*/ 3806688 h 3806688"/>
              <a:gd name="connsiteX4-29" fmla="*/ 0 w 9797080"/>
              <a:gd name="connsiteY4-30" fmla="*/ 0 h 3806688"/>
              <a:gd name="connsiteX0-31" fmla="*/ 0 w 9797080"/>
              <a:gd name="connsiteY0-32" fmla="*/ 0 h 3816627"/>
              <a:gd name="connsiteX1-33" fmla="*/ 9797080 w 9797080"/>
              <a:gd name="connsiteY1-34" fmla="*/ 39756 h 3816627"/>
              <a:gd name="connsiteX2-35" fmla="*/ 9479028 w 9797080"/>
              <a:gd name="connsiteY2-36" fmla="*/ 3816627 h 3816627"/>
              <a:gd name="connsiteX3-37" fmla="*/ 347870 w 9797080"/>
              <a:gd name="connsiteY3-38" fmla="*/ 3806688 h 3816627"/>
              <a:gd name="connsiteX4-39" fmla="*/ 0 w 9797080"/>
              <a:gd name="connsiteY4-40" fmla="*/ 0 h 3816627"/>
              <a:gd name="connsiteX0-41" fmla="*/ 0 w 9797080"/>
              <a:gd name="connsiteY0-42" fmla="*/ 0 h 3816627"/>
              <a:gd name="connsiteX1-43" fmla="*/ 9797080 w 9797080"/>
              <a:gd name="connsiteY1-44" fmla="*/ 39756 h 3816627"/>
              <a:gd name="connsiteX2-45" fmla="*/ 9479028 w 9797080"/>
              <a:gd name="connsiteY2-46" fmla="*/ 3816627 h 3816627"/>
              <a:gd name="connsiteX3-47" fmla="*/ 616227 w 9797080"/>
              <a:gd name="connsiteY3-48" fmla="*/ 3806688 h 3816627"/>
              <a:gd name="connsiteX4-49" fmla="*/ 0 w 9797080"/>
              <a:gd name="connsiteY4-50" fmla="*/ 0 h 3816627"/>
              <a:gd name="connsiteX0-51" fmla="*/ 0 w 10154889"/>
              <a:gd name="connsiteY0-52" fmla="*/ 0 h 3816627"/>
              <a:gd name="connsiteX1-53" fmla="*/ 10154889 w 10154889"/>
              <a:gd name="connsiteY1-54" fmla="*/ 377687 h 3816627"/>
              <a:gd name="connsiteX2-55" fmla="*/ 9479028 w 10154889"/>
              <a:gd name="connsiteY2-56" fmla="*/ 3816627 h 3816627"/>
              <a:gd name="connsiteX3-57" fmla="*/ 616227 w 10154889"/>
              <a:gd name="connsiteY3-58" fmla="*/ 3806688 h 3816627"/>
              <a:gd name="connsiteX4-59" fmla="*/ 0 w 10154889"/>
              <a:gd name="connsiteY4-60" fmla="*/ 0 h 3816627"/>
              <a:gd name="connsiteX0-61" fmla="*/ 0 w 10154889"/>
              <a:gd name="connsiteY0-62" fmla="*/ 0 h 4055166"/>
              <a:gd name="connsiteX1-63" fmla="*/ 10154889 w 10154889"/>
              <a:gd name="connsiteY1-64" fmla="*/ 377687 h 4055166"/>
              <a:gd name="connsiteX2-65" fmla="*/ 9359758 w 10154889"/>
              <a:gd name="connsiteY2-66" fmla="*/ 4055166 h 4055166"/>
              <a:gd name="connsiteX3-67" fmla="*/ 616227 w 10154889"/>
              <a:gd name="connsiteY3-68" fmla="*/ 3806688 h 4055166"/>
              <a:gd name="connsiteX4-69" fmla="*/ 0 w 10154889"/>
              <a:gd name="connsiteY4-70" fmla="*/ 0 h 405516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154889" h="4055166">
                <a:moveTo>
                  <a:pt x="0" y="0"/>
                </a:moveTo>
                <a:lnTo>
                  <a:pt x="10154889" y="377687"/>
                </a:lnTo>
                <a:lnTo>
                  <a:pt x="9359758" y="4055166"/>
                </a:lnTo>
                <a:lnTo>
                  <a:pt x="616227" y="3806688"/>
                </a:lnTo>
                <a:lnTo>
                  <a:pt x="0" y="0"/>
                </a:lnTo>
                <a:close/>
              </a:path>
            </a:pathLst>
          </a:custGeom>
          <a:noFill/>
          <a:ln w="38100">
            <a:solidFill>
              <a:srgbClr val="003F88">
                <a:alpha val="1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970049" y="2328125"/>
            <a:ext cx="7932234" cy="1508105"/>
          </a:xfrm>
          <a:prstGeom prst="rect">
            <a:avLst/>
          </a:prstGeom>
          <a:noFill/>
        </p:spPr>
        <p:txBody>
          <a:bodyPr wrap="square" rtlCol="0">
            <a:spAutoFit/>
          </a:bodyPr>
          <a:lstStyle/>
          <a:p>
            <a:pPr algn="ctr"/>
            <a:r>
              <a:rPr lang="en-US" altLang="zh-CN" sz="3600" b="1" dirty="0" err="1"/>
              <a:t>Lec</a:t>
            </a:r>
            <a:r>
              <a:rPr lang="en-US" altLang="zh-CN" sz="3600" b="1" dirty="0"/>
              <a:t> 0x2</a:t>
            </a:r>
            <a:endParaRPr lang="en-US" altLang="zh-CN" sz="3600" b="1" dirty="0"/>
          </a:p>
          <a:p>
            <a:pPr algn="ctr"/>
            <a:endParaRPr lang="en-US" altLang="zh-CN" sz="2800" b="1" dirty="0"/>
          </a:p>
          <a:p>
            <a:pPr algn="ctr"/>
            <a:r>
              <a:rPr lang="zh-CN" altLang="en-US" sz="2800" b="1" i="0" dirty="0">
                <a:effectLst/>
                <a:latin typeface="JetBrains Mono" panose="02000009000000000000"/>
              </a:rPr>
              <a:t>实验 </a:t>
            </a:r>
            <a:r>
              <a:rPr lang="en-US" altLang="zh-CN" sz="2800" b="1" i="0" dirty="0">
                <a:effectLst/>
                <a:latin typeface="JetBrains Mono" panose="02000009000000000000"/>
              </a:rPr>
              <a:t>1</a:t>
            </a:r>
            <a:r>
              <a:rPr lang="zh-CN" altLang="en-US" sz="2800" b="1" i="0" dirty="0">
                <a:effectLst/>
                <a:latin typeface="JetBrains Mono" panose="02000009000000000000"/>
              </a:rPr>
              <a:t>：动态分支预测</a:t>
            </a:r>
            <a:endParaRPr lang="zh-CN" altLang="en-US" sz="2800" b="1" i="0" dirty="0">
              <a:effectLst/>
              <a:latin typeface="JetBrains Mono" panose="0200000900000000000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分支预测是什么</a:t>
            </a:r>
            <a:endParaRPr lang="zh-CN" altLang="en-US" dirty="0"/>
          </a:p>
        </p:txBody>
      </p:sp>
      <p:sp>
        <p:nvSpPr>
          <p:cNvPr id="3" name="AutoShape 2" descr="image-20230225134931254"/>
          <p:cNvSpPr>
            <a:spLocks noChangeAspect="1" noChangeArrowheads="1"/>
          </p:cNvSpPr>
          <p:nvPr/>
        </p:nvSpPr>
        <p:spPr bwMode="auto">
          <a:xfrm>
            <a:off x="2290813" y="3276599"/>
            <a:ext cx="3957587" cy="39575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1028" name="Picture 4" descr="image-2023022513493125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256" y="1839736"/>
            <a:ext cx="6594030" cy="3178528"/>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7088171" y="1828801"/>
            <a:ext cx="4572000" cy="2862322"/>
          </a:xfrm>
          <a:prstGeom prst="rect">
            <a:avLst/>
          </a:prstGeom>
          <a:noFill/>
        </p:spPr>
        <p:txBody>
          <a:bodyPr wrap="square" rtlCol="0">
            <a:spAutoFit/>
          </a:bodyPr>
          <a:lstStyle/>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0x80…00:	</a:t>
            </a:r>
            <a:r>
              <a:rPr lang="en-US" altLang="zh-CN" sz="2000" dirty="0" err="1">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beq</a:t>
            </a:r>
            <a:r>
              <a:rPr lang="en-US" altLang="zh-CN" sz="20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a0, a1, 4</a:t>
            </a:r>
            <a:endParaRPr lang="en-US" altLang="zh-CN" sz="20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0x80…04:	add a0, a0, t0</a:t>
            </a:r>
            <a:endParaRPr lang="en-US" altLang="zh-CN" sz="2000"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0x80…08:	sub a1, a1, t1</a:t>
            </a:r>
            <a:endParaRPr lang="en-US" altLang="zh-CN" sz="2000"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0x80…0C:	add a2, a2, t2</a:t>
            </a:r>
            <a:endParaRPr lang="en-US" altLang="zh-CN" sz="2000"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a:t>
            </a:r>
            <a:endParaRPr lang="en-US" altLang="zh-CN" sz="2000"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0x80…BC:	sub a2, a2, t2</a:t>
            </a:r>
            <a:endParaRPr lang="en-US" altLang="zh-CN" sz="2000"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0x80…C0:	</a:t>
            </a:r>
            <a:r>
              <a:rPr lang="en-US" altLang="zh-CN" sz="2000" dirty="0" err="1">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bne</a:t>
            </a:r>
            <a:r>
              <a:rPr lang="en-US" altLang="zh-CN" sz="20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a0, a1, 12</a:t>
            </a:r>
            <a:endParaRPr lang="en-US" altLang="zh-CN" sz="20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a:t>
            </a:r>
            <a:endParaRPr lang="en-US" altLang="zh-CN" sz="2000"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0x80…D0:	</a:t>
            </a:r>
            <a:r>
              <a:rPr lang="en-US" altLang="zh-CN" sz="2000" dirty="0" err="1">
                <a:latin typeface="Cascadia Code" panose="020B0609020000020004" pitchFamily="49" charset="0"/>
                <a:ea typeface="Cascadia Code" panose="020B0609020000020004" pitchFamily="49" charset="0"/>
                <a:cs typeface="Cascadia Code" panose="020B0609020000020004" pitchFamily="49" charset="0"/>
              </a:rPr>
              <a:t>jmp</a:t>
            </a:r>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 0x80…00</a:t>
            </a:r>
            <a:endParaRPr lang="en-US" altLang="zh-CN" sz="2000" dirty="0">
              <a:latin typeface="Cascadia Code" panose="020B0609020000020004" pitchFamily="49" charset="0"/>
              <a:ea typeface="Cascadia Code" panose="020B0609020000020004" pitchFamily="49" charset="0"/>
              <a:cs typeface="Cascadia Code" panose="020B0609020000020004" pitchFamily="49" charset="0"/>
            </a:endParaRPr>
          </a:p>
        </p:txBody>
      </p:sp>
      <p:cxnSp>
        <p:nvCxnSpPr>
          <p:cNvPr id="25" name="直接连接符 24"/>
          <p:cNvCxnSpPr/>
          <p:nvPr/>
        </p:nvCxnSpPr>
        <p:spPr>
          <a:xfrm>
            <a:off x="11308849" y="2002055"/>
            <a:ext cx="70264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2011493" y="2002055"/>
            <a:ext cx="0" cy="67376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flipH="1">
            <a:off x="11308849" y="2685448"/>
            <a:ext cx="70264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776185" y="4503019"/>
            <a:ext cx="31198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6776185" y="2002055"/>
            <a:ext cx="0" cy="250096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6776185" y="2002055"/>
            <a:ext cx="31198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624455" y="5310456"/>
            <a:ext cx="10943089" cy="954107"/>
          </a:xfrm>
          <a:prstGeom prst="rect">
            <a:avLst/>
          </a:prstGeom>
          <a:noFill/>
        </p:spPr>
        <p:txBody>
          <a:bodyPr wrap="square">
            <a:spAutoFit/>
          </a:bodyPr>
          <a:lstStyle/>
          <a:p>
            <a:r>
              <a:rPr lang="en-US" altLang="zh-CN" sz="2000" b="1" dirty="0"/>
              <a:t>Branch-History Table (BHT)</a:t>
            </a:r>
            <a:r>
              <a:rPr lang="zh-CN" altLang="en-US" dirty="0"/>
              <a:t>，又名 </a:t>
            </a:r>
            <a:r>
              <a:rPr lang="en-US" altLang="zh-CN" dirty="0"/>
              <a:t>branch-prediction buffer</a:t>
            </a:r>
            <a:r>
              <a:rPr lang="zh-CN" altLang="en-US" dirty="0"/>
              <a:t>，它是一小块包含了跳转地址和历史跳转信息的 </a:t>
            </a:r>
            <a:r>
              <a:rPr lang="en-US" altLang="zh-CN" dirty="0"/>
              <a:t>buffer</a:t>
            </a:r>
            <a:r>
              <a:rPr lang="zh-CN" altLang="en-US" dirty="0"/>
              <a:t>。我们在遇到跳转指令的时候，通过对比之前保存在 </a:t>
            </a:r>
            <a:r>
              <a:rPr lang="en-US" altLang="zh-CN" dirty="0"/>
              <a:t>buffer </a:t>
            </a:r>
            <a:r>
              <a:rPr lang="zh-CN" altLang="en-US" dirty="0"/>
              <a:t>中的跳转地址和相应的跳转信息来决定当前这条跳转指令是否应该发生跳转。</a:t>
            </a: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分支预测是什么</a:t>
            </a:r>
            <a:endParaRPr lang="zh-CN" altLang="en-US" dirty="0"/>
          </a:p>
        </p:txBody>
      </p:sp>
      <p:pic>
        <p:nvPicPr>
          <p:cNvPr id="3" name="图片 2"/>
          <p:cNvPicPr>
            <a:picLocks noChangeAspect="1"/>
          </p:cNvPicPr>
          <p:nvPr/>
        </p:nvPicPr>
        <p:blipFill>
          <a:blip r:embed="rId1"/>
          <a:stretch>
            <a:fillRect/>
          </a:stretch>
        </p:blipFill>
        <p:spPr>
          <a:xfrm>
            <a:off x="0" y="1061339"/>
            <a:ext cx="6570846" cy="4324196"/>
          </a:xfrm>
          <a:prstGeom prst="rect">
            <a:avLst/>
          </a:prstGeom>
        </p:spPr>
      </p:pic>
      <p:sp>
        <p:nvSpPr>
          <p:cNvPr id="5" name="文本框 4"/>
          <p:cNvSpPr txBox="1"/>
          <p:nvPr/>
        </p:nvSpPr>
        <p:spPr>
          <a:xfrm>
            <a:off x="1482290" y="5796661"/>
            <a:ext cx="10000648" cy="923330"/>
          </a:xfrm>
          <a:prstGeom prst="rect">
            <a:avLst/>
          </a:prstGeom>
          <a:noFill/>
        </p:spPr>
        <p:txBody>
          <a:bodyPr wrap="square">
            <a:spAutoFit/>
          </a:bodyPr>
          <a:lstStyle/>
          <a:p>
            <a:r>
              <a:rPr lang="zh-CN" altLang="en-US" dirty="0"/>
              <a:t>由于存储空间有限，不能为全部的地址建立一个单独的表项，所以我们可以将地址中的低部分作为索引，然后将高部分作为 </a:t>
            </a:r>
            <a:r>
              <a:rPr lang="en-US" altLang="zh-CN" dirty="0"/>
              <a:t>tag</a:t>
            </a:r>
            <a:r>
              <a:rPr lang="zh-CN" altLang="en-US" dirty="0"/>
              <a:t>（用于确定该表项是否是该地址），来尽可能节省空间并降低冲突：</a:t>
            </a:r>
            <a:endParaRPr lang="zh-CN" altLang="en-US" dirty="0"/>
          </a:p>
          <a:p>
            <a:endParaRPr lang="zh-CN" altLang="en-US" dirty="0"/>
          </a:p>
        </p:txBody>
      </p:sp>
      <p:sp>
        <p:nvSpPr>
          <p:cNvPr id="6" name="文本框 5"/>
          <p:cNvSpPr txBox="1"/>
          <p:nvPr/>
        </p:nvSpPr>
        <p:spPr>
          <a:xfrm>
            <a:off x="7088171" y="1828801"/>
            <a:ext cx="4572000" cy="3477875"/>
          </a:xfrm>
          <a:prstGeom prst="rect">
            <a:avLst/>
          </a:prstGeom>
          <a:noFill/>
        </p:spPr>
        <p:txBody>
          <a:bodyPr wrap="square" rtlCol="0">
            <a:spAutoFit/>
          </a:bodyPr>
          <a:lstStyle/>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0x80…000:	</a:t>
            </a:r>
            <a:r>
              <a:rPr lang="en-US" altLang="zh-CN" sz="2000" dirty="0" err="1">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beq</a:t>
            </a:r>
            <a:r>
              <a:rPr lang="en-US" altLang="zh-CN" sz="20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a0, a1, 4</a:t>
            </a:r>
            <a:endParaRPr lang="en-US" altLang="zh-CN" sz="20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0x80…004:	add a0, a0, t0</a:t>
            </a:r>
            <a:endParaRPr lang="en-US" altLang="zh-CN" sz="2000"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0x80…008:	sub a1, a1, t1</a:t>
            </a:r>
            <a:endParaRPr lang="en-US" altLang="zh-CN" sz="2000"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0x80…00C:	add a2, a2, t2</a:t>
            </a:r>
            <a:endParaRPr lang="en-US" altLang="zh-CN" sz="2000"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a:t>
            </a:r>
            <a:endParaRPr lang="en-US" altLang="zh-CN" sz="2000"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0x80…0BC:	sub a2, a2, t2</a:t>
            </a:r>
            <a:endParaRPr lang="en-US" altLang="zh-CN" sz="2000"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0x80…0C0:	</a:t>
            </a:r>
            <a:r>
              <a:rPr lang="en-US" altLang="zh-CN" sz="2000" dirty="0" err="1">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bne</a:t>
            </a:r>
            <a:r>
              <a:rPr lang="en-US" altLang="zh-CN" sz="20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a0, a1, 12</a:t>
            </a:r>
            <a:endParaRPr lang="en-US" altLang="zh-CN" sz="20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a:t>
            </a:r>
            <a:endParaRPr lang="en-US" altLang="zh-CN" sz="2000"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0x80…0D0:	</a:t>
            </a:r>
            <a:r>
              <a:rPr lang="en-US" altLang="zh-CN" sz="2000" dirty="0" err="1">
                <a:latin typeface="Cascadia Code" panose="020B0609020000020004" pitchFamily="49" charset="0"/>
                <a:ea typeface="Cascadia Code" panose="020B0609020000020004" pitchFamily="49" charset="0"/>
                <a:cs typeface="Cascadia Code" panose="020B0609020000020004" pitchFamily="49" charset="0"/>
              </a:rPr>
              <a:t>jmp</a:t>
            </a:r>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 0x80…00</a:t>
            </a:r>
            <a:endParaRPr lang="en-US" altLang="zh-CN" sz="2000"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a:t>
            </a:r>
            <a:endParaRPr lang="en-US" altLang="zh-CN" sz="2000"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sz="2000" dirty="0">
                <a:latin typeface="Cascadia Code" panose="020B0609020000020004" pitchFamily="49" charset="0"/>
                <a:ea typeface="Cascadia Code" panose="020B0609020000020004" pitchFamily="49" charset="0"/>
                <a:cs typeface="Cascadia Code" panose="020B0609020000020004" pitchFamily="49" charset="0"/>
              </a:rPr>
              <a:t>0x80…100:	</a:t>
            </a:r>
            <a:r>
              <a:rPr lang="en-US" altLang="zh-CN" sz="2000" dirty="0">
                <a:solidFill>
                  <a:srgbClr val="0070C0"/>
                </a:solidFill>
                <a:latin typeface="Cascadia Code" panose="020B0609020000020004" pitchFamily="49" charset="0"/>
                <a:ea typeface="Cascadia Code" panose="020B0609020000020004" pitchFamily="49" charset="0"/>
                <a:cs typeface="Cascadia Code" panose="020B0609020000020004" pitchFamily="49" charset="0"/>
              </a:rPr>
              <a:t>add a0, a0, t0</a:t>
            </a:r>
            <a:endParaRPr lang="en-US" altLang="zh-CN" sz="2000" dirty="0">
              <a:solidFill>
                <a:srgbClr val="0070C0"/>
              </a:solidFill>
              <a:latin typeface="Cascadia Code" panose="020B0609020000020004" pitchFamily="49" charset="0"/>
              <a:ea typeface="Cascadia Code" panose="020B0609020000020004" pitchFamily="49" charset="0"/>
              <a:cs typeface="Cascadia Code" panose="020B0609020000020004" pitchFamily="49" charset="0"/>
            </a:endParaRPr>
          </a:p>
        </p:txBody>
      </p:sp>
      <p:cxnSp>
        <p:nvCxnSpPr>
          <p:cNvPr id="7" name="直接连接符 6"/>
          <p:cNvCxnSpPr/>
          <p:nvPr/>
        </p:nvCxnSpPr>
        <p:spPr>
          <a:xfrm>
            <a:off x="11308849" y="2002055"/>
            <a:ext cx="70264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12011493" y="2002055"/>
            <a:ext cx="0" cy="67376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a:off x="11308849" y="2685448"/>
            <a:ext cx="70264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776185" y="4503019"/>
            <a:ext cx="31198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776185" y="2002055"/>
            <a:ext cx="0" cy="250096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6776185" y="2002055"/>
            <a:ext cx="31198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a:off x="2146434" y="2002055"/>
            <a:ext cx="4941737" cy="3368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H="1" flipV="1">
            <a:off x="2146434" y="2338939"/>
            <a:ext cx="4941737" cy="272394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分支预测是什么</a:t>
            </a:r>
            <a:endParaRPr lang="zh-CN" altLang="en-US" dirty="0"/>
          </a:p>
        </p:txBody>
      </p:sp>
      <p:pic>
        <p:nvPicPr>
          <p:cNvPr id="3" name="图片 2"/>
          <p:cNvPicPr>
            <a:picLocks noChangeAspect="1"/>
          </p:cNvPicPr>
          <p:nvPr/>
        </p:nvPicPr>
        <p:blipFill>
          <a:blip r:embed="rId1"/>
          <a:srcRect r="-1141" b="12840"/>
          <a:stretch>
            <a:fillRect/>
          </a:stretch>
        </p:blipFill>
        <p:spPr>
          <a:xfrm>
            <a:off x="675482" y="870776"/>
            <a:ext cx="5013049" cy="3065957"/>
          </a:xfrm>
          <a:prstGeom prst="rect">
            <a:avLst/>
          </a:prstGeom>
        </p:spPr>
      </p:pic>
      <p:sp>
        <p:nvSpPr>
          <p:cNvPr id="4" name="文本框 3"/>
          <p:cNvSpPr txBox="1"/>
          <p:nvPr/>
        </p:nvSpPr>
        <p:spPr>
          <a:xfrm>
            <a:off x="7414900" y="1305082"/>
            <a:ext cx="4444147" cy="1477328"/>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 &lt; </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i</a:t>
            </a:r>
            <a:r>
              <a:rPr lang="en-US" altLang="zh-CN" b="0" dirty="0">
                <a:solidFill>
                  <a:srgbClr val="000000"/>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r>
              <a:rPr lang="en-US" altLang="zh-CN" b="0" dirty="0">
                <a:solidFill>
                  <a:srgbClr val="0000FF"/>
                </a:solidFill>
                <a:effectLst/>
                <a:latin typeface="Consolas" panose="020B0609020204030204" pitchFamily="49" charset="0"/>
              </a:rPr>
              <a:t>for</a:t>
            </a:r>
            <a:r>
              <a:rPr lang="en-US" altLang="zh-CN" b="0" dirty="0">
                <a:solidFill>
                  <a:srgbClr val="000000"/>
                </a:solidFill>
                <a:effectLst/>
                <a:latin typeface="Consolas" panose="020B0609020204030204" pitchFamily="49" charset="0"/>
              </a:rPr>
              <a:t>(j = </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j &lt; </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j++</a:t>
            </a:r>
            <a:r>
              <a:rPr lang="en-US" altLang="zh-CN" b="0" dirty="0">
                <a:solidFill>
                  <a:srgbClr val="000000"/>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    }</a:t>
            </a:r>
            <a:endParaRPr lang="en-US" altLang="zh-CN" b="0" dirty="0">
              <a:solidFill>
                <a:srgbClr val="000000"/>
              </a:solidFill>
              <a:effectLst/>
              <a:latin typeface="Consolas" panose="020B0609020204030204" pitchFamily="49" charset="0"/>
            </a:endParaRPr>
          </a:p>
        </p:txBody>
      </p:sp>
      <p:sp>
        <p:nvSpPr>
          <p:cNvPr id="5" name="文本框 4"/>
          <p:cNvSpPr txBox="1"/>
          <p:nvPr/>
        </p:nvSpPr>
        <p:spPr>
          <a:xfrm>
            <a:off x="8233004" y="3112399"/>
            <a:ext cx="3812557" cy="3323987"/>
          </a:xfrm>
          <a:prstGeom prst="rect">
            <a:avLst/>
          </a:prstGeom>
          <a:noFill/>
        </p:spPr>
        <p:txBody>
          <a:bodyPr wrap="square">
            <a:spAutoFit/>
          </a:bodyPr>
          <a:lstStyle/>
          <a:p>
            <a:r>
              <a:rPr lang="en-US" altLang="zh-CN" sz="1400" b="0" dirty="0">
                <a:solidFill>
                  <a:srgbClr val="008080"/>
                </a:solidFill>
                <a:effectLst/>
                <a:latin typeface="Consolas" panose="020B0609020204030204" pitchFamily="49" charset="0"/>
              </a:rPr>
              <a:t>  .OUTTER:</a:t>
            </a:r>
            <a:endParaRPr lang="en-US" altLang="zh-CN" sz="1400" b="0" dirty="0">
              <a:solidFill>
                <a:srgbClr val="000000"/>
              </a:solidFill>
              <a:effectLst/>
              <a:latin typeface="Consolas" panose="020B0609020204030204" pitchFamily="49" charset="0"/>
            </a:endParaRPr>
          </a:p>
          <a:p>
            <a:r>
              <a:rPr lang="en-US" altLang="zh-CN" sz="1400" b="0" dirty="0">
                <a:solidFill>
                  <a:srgbClr val="000000"/>
                </a:solidFill>
                <a:effectLst/>
                <a:latin typeface="Consolas" panose="020B0609020204030204" pitchFamily="49" charset="0"/>
              </a:rPr>
              <a:t>0         </a:t>
            </a:r>
            <a:r>
              <a:rPr lang="en-US" altLang="zh-CN" sz="1400" b="0" dirty="0" err="1">
                <a:solidFill>
                  <a:srgbClr val="0000FF"/>
                </a:solidFill>
                <a:effectLst/>
                <a:latin typeface="Consolas" panose="020B0609020204030204" pitchFamily="49" charset="0"/>
              </a:rPr>
              <a:t>lw</a:t>
            </a:r>
            <a:r>
              <a:rPr lang="en-US" altLang="zh-CN" sz="1400" b="0" dirty="0">
                <a:solidFill>
                  <a:srgbClr val="000000"/>
                </a:solidFill>
                <a:effectLst/>
                <a:latin typeface="Consolas" panose="020B0609020204030204" pitchFamily="49" charset="0"/>
              </a:rPr>
              <a:t>      </a:t>
            </a:r>
            <a:r>
              <a:rPr lang="en-US" altLang="zh-CN" sz="1400" b="0" dirty="0">
                <a:solidFill>
                  <a:srgbClr val="008080"/>
                </a:solidFill>
                <a:effectLst/>
                <a:latin typeface="Consolas" panose="020B0609020204030204" pitchFamily="49" charset="0"/>
              </a:rPr>
              <a:t>a5</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24</a:t>
            </a:r>
            <a:r>
              <a:rPr lang="en-US" altLang="zh-CN" sz="1400" b="0" dirty="0">
                <a:solidFill>
                  <a:srgbClr val="000000"/>
                </a:solidFill>
                <a:effectLst/>
                <a:latin typeface="Consolas" panose="020B0609020204030204" pitchFamily="49" charset="0"/>
              </a:rPr>
              <a:t>(</a:t>
            </a:r>
            <a:r>
              <a:rPr lang="en-US" altLang="zh-CN" sz="1400" b="0" dirty="0">
                <a:solidFill>
                  <a:srgbClr val="008080"/>
                </a:solidFill>
                <a:effectLst/>
                <a:latin typeface="Consolas" panose="020B0609020204030204" pitchFamily="49" charset="0"/>
              </a:rPr>
              <a:t>s0</a:t>
            </a:r>
            <a:r>
              <a:rPr lang="en-US" altLang="zh-CN" sz="1400" b="0" dirty="0">
                <a:solidFill>
                  <a:srgbClr val="000000"/>
                </a:solidFill>
                <a:effectLst/>
                <a:latin typeface="Consolas" panose="020B0609020204030204" pitchFamily="49" charset="0"/>
              </a:rPr>
              <a:t>)</a:t>
            </a:r>
            <a:endParaRPr lang="en-US" altLang="zh-CN" sz="1400" b="0" dirty="0">
              <a:solidFill>
                <a:srgbClr val="000000"/>
              </a:solidFill>
              <a:effectLst/>
              <a:latin typeface="Consolas" panose="020B0609020204030204" pitchFamily="49" charset="0"/>
            </a:endParaRPr>
          </a:p>
          <a:p>
            <a:r>
              <a:rPr lang="en-US" altLang="zh-CN" sz="1400" b="0" dirty="0">
                <a:solidFill>
                  <a:srgbClr val="000000"/>
                </a:solidFill>
                <a:effectLst/>
                <a:latin typeface="Consolas" panose="020B0609020204030204" pitchFamily="49" charset="0"/>
              </a:rPr>
              <a:t>4         </a:t>
            </a:r>
            <a:r>
              <a:rPr lang="en-US" altLang="zh-CN" sz="1400" b="0" dirty="0" err="1">
                <a:solidFill>
                  <a:srgbClr val="0000FF"/>
                </a:solidFill>
                <a:effectLst/>
                <a:latin typeface="Consolas" panose="020B0609020204030204" pitchFamily="49" charset="0"/>
              </a:rPr>
              <a:t>addi</a:t>
            </a:r>
            <a:r>
              <a:rPr lang="en-US" altLang="zh-CN" sz="1400" b="0" dirty="0">
                <a:solidFill>
                  <a:srgbClr val="000000"/>
                </a:solidFill>
                <a:effectLst/>
                <a:latin typeface="Consolas" panose="020B0609020204030204" pitchFamily="49" charset="0"/>
              </a:rPr>
              <a:t>    </a:t>
            </a:r>
            <a:r>
              <a:rPr lang="en-US" altLang="zh-CN" sz="1400" b="0" dirty="0">
                <a:solidFill>
                  <a:srgbClr val="008080"/>
                </a:solidFill>
                <a:effectLst/>
                <a:latin typeface="Consolas" panose="020B0609020204030204" pitchFamily="49" charset="0"/>
              </a:rPr>
              <a:t>a5</a:t>
            </a:r>
            <a:r>
              <a:rPr lang="en-US" altLang="zh-CN" sz="1400" b="0" dirty="0">
                <a:solidFill>
                  <a:srgbClr val="000000"/>
                </a:solidFill>
                <a:effectLst/>
                <a:latin typeface="Consolas" panose="020B0609020204030204" pitchFamily="49" charset="0"/>
              </a:rPr>
              <a:t>,</a:t>
            </a:r>
            <a:r>
              <a:rPr lang="en-US" altLang="zh-CN" sz="1400" b="0" dirty="0">
                <a:solidFill>
                  <a:srgbClr val="008080"/>
                </a:solidFill>
                <a:effectLst/>
                <a:latin typeface="Consolas" panose="020B0609020204030204" pitchFamily="49" charset="0"/>
              </a:rPr>
              <a:t>a5</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1</a:t>
            </a:r>
            <a:endParaRPr lang="en-US" altLang="zh-CN" sz="1400" b="0" dirty="0">
              <a:solidFill>
                <a:srgbClr val="000000"/>
              </a:solidFill>
              <a:effectLst/>
              <a:latin typeface="Consolas" panose="020B0609020204030204" pitchFamily="49" charset="0"/>
            </a:endParaRPr>
          </a:p>
          <a:p>
            <a:r>
              <a:rPr lang="en-US" altLang="zh-CN" sz="1400" b="0" dirty="0">
                <a:solidFill>
                  <a:srgbClr val="000000"/>
                </a:solidFill>
                <a:effectLst/>
                <a:latin typeface="Consolas" panose="020B0609020204030204" pitchFamily="49" charset="0"/>
              </a:rPr>
              <a:t>8         </a:t>
            </a:r>
            <a:r>
              <a:rPr lang="en-US" altLang="zh-CN" sz="1400" b="0" dirty="0" err="1">
                <a:solidFill>
                  <a:srgbClr val="0000FF"/>
                </a:solidFill>
                <a:effectLst/>
                <a:latin typeface="Consolas" panose="020B0609020204030204" pitchFamily="49" charset="0"/>
              </a:rPr>
              <a:t>sw</a:t>
            </a:r>
            <a:r>
              <a:rPr lang="en-US" altLang="zh-CN" sz="1400" b="0" dirty="0">
                <a:solidFill>
                  <a:srgbClr val="000000"/>
                </a:solidFill>
                <a:effectLst/>
                <a:latin typeface="Consolas" panose="020B0609020204030204" pitchFamily="49" charset="0"/>
              </a:rPr>
              <a:t>      </a:t>
            </a:r>
            <a:r>
              <a:rPr lang="en-US" altLang="zh-CN" sz="1400" b="0" dirty="0">
                <a:solidFill>
                  <a:srgbClr val="008080"/>
                </a:solidFill>
                <a:effectLst/>
                <a:latin typeface="Consolas" panose="020B0609020204030204" pitchFamily="49" charset="0"/>
              </a:rPr>
              <a:t>a5</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24</a:t>
            </a:r>
            <a:r>
              <a:rPr lang="en-US" altLang="zh-CN" sz="1400" b="0" dirty="0">
                <a:solidFill>
                  <a:srgbClr val="000000"/>
                </a:solidFill>
                <a:effectLst/>
                <a:latin typeface="Consolas" panose="020B0609020204030204" pitchFamily="49" charset="0"/>
              </a:rPr>
              <a:t>(</a:t>
            </a:r>
            <a:r>
              <a:rPr lang="en-US" altLang="zh-CN" sz="1400" b="0" dirty="0">
                <a:solidFill>
                  <a:srgbClr val="008080"/>
                </a:solidFill>
                <a:effectLst/>
                <a:latin typeface="Consolas" panose="020B0609020204030204" pitchFamily="49" charset="0"/>
              </a:rPr>
              <a:t>s0</a:t>
            </a:r>
            <a:r>
              <a:rPr lang="en-US" altLang="zh-CN" sz="1400" b="0" dirty="0">
                <a:solidFill>
                  <a:srgbClr val="000000"/>
                </a:solidFill>
                <a:effectLst/>
                <a:latin typeface="Consolas" panose="020B0609020204030204" pitchFamily="49" charset="0"/>
              </a:rPr>
              <a:t>)</a:t>
            </a:r>
            <a:endParaRPr lang="en-US" altLang="zh-CN" sz="1400" b="0" dirty="0">
              <a:solidFill>
                <a:srgbClr val="000000"/>
              </a:solidFill>
              <a:effectLst/>
              <a:latin typeface="Consolas" panose="020B0609020204030204" pitchFamily="49" charset="0"/>
            </a:endParaRPr>
          </a:p>
          <a:p>
            <a:r>
              <a:rPr lang="en-US" altLang="zh-CN" sz="1400" b="0" dirty="0">
                <a:solidFill>
                  <a:srgbClr val="008080"/>
                </a:solidFill>
                <a:effectLst/>
                <a:latin typeface="Consolas" panose="020B0609020204030204" pitchFamily="49" charset="0"/>
              </a:rPr>
              <a:t>  .INNER:</a:t>
            </a:r>
            <a:endParaRPr lang="en-US" altLang="zh-CN" sz="1400" b="0" dirty="0">
              <a:solidFill>
                <a:srgbClr val="000000"/>
              </a:solidFill>
              <a:effectLst/>
              <a:latin typeface="Consolas" panose="020B0609020204030204" pitchFamily="49" charset="0"/>
            </a:endParaRPr>
          </a:p>
          <a:p>
            <a:r>
              <a:rPr lang="en-US" altLang="zh-CN" sz="1400" b="0" dirty="0">
                <a:solidFill>
                  <a:srgbClr val="000000"/>
                </a:solidFill>
                <a:effectLst/>
                <a:latin typeface="Consolas" panose="020B0609020204030204" pitchFamily="49" charset="0"/>
              </a:rPr>
              <a:t>C        </a:t>
            </a:r>
            <a:r>
              <a:rPr lang="en-US" altLang="zh-CN" sz="1400" dirty="0">
                <a:solidFill>
                  <a:srgbClr val="000000"/>
                </a:solidFill>
                <a:latin typeface="Consolas" panose="020B0609020204030204" pitchFamily="49" charset="0"/>
              </a:rPr>
              <a:t> </a:t>
            </a:r>
            <a:r>
              <a:rPr lang="en-US" altLang="zh-CN" sz="1400" b="0" dirty="0" err="1">
                <a:solidFill>
                  <a:srgbClr val="0000FF"/>
                </a:solidFill>
                <a:effectLst/>
                <a:latin typeface="Consolas" panose="020B0609020204030204" pitchFamily="49" charset="0"/>
              </a:rPr>
              <a:t>lw</a:t>
            </a:r>
            <a:r>
              <a:rPr lang="en-US" altLang="zh-CN" sz="1400" b="0" dirty="0">
                <a:solidFill>
                  <a:srgbClr val="000000"/>
                </a:solidFill>
                <a:effectLst/>
                <a:latin typeface="Consolas" panose="020B0609020204030204" pitchFamily="49" charset="0"/>
              </a:rPr>
              <a:t>      </a:t>
            </a:r>
            <a:r>
              <a:rPr lang="en-US" altLang="zh-CN" sz="1400" b="0" dirty="0">
                <a:solidFill>
                  <a:srgbClr val="008080"/>
                </a:solidFill>
                <a:effectLst/>
                <a:latin typeface="Consolas" panose="020B0609020204030204" pitchFamily="49" charset="0"/>
              </a:rPr>
              <a:t>a4</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24</a:t>
            </a:r>
            <a:r>
              <a:rPr lang="en-US" altLang="zh-CN" sz="1400" b="0" dirty="0">
                <a:solidFill>
                  <a:srgbClr val="000000"/>
                </a:solidFill>
                <a:effectLst/>
                <a:latin typeface="Consolas" panose="020B0609020204030204" pitchFamily="49" charset="0"/>
              </a:rPr>
              <a:t>(</a:t>
            </a:r>
            <a:r>
              <a:rPr lang="en-US" altLang="zh-CN" sz="1400" b="0" dirty="0">
                <a:solidFill>
                  <a:srgbClr val="008080"/>
                </a:solidFill>
                <a:effectLst/>
                <a:latin typeface="Consolas" panose="020B0609020204030204" pitchFamily="49" charset="0"/>
              </a:rPr>
              <a:t>s0</a:t>
            </a:r>
            <a:r>
              <a:rPr lang="en-US" altLang="zh-CN" sz="1400" b="0" dirty="0">
                <a:solidFill>
                  <a:srgbClr val="000000"/>
                </a:solidFill>
                <a:effectLst/>
                <a:latin typeface="Consolas" panose="020B0609020204030204" pitchFamily="49" charset="0"/>
              </a:rPr>
              <a:t>)</a:t>
            </a:r>
            <a:endParaRPr lang="en-US" altLang="zh-CN" sz="1400" b="0" dirty="0">
              <a:solidFill>
                <a:srgbClr val="000000"/>
              </a:solidFill>
              <a:effectLst/>
              <a:latin typeface="Consolas" panose="020B0609020204030204" pitchFamily="49" charset="0"/>
            </a:endParaRPr>
          </a:p>
          <a:p>
            <a:r>
              <a:rPr lang="en-US" altLang="zh-CN" sz="1400" b="0" dirty="0">
                <a:solidFill>
                  <a:srgbClr val="000000"/>
                </a:solidFill>
                <a:effectLst/>
                <a:latin typeface="Consolas" panose="020B0609020204030204" pitchFamily="49" charset="0"/>
              </a:rPr>
              <a:t>10        </a:t>
            </a:r>
            <a:r>
              <a:rPr lang="en-US" altLang="zh-CN" sz="1400" b="0" dirty="0">
                <a:solidFill>
                  <a:srgbClr val="0000FF"/>
                </a:solidFill>
                <a:effectLst/>
                <a:latin typeface="Consolas" panose="020B0609020204030204" pitchFamily="49" charset="0"/>
              </a:rPr>
              <a:t>li</a:t>
            </a:r>
            <a:r>
              <a:rPr lang="en-US" altLang="zh-CN" sz="1400" b="0" dirty="0">
                <a:solidFill>
                  <a:srgbClr val="000000"/>
                </a:solidFill>
                <a:effectLst/>
                <a:latin typeface="Consolas" panose="020B0609020204030204" pitchFamily="49" charset="0"/>
              </a:rPr>
              <a:t>      </a:t>
            </a:r>
            <a:r>
              <a:rPr lang="en-US" altLang="zh-CN" sz="1400" b="0" dirty="0">
                <a:solidFill>
                  <a:srgbClr val="008080"/>
                </a:solidFill>
                <a:effectLst/>
                <a:latin typeface="Consolas" panose="020B0609020204030204" pitchFamily="49" charset="0"/>
              </a:rPr>
              <a:t>a5</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9</a:t>
            </a:r>
            <a:endParaRPr lang="en-US" altLang="zh-CN" sz="1400" b="0" dirty="0">
              <a:solidFill>
                <a:srgbClr val="000000"/>
              </a:solidFill>
              <a:effectLst/>
              <a:latin typeface="Consolas" panose="020B0609020204030204" pitchFamily="49" charset="0"/>
            </a:endParaRPr>
          </a:p>
          <a:p>
            <a:r>
              <a:rPr lang="en-US" altLang="zh-CN" sz="1400" b="0" dirty="0">
                <a:solidFill>
                  <a:srgbClr val="000000"/>
                </a:solidFill>
                <a:effectLst/>
                <a:highlight>
                  <a:srgbClr val="FFFF00"/>
                </a:highlight>
                <a:latin typeface="Consolas" panose="020B0609020204030204" pitchFamily="49" charset="0"/>
              </a:rPr>
              <a:t>14        </a:t>
            </a:r>
            <a:r>
              <a:rPr lang="en-US" altLang="zh-CN" sz="1400" b="0" dirty="0" err="1">
                <a:solidFill>
                  <a:srgbClr val="0000FF"/>
                </a:solidFill>
                <a:effectLst/>
                <a:highlight>
                  <a:srgbClr val="FFFF00"/>
                </a:highlight>
                <a:latin typeface="Consolas" panose="020B0609020204030204" pitchFamily="49" charset="0"/>
              </a:rPr>
              <a:t>ble</a:t>
            </a:r>
            <a:r>
              <a:rPr lang="en-US" altLang="zh-CN" sz="1400" b="0" dirty="0">
                <a:solidFill>
                  <a:srgbClr val="000000"/>
                </a:solidFill>
                <a:effectLst/>
                <a:highlight>
                  <a:srgbClr val="FFFF00"/>
                </a:highlight>
                <a:latin typeface="Consolas" panose="020B0609020204030204" pitchFamily="49" charset="0"/>
              </a:rPr>
              <a:t>     </a:t>
            </a:r>
            <a:r>
              <a:rPr lang="en-US" altLang="zh-CN" sz="1400" b="0" dirty="0">
                <a:solidFill>
                  <a:srgbClr val="008080"/>
                </a:solidFill>
                <a:effectLst/>
                <a:highlight>
                  <a:srgbClr val="FFFF00"/>
                </a:highlight>
                <a:latin typeface="Consolas" panose="020B0609020204030204" pitchFamily="49" charset="0"/>
              </a:rPr>
              <a:t>a4</a:t>
            </a:r>
            <a:r>
              <a:rPr lang="en-US" altLang="zh-CN" sz="1400" b="0" dirty="0">
                <a:solidFill>
                  <a:srgbClr val="000000"/>
                </a:solidFill>
                <a:effectLst/>
                <a:highlight>
                  <a:srgbClr val="FFFF00"/>
                </a:highlight>
                <a:latin typeface="Consolas" panose="020B0609020204030204" pitchFamily="49" charset="0"/>
              </a:rPr>
              <a:t>,</a:t>
            </a:r>
            <a:r>
              <a:rPr lang="en-US" altLang="zh-CN" sz="1400" b="0" dirty="0">
                <a:solidFill>
                  <a:srgbClr val="008080"/>
                </a:solidFill>
                <a:effectLst/>
                <a:highlight>
                  <a:srgbClr val="FFFF00"/>
                </a:highlight>
                <a:latin typeface="Consolas" panose="020B0609020204030204" pitchFamily="49" charset="0"/>
              </a:rPr>
              <a:t>a5</a:t>
            </a:r>
            <a:r>
              <a:rPr lang="en-US" altLang="zh-CN" sz="1400" b="0" dirty="0">
                <a:solidFill>
                  <a:srgbClr val="000000"/>
                </a:solidFill>
                <a:effectLst/>
                <a:highlight>
                  <a:srgbClr val="FFFF00"/>
                </a:highlight>
                <a:latin typeface="Consolas" panose="020B0609020204030204" pitchFamily="49" charset="0"/>
              </a:rPr>
              <a:t>,</a:t>
            </a:r>
            <a:r>
              <a:rPr lang="en-US" altLang="zh-CN" sz="1400" b="0" dirty="0">
                <a:solidFill>
                  <a:srgbClr val="008080"/>
                </a:solidFill>
                <a:effectLst/>
                <a:highlight>
                  <a:srgbClr val="FFFF00"/>
                </a:highlight>
                <a:latin typeface="Consolas" panose="020B0609020204030204" pitchFamily="49" charset="0"/>
              </a:rPr>
              <a:t>.INNER</a:t>
            </a:r>
            <a:endParaRPr lang="en-US" altLang="zh-CN" sz="1400" b="0" dirty="0">
              <a:solidFill>
                <a:srgbClr val="000000"/>
              </a:solidFill>
              <a:effectLst/>
              <a:highlight>
                <a:srgbClr val="FFFF00"/>
              </a:highlight>
              <a:latin typeface="Consolas" panose="020B0609020204030204" pitchFamily="49" charset="0"/>
            </a:endParaRPr>
          </a:p>
          <a:p>
            <a:r>
              <a:rPr lang="en-US" altLang="zh-CN" sz="1400" b="0" dirty="0">
                <a:solidFill>
                  <a:srgbClr val="000000"/>
                </a:solidFill>
                <a:effectLst/>
                <a:latin typeface="Consolas" panose="020B0609020204030204" pitchFamily="49" charset="0"/>
              </a:rPr>
              <a:t>18        </a:t>
            </a:r>
            <a:r>
              <a:rPr lang="en-US" altLang="zh-CN" sz="1400" b="0" dirty="0" err="1">
                <a:solidFill>
                  <a:srgbClr val="0000FF"/>
                </a:solidFill>
                <a:effectLst/>
                <a:latin typeface="Consolas" panose="020B0609020204030204" pitchFamily="49" charset="0"/>
              </a:rPr>
              <a:t>lw</a:t>
            </a:r>
            <a:r>
              <a:rPr lang="en-US" altLang="zh-CN" sz="1400" b="0" dirty="0">
                <a:solidFill>
                  <a:srgbClr val="000000"/>
                </a:solidFill>
                <a:effectLst/>
                <a:latin typeface="Consolas" panose="020B0609020204030204" pitchFamily="49" charset="0"/>
              </a:rPr>
              <a:t>      </a:t>
            </a:r>
            <a:r>
              <a:rPr lang="en-US" altLang="zh-CN" sz="1400" b="0" dirty="0">
                <a:solidFill>
                  <a:srgbClr val="008080"/>
                </a:solidFill>
                <a:effectLst/>
                <a:latin typeface="Consolas" panose="020B0609020204030204" pitchFamily="49" charset="0"/>
              </a:rPr>
              <a:t>a5</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20</a:t>
            </a:r>
            <a:r>
              <a:rPr lang="en-US" altLang="zh-CN" sz="1400" b="0" dirty="0">
                <a:solidFill>
                  <a:srgbClr val="000000"/>
                </a:solidFill>
                <a:effectLst/>
                <a:latin typeface="Consolas" panose="020B0609020204030204" pitchFamily="49" charset="0"/>
              </a:rPr>
              <a:t>(</a:t>
            </a:r>
            <a:r>
              <a:rPr lang="en-US" altLang="zh-CN" sz="1400" b="0" dirty="0">
                <a:solidFill>
                  <a:srgbClr val="008080"/>
                </a:solidFill>
                <a:effectLst/>
                <a:latin typeface="Consolas" panose="020B0609020204030204" pitchFamily="49" charset="0"/>
              </a:rPr>
              <a:t>s0</a:t>
            </a:r>
            <a:r>
              <a:rPr lang="en-US" altLang="zh-CN" sz="1400" b="0" dirty="0">
                <a:solidFill>
                  <a:srgbClr val="000000"/>
                </a:solidFill>
                <a:effectLst/>
                <a:latin typeface="Consolas" panose="020B0609020204030204" pitchFamily="49" charset="0"/>
              </a:rPr>
              <a:t>)</a:t>
            </a:r>
            <a:endParaRPr lang="en-US" altLang="zh-CN" sz="1400" b="0" dirty="0">
              <a:solidFill>
                <a:srgbClr val="000000"/>
              </a:solidFill>
              <a:effectLst/>
              <a:latin typeface="Consolas" panose="020B0609020204030204" pitchFamily="49" charset="0"/>
            </a:endParaRPr>
          </a:p>
          <a:p>
            <a:r>
              <a:rPr lang="en-US" altLang="zh-CN" sz="1400" b="0" dirty="0">
                <a:solidFill>
                  <a:srgbClr val="000000"/>
                </a:solidFill>
                <a:effectLst/>
                <a:latin typeface="Consolas" panose="020B0609020204030204" pitchFamily="49" charset="0"/>
              </a:rPr>
              <a:t>1c        </a:t>
            </a:r>
            <a:r>
              <a:rPr lang="en-US" altLang="zh-CN" sz="1400" b="0" dirty="0" err="1">
                <a:solidFill>
                  <a:srgbClr val="0000FF"/>
                </a:solidFill>
                <a:effectLst/>
                <a:latin typeface="Consolas" panose="020B0609020204030204" pitchFamily="49" charset="0"/>
              </a:rPr>
              <a:t>addi</a:t>
            </a:r>
            <a:r>
              <a:rPr lang="en-US" altLang="zh-CN" sz="1400" b="0" dirty="0">
                <a:solidFill>
                  <a:srgbClr val="000000"/>
                </a:solidFill>
                <a:effectLst/>
                <a:latin typeface="Consolas" panose="020B0609020204030204" pitchFamily="49" charset="0"/>
              </a:rPr>
              <a:t>    </a:t>
            </a:r>
            <a:r>
              <a:rPr lang="en-US" altLang="zh-CN" sz="1400" b="0" dirty="0">
                <a:solidFill>
                  <a:srgbClr val="008080"/>
                </a:solidFill>
                <a:effectLst/>
                <a:latin typeface="Consolas" panose="020B0609020204030204" pitchFamily="49" charset="0"/>
              </a:rPr>
              <a:t>a5</a:t>
            </a:r>
            <a:r>
              <a:rPr lang="en-US" altLang="zh-CN" sz="1400" b="0" dirty="0">
                <a:solidFill>
                  <a:srgbClr val="000000"/>
                </a:solidFill>
                <a:effectLst/>
                <a:latin typeface="Consolas" panose="020B0609020204030204" pitchFamily="49" charset="0"/>
              </a:rPr>
              <a:t>,</a:t>
            </a:r>
            <a:r>
              <a:rPr lang="en-US" altLang="zh-CN" sz="1400" b="0" dirty="0">
                <a:solidFill>
                  <a:srgbClr val="008080"/>
                </a:solidFill>
                <a:effectLst/>
                <a:latin typeface="Consolas" panose="020B0609020204030204" pitchFamily="49" charset="0"/>
              </a:rPr>
              <a:t>a5</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1</a:t>
            </a:r>
            <a:endParaRPr lang="en-US" altLang="zh-CN" sz="1400" b="0" dirty="0">
              <a:solidFill>
                <a:srgbClr val="000000"/>
              </a:solidFill>
              <a:effectLst/>
              <a:latin typeface="Consolas" panose="020B0609020204030204" pitchFamily="49" charset="0"/>
            </a:endParaRPr>
          </a:p>
          <a:p>
            <a:r>
              <a:rPr lang="en-US" altLang="zh-CN" sz="1400" b="0" dirty="0">
                <a:solidFill>
                  <a:srgbClr val="000000"/>
                </a:solidFill>
                <a:effectLst/>
                <a:latin typeface="Consolas" panose="020B0609020204030204" pitchFamily="49" charset="0"/>
              </a:rPr>
              <a:t>20        </a:t>
            </a:r>
            <a:r>
              <a:rPr lang="en-US" altLang="zh-CN" sz="1400" b="0" dirty="0" err="1">
                <a:solidFill>
                  <a:srgbClr val="0000FF"/>
                </a:solidFill>
                <a:effectLst/>
                <a:latin typeface="Consolas" panose="020B0609020204030204" pitchFamily="49" charset="0"/>
              </a:rPr>
              <a:t>sw</a:t>
            </a:r>
            <a:r>
              <a:rPr lang="en-US" altLang="zh-CN" sz="1400" b="0" dirty="0">
                <a:solidFill>
                  <a:srgbClr val="000000"/>
                </a:solidFill>
                <a:effectLst/>
                <a:latin typeface="Consolas" panose="020B0609020204030204" pitchFamily="49" charset="0"/>
              </a:rPr>
              <a:t>      </a:t>
            </a:r>
            <a:r>
              <a:rPr lang="en-US" altLang="zh-CN" sz="1400" b="0" dirty="0">
                <a:solidFill>
                  <a:srgbClr val="008080"/>
                </a:solidFill>
                <a:effectLst/>
                <a:latin typeface="Consolas" panose="020B0609020204030204" pitchFamily="49" charset="0"/>
              </a:rPr>
              <a:t>a5</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20</a:t>
            </a:r>
            <a:r>
              <a:rPr lang="en-US" altLang="zh-CN" sz="1400" b="0" dirty="0">
                <a:solidFill>
                  <a:srgbClr val="000000"/>
                </a:solidFill>
                <a:effectLst/>
                <a:latin typeface="Consolas" panose="020B0609020204030204" pitchFamily="49" charset="0"/>
              </a:rPr>
              <a:t>(</a:t>
            </a:r>
            <a:r>
              <a:rPr lang="en-US" altLang="zh-CN" sz="1400" b="0" dirty="0">
                <a:solidFill>
                  <a:srgbClr val="008080"/>
                </a:solidFill>
                <a:effectLst/>
                <a:latin typeface="Consolas" panose="020B0609020204030204" pitchFamily="49" charset="0"/>
              </a:rPr>
              <a:t>s0</a:t>
            </a:r>
            <a:r>
              <a:rPr lang="en-US" altLang="zh-CN" sz="1400" b="0" dirty="0">
                <a:solidFill>
                  <a:srgbClr val="000000"/>
                </a:solidFill>
                <a:effectLst/>
                <a:latin typeface="Consolas" panose="020B0609020204030204" pitchFamily="49" charset="0"/>
              </a:rPr>
              <a:t>)</a:t>
            </a:r>
            <a:endParaRPr lang="en-US" altLang="zh-CN" sz="1400" b="0" dirty="0">
              <a:solidFill>
                <a:srgbClr val="000000"/>
              </a:solidFill>
              <a:effectLst/>
              <a:latin typeface="Consolas" panose="020B0609020204030204" pitchFamily="49" charset="0"/>
            </a:endParaRPr>
          </a:p>
          <a:p>
            <a:r>
              <a:rPr lang="en-US" altLang="zh-CN" sz="1400" b="0" dirty="0">
                <a:solidFill>
                  <a:srgbClr val="008080"/>
                </a:solidFill>
                <a:effectLst/>
                <a:latin typeface="Consolas" panose="020B0609020204030204" pitchFamily="49" charset="0"/>
              </a:rPr>
              <a:t>  .L2:</a:t>
            </a:r>
            <a:endParaRPr lang="en-US" altLang="zh-CN" sz="1400" b="0" dirty="0">
              <a:solidFill>
                <a:srgbClr val="000000"/>
              </a:solidFill>
              <a:effectLst/>
              <a:latin typeface="Consolas" panose="020B0609020204030204" pitchFamily="49" charset="0"/>
            </a:endParaRPr>
          </a:p>
          <a:p>
            <a:r>
              <a:rPr lang="en-US" altLang="zh-CN" sz="1400" b="0" dirty="0">
                <a:solidFill>
                  <a:srgbClr val="000000"/>
                </a:solidFill>
                <a:effectLst/>
                <a:latin typeface="Consolas" panose="020B0609020204030204" pitchFamily="49" charset="0"/>
              </a:rPr>
              <a:t>24        </a:t>
            </a:r>
            <a:r>
              <a:rPr lang="en-US" altLang="zh-CN" sz="1400" b="0" dirty="0" err="1">
                <a:solidFill>
                  <a:srgbClr val="0000FF"/>
                </a:solidFill>
                <a:effectLst/>
                <a:latin typeface="Consolas" panose="020B0609020204030204" pitchFamily="49" charset="0"/>
              </a:rPr>
              <a:t>lw</a:t>
            </a:r>
            <a:r>
              <a:rPr lang="en-US" altLang="zh-CN" sz="1400" b="0" dirty="0">
                <a:solidFill>
                  <a:srgbClr val="000000"/>
                </a:solidFill>
                <a:effectLst/>
                <a:latin typeface="Consolas" panose="020B0609020204030204" pitchFamily="49" charset="0"/>
              </a:rPr>
              <a:t>      </a:t>
            </a:r>
            <a:r>
              <a:rPr lang="en-US" altLang="zh-CN" sz="1400" b="0" dirty="0">
                <a:solidFill>
                  <a:srgbClr val="008080"/>
                </a:solidFill>
                <a:effectLst/>
                <a:latin typeface="Consolas" panose="020B0609020204030204" pitchFamily="49" charset="0"/>
              </a:rPr>
              <a:t>a4</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20</a:t>
            </a:r>
            <a:r>
              <a:rPr lang="en-US" altLang="zh-CN" sz="1400" b="0" dirty="0">
                <a:solidFill>
                  <a:srgbClr val="000000"/>
                </a:solidFill>
                <a:effectLst/>
                <a:latin typeface="Consolas" panose="020B0609020204030204" pitchFamily="49" charset="0"/>
              </a:rPr>
              <a:t>(</a:t>
            </a:r>
            <a:r>
              <a:rPr lang="en-US" altLang="zh-CN" sz="1400" b="0" dirty="0">
                <a:solidFill>
                  <a:srgbClr val="008080"/>
                </a:solidFill>
                <a:effectLst/>
                <a:latin typeface="Consolas" panose="020B0609020204030204" pitchFamily="49" charset="0"/>
              </a:rPr>
              <a:t>s0</a:t>
            </a:r>
            <a:r>
              <a:rPr lang="en-US" altLang="zh-CN" sz="1400" b="0" dirty="0">
                <a:solidFill>
                  <a:srgbClr val="000000"/>
                </a:solidFill>
                <a:effectLst/>
                <a:latin typeface="Consolas" panose="020B0609020204030204" pitchFamily="49" charset="0"/>
              </a:rPr>
              <a:t>)</a:t>
            </a:r>
            <a:endParaRPr lang="en-US" altLang="zh-CN" sz="1400" b="0" dirty="0">
              <a:solidFill>
                <a:srgbClr val="000000"/>
              </a:solidFill>
              <a:effectLst/>
              <a:latin typeface="Consolas" panose="020B0609020204030204" pitchFamily="49" charset="0"/>
            </a:endParaRPr>
          </a:p>
          <a:p>
            <a:r>
              <a:rPr lang="en-US" altLang="zh-CN" sz="1400" b="0" dirty="0">
                <a:solidFill>
                  <a:srgbClr val="000000"/>
                </a:solidFill>
                <a:effectLst/>
                <a:latin typeface="Consolas" panose="020B0609020204030204" pitchFamily="49" charset="0"/>
              </a:rPr>
              <a:t>28        </a:t>
            </a:r>
            <a:r>
              <a:rPr lang="en-US" altLang="zh-CN" sz="1400" b="0" dirty="0">
                <a:solidFill>
                  <a:srgbClr val="0000FF"/>
                </a:solidFill>
                <a:effectLst/>
                <a:latin typeface="Consolas" panose="020B0609020204030204" pitchFamily="49" charset="0"/>
              </a:rPr>
              <a:t>li</a:t>
            </a:r>
            <a:r>
              <a:rPr lang="en-US" altLang="zh-CN" sz="1400" b="0" dirty="0">
                <a:solidFill>
                  <a:srgbClr val="000000"/>
                </a:solidFill>
                <a:effectLst/>
                <a:latin typeface="Consolas" panose="020B0609020204030204" pitchFamily="49" charset="0"/>
              </a:rPr>
              <a:t>      </a:t>
            </a:r>
            <a:r>
              <a:rPr lang="en-US" altLang="zh-CN" sz="1400" b="0" dirty="0">
                <a:solidFill>
                  <a:srgbClr val="008080"/>
                </a:solidFill>
                <a:effectLst/>
                <a:latin typeface="Consolas" panose="020B0609020204030204" pitchFamily="49" charset="0"/>
              </a:rPr>
              <a:t>a5</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9</a:t>
            </a:r>
            <a:endParaRPr lang="en-US" altLang="zh-CN" sz="1400" b="0" dirty="0">
              <a:solidFill>
                <a:srgbClr val="000000"/>
              </a:solidFill>
              <a:effectLst/>
              <a:latin typeface="Consolas" panose="020B0609020204030204" pitchFamily="49" charset="0"/>
            </a:endParaRPr>
          </a:p>
          <a:p>
            <a:r>
              <a:rPr lang="en-US" altLang="zh-CN" sz="1400" b="0" dirty="0">
                <a:solidFill>
                  <a:srgbClr val="000000"/>
                </a:solidFill>
                <a:effectLst/>
                <a:highlight>
                  <a:srgbClr val="FFFF00"/>
                </a:highlight>
                <a:latin typeface="Consolas" panose="020B0609020204030204" pitchFamily="49" charset="0"/>
              </a:rPr>
              <a:t>2c        </a:t>
            </a:r>
            <a:r>
              <a:rPr lang="en-US" altLang="zh-CN" sz="1400" b="0" dirty="0" err="1">
                <a:solidFill>
                  <a:srgbClr val="0000FF"/>
                </a:solidFill>
                <a:effectLst/>
                <a:highlight>
                  <a:srgbClr val="FFFF00"/>
                </a:highlight>
                <a:latin typeface="Consolas" panose="020B0609020204030204" pitchFamily="49" charset="0"/>
              </a:rPr>
              <a:t>ble</a:t>
            </a:r>
            <a:r>
              <a:rPr lang="en-US" altLang="zh-CN" sz="1400" b="0" dirty="0">
                <a:solidFill>
                  <a:srgbClr val="000000"/>
                </a:solidFill>
                <a:effectLst/>
                <a:highlight>
                  <a:srgbClr val="FFFF00"/>
                </a:highlight>
                <a:latin typeface="Consolas" panose="020B0609020204030204" pitchFamily="49" charset="0"/>
              </a:rPr>
              <a:t>     </a:t>
            </a:r>
            <a:r>
              <a:rPr lang="en-US" altLang="zh-CN" sz="1400" b="0" dirty="0">
                <a:solidFill>
                  <a:srgbClr val="008080"/>
                </a:solidFill>
                <a:effectLst/>
                <a:highlight>
                  <a:srgbClr val="FFFF00"/>
                </a:highlight>
                <a:latin typeface="Consolas" panose="020B0609020204030204" pitchFamily="49" charset="0"/>
              </a:rPr>
              <a:t>a4</a:t>
            </a:r>
            <a:r>
              <a:rPr lang="en-US" altLang="zh-CN" sz="1400" b="0" dirty="0">
                <a:solidFill>
                  <a:srgbClr val="000000"/>
                </a:solidFill>
                <a:effectLst/>
                <a:highlight>
                  <a:srgbClr val="FFFF00"/>
                </a:highlight>
                <a:latin typeface="Consolas" panose="020B0609020204030204" pitchFamily="49" charset="0"/>
              </a:rPr>
              <a:t>,</a:t>
            </a:r>
            <a:r>
              <a:rPr lang="en-US" altLang="zh-CN" sz="1400" b="0" dirty="0">
                <a:solidFill>
                  <a:srgbClr val="008080"/>
                </a:solidFill>
                <a:effectLst/>
                <a:highlight>
                  <a:srgbClr val="FFFF00"/>
                </a:highlight>
                <a:latin typeface="Consolas" panose="020B0609020204030204" pitchFamily="49" charset="0"/>
              </a:rPr>
              <a:t>a5</a:t>
            </a:r>
            <a:r>
              <a:rPr lang="en-US" altLang="zh-CN" sz="1400" b="0" dirty="0">
                <a:solidFill>
                  <a:srgbClr val="000000"/>
                </a:solidFill>
                <a:effectLst/>
                <a:highlight>
                  <a:srgbClr val="FFFF00"/>
                </a:highlight>
                <a:latin typeface="Consolas" panose="020B0609020204030204" pitchFamily="49" charset="0"/>
              </a:rPr>
              <a:t>,</a:t>
            </a:r>
            <a:r>
              <a:rPr lang="en-US" altLang="zh-CN" sz="1400" b="0" dirty="0">
                <a:solidFill>
                  <a:srgbClr val="008080"/>
                </a:solidFill>
                <a:effectLst/>
                <a:highlight>
                  <a:srgbClr val="FFFF00"/>
                </a:highlight>
                <a:latin typeface="Consolas" panose="020B0609020204030204" pitchFamily="49" charset="0"/>
              </a:rPr>
              <a:t>.OUTTER</a:t>
            </a:r>
            <a:endParaRPr lang="en-US" altLang="zh-CN" sz="1400" b="0" dirty="0">
              <a:solidFill>
                <a:srgbClr val="000000"/>
              </a:solidFill>
              <a:effectLst/>
              <a:highlight>
                <a:srgbClr val="FFFF00"/>
              </a:highlight>
              <a:latin typeface="Consolas" panose="020B0609020204030204" pitchFamily="49" charset="0"/>
            </a:endParaRPr>
          </a:p>
        </p:txBody>
      </p:sp>
      <p:cxnSp>
        <p:nvCxnSpPr>
          <p:cNvPr id="6" name="连接符: 肘形 5"/>
          <p:cNvCxnSpPr/>
          <p:nvPr/>
        </p:nvCxnSpPr>
        <p:spPr>
          <a:xfrm rot="10800000">
            <a:off x="8446212" y="4134206"/>
            <a:ext cx="2000636" cy="640186"/>
          </a:xfrm>
          <a:prstGeom prst="bentConnector3">
            <a:avLst>
              <a:gd name="adj1" fmla="val -1227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连接符: 肘形 6"/>
          <p:cNvCxnSpPr/>
          <p:nvPr/>
        </p:nvCxnSpPr>
        <p:spPr>
          <a:xfrm rot="16200000" flipV="1">
            <a:off x="8160847" y="3529721"/>
            <a:ext cx="3117551" cy="2448628"/>
          </a:xfrm>
          <a:prstGeom prst="bentConnector3">
            <a:avLst>
              <a:gd name="adj1" fmla="val 100394"/>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10551173" y="6312811"/>
            <a:ext cx="39276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46439" y="3811649"/>
            <a:ext cx="6851310" cy="400110"/>
          </a:xfrm>
          <a:prstGeom prst="rect">
            <a:avLst/>
          </a:prstGeom>
          <a:noFill/>
        </p:spPr>
        <p:txBody>
          <a:bodyPr wrap="square" rtlCol="0">
            <a:spAutoFit/>
          </a:bodyPr>
          <a:lstStyle/>
          <a:p>
            <a:r>
              <a:rPr lang="zh-CN" altLang="en-US" sz="2000" b="1" dirty="0"/>
              <a:t>一共会发生几次分支预测错误？（第一次遇见跳转指令不算）</a:t>
            </a:r>
            <a:endParaRPr lang="zh-CN" altLang="en-US" sz="2000" b="1" dirty="0"/>
          </a:p>
        </p:txBody>
      </p:sp>
      <p:sp>
        <p:nvSpPr>
          <p:cNvPr id="10" name="文本框 9"/>
          <p:cNvSpPr txBox="1"/>
          <p:nvPr/>
        </p:nvSpPr>
        <p:spPr>
          <a:xfrm>
            <a:off x="1117372" y="4226623"/>
            <a:ext cx="7268461" cy="923330"/>
          </a:xfrm>
          <a:prstGeom prst="rect">
            <a:avLst/>
          </a:prstGeom>
          <a:noFill/>
        </p:spPr>
        <p:txBody>
          <a:bodyPr wrap="square" rtlCol="0">
            <a:spAutoFit/>
          </a:bodyPr>
          <a:lstStyle/>
          <a:p>
            <a:r>
              <a:rPr lang="en-US" altLang="zh-CN" dirty="0"/>
              <a:t>2bit</a:t>
            </a:r>
            <a:endParaRPr lang="en-US" altLang="zh-CN" dirty="0"/>
          </a:p>
          <a:p>
            <a:r>
              <a:rPr lang="zh-CN" altLang="en-US" dirty="0"/>
              <a:t>对于每一次外层循环：只在执行最后一次内层循环的时候预测错误</a:t>
            </a:r>
            <a:endParaRPr lang="en-US" altLang="zh-CN" dirty="0"/>
          </a:p>
          <a:p>
            <a:r>
              <a:rPr lang="zh-CN" altLang="en-US" dirty="0"/>
              <a:t>对于外层循环：最后一次退出的时候</a:t>
            </a:r>
            <a:endParaRPr lang="zh-CN" altLang="en-US" dirty="0"/>
          </a:p>
        </p:txBody>
      </p:sp>
      <p:sp>
        <p:nvSpPr>
          <p:cNvPr id="12" name="文本框 11"/>
          <p:cNvSpPr txBox="1"/>
          <p:nvPr/>
        </p:nvSpPr>
        <p:spPr>
          <a:xfrm>
            <a:off x="1117372" y="5259937"/>
            <a:ext cx="5683250" cy="1754326"/>
          </a:xfrm>
          <a:prstGeom prst="rect">
            <a:avLst/>
          </a:prstGeom>
          <a:noFill/>
        </p:spPr>
        <p:txBody>
          <a:bodyPr wrap="square" rtlCol="0">
            <a:spAutoFit/>
          </a:bodyPr>
          <a:lstStyle/>
          <a:p>
            <a:r>
              <a:rPr lang="en-US" altLang="zh-CN" dirty="0"/>
              <a:t>1bit:</a:t>
            </a:r>
            <a:endParaRPr lang="en-US" altLang="zh-CN" dirty="0"/>
          </a:p>
          <a:p>
            <a:r>
              <a:rPr lang="zh-CN" altLang="en-US" dirty="0"/>
              <a:t>对于每一次外层循环：</a:t>
            </a:r>
            <a:endParaRPr lang="en-US" altLang="zh-CN" dirty="0"/>
          </a:p>
          <a:p>
            <a:r>
              <a:rPr lang="en-US" altLang="zh-CN" dirty="0"/>
              <a:t>	</a:t>
            </a:r>
            <a:r>
              <a:rPr lang="zh-CN" altLang="en-US" dirty="0"/>
              <a:t>内层循环在执行最后一次，要退出了的时候</a:t>
            </a:r>
            <a:endParaRPr lang="en-US" altLang="zh-CN" dirty="0"/>
          </a:p>
          <a:p>
            <a:r>
              <a:rPr lang="en-US" altLang="zh-CN" dirty="0"/>
              <a:t>	</a:t>
            </a:r>
            <a:r>
              <a:rPr lang="zh-CN" altLang="en-US" dirty="0"/>
              <a:t>内层循环在执行第一次，刚要进入的时候</a:t>
            </a:r>
            <a:endParaRPr lang="en-US" altLang="zh-CN" dirty="0"/>
          </a:p>
          <a:p>
            <a:r>
              <a:rPr lang="zh-CN" altLang="en-US" dirty="0"/>
              <a:t>对于外层循环：最后一次退出的时候</a:t>
            </a:r>
            <a:endParaRPr lang="zh-CN" altLang="en-US" dirty="0"/>
          </a:p>
          <a:p>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分支预测是什么</a:t>
            </a:r>
            <a:endParaRPr lang="zh-CN" altLang="en-US" dirty="0"/>
          </a:p>
        </p:txBody>
      </p:sp>
      <p:sp>
        <p:nvSpPr>
          <p:cNvPr id="4" name="文本框 3"/>
          <p:cNvSpPr txBox="1"/>
          <p:nvPr/>
        </p:nvSpPr>
        <p:spPr>
          <a:xfrm>
            <a:off x="718217" y="5732659"/>
            <a:ext cx="11313362" cy="923330"/>
          </a:xfrm>
          <a:prstGeom prst="rect">
            <a:avLst/>
          </a:prstGeom>
          <a:noFill/>
        </p:spPr>
        <p:txBody>
          <a:bodyPr wrap="square">
            <a:spAutoFit/>
          </a:bodyPr>
          <a:lstStyle/>
          <a:p>
            <a:pPr algn="l"/>
            <a:r>
              <a:rPr lang="en-US" altLang="zh-CN" b="0" i="0" dirty="0">
                <a:effectLst/>
                <a:latin typeface="JetBrains Mono" panose="02000009000000000000"/>
              </a:rPr>
              <a:t>branch-target buffer (BTB)</a:t>
            </a:r>
            <a:r>
              <a:rPr lang="zh-CN" altLang="en-US" b="0" i="0" dirty="0">
                <a:effectLst/>
                <a:latin typeface="JetBrains Mono" panose="02000009000000000000"/>
              </a:rPr>
              <a:t>，也叫 </a:t>
            </a:r>
            <a:r>
              <a:rPr lang="en-US" altLang="zh-CN" b="0" i="0" dirty="0">
                <a:effectLst/>
                <a:latin typeface="JetBrains Mono" panose="02000009000000000000"/>
              </a:rPr>
              <a:t>branch-target cache</a:t>
            </a:r>
            <a:r>
              <a:rPr lang="zh-CN" altLang="en-US" b="0" i="0" dirty="0">
                <a:effectLst/>
                <a:latin typeface="JetBrains Mono" panose="02000009000000000000"/>
              </a:rPr>
              <a:t>，用来保存预测的分支跳转目标地址。与 </a:t>
            </a:r>
            <a:r>
              <a:rPr lang="en-US" altLang="zh-CN" b="0" i="0" dirty="0">
                <a:effectLst/>
                <a:latin typeface="JetBrains Mono" panose="02000009000000000000"/>
              </a:rPr>
              <a:t>BHT </a:t>
            </a:r>
            <a:r>
              <a:rPr lang="zh-CN" altLang="en-US" b="0" i="0" dirty="0">
                <a:effectLst/>
                <a:latin typeface="JetBrains Mono" panose="02000009000000000000"/>
              </a:rPr>
              <a:t>相结合，如果预测当前分支发生跳转，就根据当前的分支跳转指令的 </a:t>
            </a:r>
            <a:r>
              <a:rPr lang="en-US" altLang="zh-CN" b="0" i="0" dirty="0">
                <a:effectLst/>
                <a:latin typeface="JetBrains Mono" panose="02000009000000000000"/>
              </a:rPr>
              <a:t>PC</a:t>
            </a:r>
            <a:r>
              <a:rPr lang="zh-CN" altLang="en-US" b="0" i="0" dirty="0">
                <a:effectLst/>
                <a:latin typeface="JetBrains Mono" panose="02000009000000000000"/>
              </a:rPr>
              <a:t>，从 </a:t>
            </a:r>
            <a:r>
              <a:rPr lang="en-US" altLang="zh-CN" b="0" i="0" dirty="0">
                <a:effectLst/>
                <a:latin typeface="JetBrains Mono" panose="02000009000000000000"/>
              </a:rPr>
              <a:t>BTB </a:t>
            </a:r>
            <a:r>
              <a:rPr lang="zh-CN" altLang="en-US" b="0" i="0" dirty="0">
                <a:effectLst/>
                <a:latin typeface="JetBrains Mono" panose="02000009000000000000"/>
              </a:rPr>
              <a:t>里拿到对应的目标跳转地址作为下一条指令地址。其基本结构就是一张 </a:t>
            </a:r>
            <a:r>
              <a:rPr lang="en-US" altLang="zh-CN" b="0" i="0" dirty="0">
                <a:effectLst/>
                <a:latin typeface="JetBrains Mono" panose="02000009000000000000"/>
              </a:rPr>
              <a:t>look-up table</a:t>
            </a:r>
            <a:r>
              <a:rPr lang="zh-CN" altLang="en-US" b="0" i="0" dirty="0">
                <a:effectLst/>
                <a:latin typeface="JetBrains Mono" panose="02000009000000000000"/>
              </a:rPr>
              <a:t>，如下图 </a:t>
            </a:r>
            <a:r>
              <a:rPr lang="en-US" altLang="zh-CN" b="0" i="0" dirty="0">
                <a:effectLst/>
                <a:latin typeface="JetBrains Mono" panose="02000009000000000000"/>
              </a:rPr>
              <a:t>3 </a:t>
            </a:r>
            <a:r>
              <a:rPr lang="zh-CN" altLang="en-US" b="0" i="0" dirty="0">
                <a:effectLst/>
                <a:latin typeface="JetBrains Mono" panose="02000009000000000000"/>
              </a:rPr>
              <a:t>所示：</a:t>
            </a:r>
            <a:endParaRPr lang="zh-CN" altLang="en-US" b="0" i="0" dirty="0">
              <a:effectLst/>
              <a:latin typeface="JetBrains Mono" panose="02000009000000000000"/>
            </a:endParaRPr>
          </a:p>
        </p:txBody>
      </p:sp>
      <p:sp>
        <p:nvSpPr>
          <p:cNvPr id="6" name="文本框 5"/>
          <p:cNvSpPr txBox="1"/>
          <p:nvPr/>
        </p:nvSpPr>
        <p:spPr>
          <a:xfrm>
            <a:off x="593088" y="803086"/>
            <a:ext cx="10687719" cy="646331"/>
          </a:xfrm>
          <a:prstGeom prst="rect">
            <a:avLst/>
          </a:prstGeom>
          <a:noFill/>
        </p:spPr>
        <p:txBody>
          <a:bodyPr wrap="square">
            <a:spAutoFit/>
          </a:bodyPr>
          <a:lstStyle/>
          <a:p>
            <a:r>
              <a:rPr lang="zh-CN" altLang="en-US" b="0" i="0" dirty="0">
                <a:effectLst/>
                <a:latin typeface="JetBrains Mono" panose="02000009000000000000"/>
              </a:rPr>
              <a:t>看了 </a:t>
            </a:r>
            <a:r>
              <a:rPr lang="en-US" altLang="zh-CN" b="0" i="0" dirty="0">
                <a:effectLst/>
                <a:latin typeface="JetBrains Mono" panose="02000009000000000000"/>
              </a:rPr>
              <a:t>BHT </a:t>
            </a:r>
            <a:r>
              <a:rPr lang="zh-CN" altLang="en-US" b="0" i="0" dirty="0">
                <a:effectLst/>
                <a:latin typeface="JetBrains Mono" panose="02000009000000000000"/>
              </a:rPr>
              <a:t>的基本介绍，大家可能会疑惑 </a:t>
            </a:r>
            <a:r>
              <a:rPr lang="en-US" altLang="zh-CN" b="0" i="0" dirty="0">
                <a:effectLst/>
                <a:latin typeface="JetBrains Mono" panose="02000009000000000000"/>
              </a:rPr>
              <a:t>BHT </a:t>
            </a:r>
            <a:r>
              <a:rPr lang="zh-CN" altLang="en-US" b="0" i="0" dirty="0">
                <a:effectLst/>
                <a:latin typeface="JetBrains Mono" panose="02000009000000000000"/>
              </a:rPr>
              <a:t>中预测分支跳转是 </a:t>
            </a:r>
            <a:r>
              <a:rPr lang="en-US" altLang="zh-CN" b="0" i="0" dirty="0">
                <a:effectLst/>
                <a:latin typeface="JetBrains Mono" panose="02000009000000000000"/>
              </a:rPr>
              <a:t>taken </a:t>
            </a:r>
            <a:r>
              <a:rPr lang="zh-CN" altLang="en-US" b="0" i="0" dirty="0">
                <a:effectLst/>
                <a:latin typeface="JetBrains Mono" panose="02000009000000000000"/>
              </a:rPr>
              <a:t>的情况下如何拿到跳转的目标 </a:t>
            </a:r>
            <a:r>
              <a:rPr lang="en-US" altLang="zh-CN" b="0" i="0" dirty="0">
                <a:effectLst/>
                <a:latin typeface="JetBrains Mono" panose="02000009000000000000"/>
              </a:rPr>
              <a:t>PC</a:t>
            </a:r>
            <a:r>
              <a:rPr lang="zh-CN" altLang="en-US" b="0" i="0" dirty="0">
                <a:effectLst/>
                <a:latin typeface="JetBrains Mono" panose="02000009000000000000"/>
              </a:rPr>
              <a:t>，</a:t>
            </a:r>
            <a:r>
              <a:rPr lang="en-US" altLang="zh-CN" b="0" i="0" dirty="0">
                <a:effectLst/>
                <a:latin typeface="JetBrains Mono" panose="02000009000000000000"/>
              </a:rPr>
              <a:t>BTB </a:t>
            </a:r>
            <a:r>
              <a:rPr lang="zh-CN" altLang="en-US" b="0" i="0" dirty="0">
                <a:effectLst/>
                <a:latin typeface="JetBrains Mono" panose="02000009000000000000"/>
              </a:rPr>
              <a:t>就是来解决这一问题的。</a:t>
            </a:r>
            <a:endParaRPr lang="zh-CN" altLang="en-US" b="0" i="0" dirty="0">
              <a:effectLst/>
              <a:latin typeface="JetBrains Mono" panose="02000009000000000000"/>
            </a:endParaRPr>
          </a:p>
        </p:txBody>
      </p:sp>
      <p:pic>
        <p:nvPicPr>
          <p:cNvPr id="7" name="图片 6"/>
          <p:cNvPicPr>
            <a:picLocks noChangeAspect="1"/>
          </p:cNvPicPr>
          <p:nvPr/>
        </p:nvPicPr>
        <p:blipFill>
          <a:blip r:embed="rId1"/>
          <a:srcRect l="-1" r="-1672" b="12070"/>
          <a:stretch>
            <a:fillRect/>
          </a:stretch>
        </p:blipFill>
        <p:spPr>
          <a:xfrm>
            <a:off x="3472687" y="1323129"/>
            <a:ext cx="5901484" cy="421174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分支预测是什么</a:t>
            </a:r>
            <a:endParaRPr lang="zh-CN" altLang="en-US" dirty="0"/>
          </a:p>
        </p:txBody>
      </p:sp>
      <p:graphicFrame>
        <p:nvGraphicFramePr>
          <p:cNvPr id="3" name="表格 2"/>
          <p:cNvGraphicFramePr>
            <a:graphicFrameLocks noGrp="1"/>
          </p:cNvGraphicFramePr>
          <p:nvPr/>
        </p:nvGraphicFramePr>
        <p:xfrm>
          <a:off x="1175221" y="1767427"/>
          <a:ext cx="3234834" cy="3739729"/>
        </p:xfrm>
        <a:graphic>
          <a:graphicData uri="http://schemas.openxmlformats.org/drawingml/2006/table">
            <a:tbl>
              <a:tblPr firstRow="1" bandRow="1">
                <a:tableStyleId>{5C22544A-7EE6-4342-B048-85BDC9FD1C3A}</a:tableStyleId>
              </a:tblPr>
              <a:tblGrid>
                <a:gridCol w="1617417"/>
                <a:gridCol w="1617417"/>
              </a:tblGrid>
              <a:tr h="835471">
                <a:tc>
                  <a:txBody>
                    <a:bodyPr/>
                    <a:lstStyle/>
                    <a:p>
                      <a:pPr algn="ctr"/>
                      <a:r>
                        <a:rPr lang="en-US" altLang="zh-CN" b="1" dirty="0"/>
                        <a:t>PC Address Index</a:t>
                      </a:r>
                      <a:endParaRPr lang="zh-CN" altLang="en-US" b="1" dirty="0"/>
                    </a:p>
                  </a:txBody>
                  <a:tcPr/>
                </a:tc>
                <a:tc>
                  <a:txBody>
                    <a:bodyPr/>
                    <a:lstStyle/>
                    <a:p>
                      <a:pPr algn="ctr"/>
                      <a:r>
                        <a:rPr lang="en-US" altLang="zh-CN" b="1" dirty="0"/>
                        <a:t>Taken or not</a:t>
                      </a:r>
                      <a:endParaRPr lang="zh-CN" altLang="en-US" b="1" dirty="0"/>
                    </a:p>
                  </a:txBody>
                  <a:tcPr/>
                </a:tc>
              </a:tr>
              <a:tr h="484043">
                <a:tc>
                  <a:txBody>
                    <a:bodyPr/>
                    <a:lstStyle/>
                    <a:p>
                      <a:pPr algn="ctr"/>
                      <a:r>
                        <a:rPr lang="en-US" altLang="zh-CN" b="1" dirty="0"/>
                        <a:t>0x1000</a:t>
                      </a:r>
                      <a:endParaRPr lang="zh-CN" altLang="en-US" b="1" dirty="0"/>
                    </a:p>
                  </a:txBody>
                  <a:tcPr/>
                </a:tc>
                <a:tc>
                  <a:txBody>
                    <a:bodyPr/>
                    <a:lstStyle/>
                    <a:p>
                      <a:pPr algn="ctr"/>
                      <a:r>
                        <a:rPr lang="en-US" altLang="zh-CN" b="1" dirty="0"/>
                        <a:t>Taken</a:t>
                      </a:r>
                      <a:endParaRPr lang="zh-CN" altLang="en-US" b="1" dirty="0"/>
                    </a:p>
                  </a:txBody>
                  <a:tcPr/>
                </a:tc>
              </a:tr>
              <a:tr h="484043">
                <a:tc>
                  <a:txBody>
                    <a:bodyPr/>
                    <a:lstStyle/>
                    <a:p>
                      <a:pPr algn="ctr"/>
                      <a:r>
                        <a:rPr lang="en-US" altLang="zh-CN" b="1" dirty="0"/>
                        <a:t>0x1080</a:t>
                      </a:r>
                      <a:endParaRPr lang="zh-CN" altLang="en-US" b="1" dirty="0"/>
                    </a:p>
                  </a:txBody>
                  <a:tcPr/>
                </a:tc>
                <a:tc>
                  <a:txBody>
                    <a:bodyPr/>
                    <a:lstStyle/>
                    <a:p>
                      <a:pPr algn="ctr"/>
                      <a:r>
                        <a:rPr lang="en-US" altLang="zh-CN" b="1" dirty="0"/>
                        <a:t>Taken</a:t>
                      </a:r>
                      <a:endParaRPr lang="zh-CN" altLang="en-US" b="1" dirty="0"/>
                    </a:p>
                  </a:txBody>
                  <a:tcPr/>
                </a:tc>
              </a:tr>
              <a:tr h="484043">
                <a:tc>
                  <a:txBody>
                    <a:bodyPr/>
                    <a:lstStyle/>
                    <a:p>
                      <a:pPr algn="ctr"/>
                      <a:r>
                        <a:rPr lang="en-US" altLang="zh-CN" b="1" dirty="0"/>
                        <a:t>0x2000</a:t>
                      </a:r>
                      <a:endParaRPr lang="zh-CN" altLang="en-US" b="1" dirty="0"/>
                    </a:p>
                  </a:txBody>
                  <a:tcPr/>
                </a:tc>
                <a:tc>
                  <a:txBody>
                    <a:bodyPr/>
                    <a:lstStyle/>
                    <a:p>
                      <a:pPr algn="ctr"/>
                      <a:r>
                        <a:rPr lang="en-US" altLang="zh-CN" b="1" dirty="0"/>
                        <a:t>Not taken</a:t>
                      </a:r>
                      <a:endParaRPr lang="zh-CN" altLang="en-US" b="1" dirty="0"/>
                    </a:p>
                  </a:txBody>
                  <a:tcPr/>
                </a:tc>
              </a:tr>
              <a:tr h="484043">
                <a:tc>
                  <a:txBody>
                    <a:bodyPr/>
                    <a:lstStyle/>
                    <a:p>
                      <a:pPr algn="ctr"/>
                      <a:r>
                        <a:rPr lang="en-US" altLang="zh-CN" b="1" dirty="0"/>
                        <a:t>0x2004</a:t>
                      </a:r>
                      <a:endParaRPr lang="zh-CN" altLang="en-US" b="1" dirty="0"/>
                    </a:p>
                  </a:txBody>
                  <a:tcPr/>
                </a:tc>
                <a:tc>
                  <a:txBody>
                    <a:bodyPr/>
                    <a:lstStyle/>
                    <a:p>
                      <a:pPr algn="ctr"/>
                      <a:r>
                        <a:rPr lang="en-US" altLang="zh-CN" b="1" dirty="0"/>
                        <a:t>Taken</a:t>
                      </a:r>
                      <a:endParaRPr lang="zh-CN" altLang="en-US" b="1" dirty="0"/>
                    </a:p>
                  </a:txBody>
                  <a:tcPr/>
                </a:tc>
              </a:tr>
              <a:tr h="484043">
                <a:tc>
                  <a:txBody>
                    <a:bodyPr/>
                    <a:lstStyle/>
                    <a:p>
                      <a:pPr algn="ctr"/>
                      <a:r>
                        <a:rPr lang="en-US" altLang="zh-CN" b="1" dirty="0"/>
                        <a:t>0x2040</a:t>
                      </a:r>
                      <a:endParaRPr lang="zh-CN" altLang="en-US" b="1" dirty="0"/>
                    </a:p>
                  </a:txBody>
                  <a:tcPr/>
                </a:tc>
                <a:tc>
                  <a:txBody>
                    <a:bodyPr/>
                    <a:lstStyle/>
                    <a:p>
                      <a:pPr algn="ctr"/>
                      <a:r>
                        <a:rPr lang="en-US" altLang="zh-CN" b="1" dirty="0"/>
                        <a:t>Not taken</a:t>
                      </a:r>
                      <a:endParaRPr lang="zh-CN" altLang="en-US" b="1" dirty="0"/>
                    </a:p>
                  </a:txBody>
                  <a:tcPr/>
                </a:tc>
              </a:tr>
              <a:tr h="484043">
                <a:tc>
                  <a:txBody>
                    <a:bodyPr/>
                    <a:lstStyle/>
                    <a:p>
                      <a:pPr algn="ctr"/>
                      <a:r>
                        <a:rPr lang="en-US" altLang="zh-CN" b="1" dirty="0"/>
                        <a:t>…</a:t>
                      </a:r>
                      <a:endParaRPr lang="zh-CN" altLang="en-US" b="1" dirty="0"/>
                    </a:p>
                  </a:txBody>
                  <a:tcPr/>
                </a:tc>
                <a:tc>
                  <a:txBody>
                    <a:bodyPr/>
                    <a:lstStyle/>
                    <a:p>
                      <a:pPr algn="ctr"/>
                      <a:r>
                        <a:rPr lang="en-US" altLang="zh-CN" b="1" dirty="0"/>
                        <a:t>…</a:t>
                      </a:r>
                      <a:endParaRPr lang="zh-CN" altLang="en-US" b="1" dirty="0"/>
                    </a:p>
                  </a:txBody>
                  <a:tcPr/>
                </a:tc>
              </a:tr>
            </a:tbl>
          </a:graphicData>
        </a:graphic>
      </p:graphicFrame>
      <p:graphicFrame>
        <p:nvGraphicFramePr>
          <p:cNvPr id="4" name="表格 3"/>
          <p:cNvGraphicFramePr>
            <a:graphicFrameLocks noGrp="1"/>
          </p:cNvGraphicFramePr>
          <p:nvPr/>
        </p:nvGraphicFramePr>
        <p:xfrm>
          <a:off x="6756871" y="1767427"/>
          <a:ext cx="3993678" cy="3597450"/>
        </p:xfrm>
        <a:graphic>
          <a:graphicData uri="http://schemas.openxmlformats.org/drawingml/2006/table">
            <a:tbl>
              <a:tblPr firstRow="1" bandRow="1">
                <a:tableStyleId>{5C22544A-7EE6-4342-B048-85BDC9FD1C3A}</a:tableStyleId>
              </a:tblPr>
              <a:tblGrid>
                <a:gridCol w="1331226"/>
                <a:gridCol w="1331226"/>
                <a:gridCol w="1331226"/>
              </a:tblGrid>
              <a:tr h="860707">
                <a:tc>
                  <a:txBody>
                    <a:bodyPr/>
                    <a:lstStyle/>
                    <a:p>
                      <a:pPr algn="ctr"/>
                      <a:r>
                        <a:rPr lang="en-US" altLang="zh-CN" b="1" dirty="0"/>
                        <a:t>PC Address Index</a:t>
                      </a:r>
                      <a:endParaRPr lang="zh-CN" altLang="en-US" b="1" dirty="0"/>
                    </a:p>
                  </a:txBody>
                  <a:tcPr/>
                </a:tc>
                <a:tc>
                  <a:txBody>
                    <a:bodyPr/>
                    <a:lstStyle/>
                    <a:p>
                      <a:pPr algn="ctr"/>
                      <a:r>
                        <a:rPr lang="en-US" altLang="zh-CN" b="1" dirty="0"/>
                        <a:t>Taken or not</a:t>
                      </a:r>
                      <a:endParaRPr lang="zh-CN" altLang="en-US" b="1" dirty="0"/>
                    </a:p>
                  </a:txBody>
                  <a:tcPr/>
                </a:tc>
                <a:tc>
                  <a:txBody>
                    <a:bodyPr/>
                    <a:lstStyle/>
                    <a:p>
                      <a:pPr algn="ctr"/>
                      <a:r>
                        <a:rPr lang="en-US" altLang="zh-CN" b="1" dirty="0"/>
                        <a:t>Target Address</a:t>
                      </a:r>
                      <a:endParaRPr lang="zh-CN" altLang="en-US" b="1" dirty="0"/>
                    </a:p>
                  </a:txBody>
                  <a:tcPr/>
                </a:tc>
              </a:tr>
              <a:tr h="463458">
                <a:tc>
                  <a:txBody>
                    <a:bodyPr/>
                    <a:lstStyle/>
                    <a:p>
                      <a:pPr algn="ctr"/>
                      <a:r>
                        <a:rPr lang="en-US" altLang="zh-CN" b="1" dirty="0"/>
                        <a:t>0x1000</a:t>
                      </a:r>
                      <a:endParaRPr lang="zh-CN" altLang="en-US" b="1" dirty="0"/>
                    </a:p>
                  </a:txBody>
                  <a:tcPr/>
                </a:tc>
                <a:tc>
                  <a:txBody>
                    <a:bodyPr/>
                    <a:lstStyle/>
                    <a:p>
                      <a:pPr algn="ctr"/>
                      <a:r>
                        <a:rPr lang="en-US" altLang="zh-CN" b="1" dirty="0"/>
                        <a:t>Taken</a:t>
                      </a:r>
                      <a:endParaRPr lang="zh-CN" altLang="en-US" b="1" dirty="0"/>
                    </a:p>
                  </a:txBody>
                  <a:tcPr/>
                </a:tc>
                <a:tc>
                  <a:txBody>
                    <a:bodyPr/>
                    <a:lstStyle/>
                    <a:p>
                      <a:pPr algn="ctr"/>
                      <a:r>
                        <a:rPr lang="en-US" altLang="zh-CN" b="1" dirty="0"/>
                        <a:t>0x1040</a:t>
                      </a:r>
                      <a:endParaRPr lang="zh-CN" altLang="en-US" b="1" dirty="0"/>
                    </a:p>
                  </a:txBody>
                  <a:tcPr/>
                </a:tc>
              </a:tr>
              <a:tr h="463458">
                <a:tc>
                  <a:txBody>
                    <a:bodyPr/>
                    <a:lstStyle/>
                    <a:p>
                      <a:pPr algn="ctr"/>
                      <a:r>
                        <a:rPr lang="en-US" altLang="zh-CN" b="1" dirty="0"/>
                        <a:t>0x1080</a:t>
                      </a:r>
                      <a:endParaRPr lang="zh-CN" altLang="en-US" b="1" dirty="0"/>
                    </a:p>
                  </a:txBody>
                  <a:tcPr/>
                </a:tc>
                <a:tc>
                  <a:txBody>
                    <a:bodyPr/>
                    <a:lstStyle/>
                    <a:p>
                      <a:pPr algn="ctr"/>
                      <a:r>
                        <a:rPr lang="en-US" altLang="zh-CN" b="1" dirty="0"/>
                        <a:t>Taken</a:t>
                      </a:r>
                      <a:endParaRPr lang="zh-CN" altLang="en-US" b="1" dirty="0"/>
                    </a:p>
                  </a:txBody>
                  <a:tcPr/>
                </a:tc>
                <a:tc>
                  <a:txBody>
                    <a:bodyPr/>
                    <a:lstStyle/>
                    <a:p>
                      <a:pPr algn="ctr"/>
                      <a:r>
                        <a:rPr lang="en-US" altLang="zh-CN" b="1" dirty="0"/>
                        <a:t>0x1000</a:t>
                      </a:r>
                      <a:endParaRPr lang="zh-CN" altLang="en-US" b="1" dirty="0"/>
                    </a:p>
                  </a:txBody>
                  <a:tcPr/>
                </a:tc>
              </a:tr>
              <a:tr h="463458">
                <a:tc>
                  <a:txBody>
                    <a:bodyPr/>
                    <a:lstStyle/>
                    <a:p>
                      <a:pPr algn="ctr"/>
                      <a:r>
                        <a:rPr lang="en-US" altLang="zh-CN" b="1" dirty="0"/>
                        <a:t>0x2000</a:t>
                      </a:r>
                      <a:endParaRPr lang="zh-CN" altLang="en-US" b="1" dirty="0"/>
                    </a:p>
                  </a:txBody>
                  <a:tcPr/>
                </a:tc>
                <a:tc>
                  <a:txBody>
                    <a:bodyPr/>
                    <a:lstStyle/>
                    <a:p>
                      <a:pPr algn="ctr"/>
                      <a:r>
                        <a:rPr lang="en-US" altLang="zh-CN" b="1" dirty="0"/>
                        <a:t>Not taken</a:t>
                      </a:r>
                      <a:endParaRPr lang="zh-CN" altLang="en-US" b="1" dirty="0"/>
                    </a:p>
                  </a:txBody>
                  <a:tcPr/>
                </a:tc>
                <a:tc>
                  <a:txBody>
                    <a:bodyPr/>
                    <a:lstStyle/>
                    <a:p>
                      <a:pPr algn="ctr"/>
                      <a:endParaRPr lang="zh-CN" altLang="en-US" b="1" dirty="0"/>
                    </a:p>
                  </a:txBody>
                  <a:tcPr/>
                </a:tc>
              </a:tr>
              <a:tr h="463458">
                <a:tc>
                  <a:txBody>
                    <a:bodyPr/>
                    <a:lstStyle/>
                    <a:p>
                      <a:pPr algn="ctr"/>
                      <a:r>
                        <a:rPr lang="en-US" altLang="zh-CN" b="1" dirty="0"/>
                        <a:t>0x2004</a:t>
                      </a:r>
                      <a:endParaRPr lang="zh-CN" altLang="en-US" b="1" dirty="0"/>
                    </a:p>
                  </a:txBody>
                  <a:tcPr/>
                </a:tc>
                <a:tc>
                  <a:txBody>
                    <a:bodyPr/>
                    <a:lstStyle/>
                    <a:p>
                      <a:pPr algn="ctr"/>
                      <a:r>
                        <a:rPr lang="en-US" altLang="zh-CN" b="1" dirty="0"/>
                        <a:t>Taken</a:t>
                      </a:r>
                      <a:endParaRPr lang="zh-CN" altLang="en-US" b="1" dirty="0"/>
                    </a:p>
                  </a:txBody>
                  <a:tcPr/>
                </a:tc>
                <a:tc>
                  <a:txBody>
                    <a:bodyPr/>
                    <a:lstStyle/>
                    <a:p>
                      <a:pPr algn="ctr"/>
                      <a:r>
                        <a:rPr lang="en-US" altLang="zh-CN" b="1" dirty="0"/>
                        <a:t>0x1040</a:t>
                      </a:r>
                      <a:endParaRPr lang="zh-CN" altLang="en-US" b="1" dirty="0"/>
                    </a:p>
                  </a:txBody>
                  <a:tcPr/>
                </a:tc>
              </a:tr>
              <a:tr h="463458">
                <a:tc>
                  <a:txBody>
                    <a:bodyPr/>
                    <a:lstStyle/>
                    <a:p>
                      <a:pPr algn="ctr"/>
                      <a:r>
                        <a:rPr lang="en-US" altLang="zh-CN" b="1" dirty="0"/>
                        <a:t>0x2040</a:t>
                      </a:r>
                      <a:endParaRPr lang="zh-CN" altLang="en-US" b="1" dirty="0"/>
                    </a:p>
                  </a:txBody>
                  <a:tcPr/>
                </a:tc>
                <a:tc>
                  <a:txBody>
                    <a:bodyPr/>
                    <a:lstStyle/>
                    <a:p>
                      <a:pPr algn="ctr"/>
                      <a:r>
                        <a:rPr lang="en-US" altLang="zh-CN" b="1" dirty="0"/>
                        <a:t>Not taken</a:t>
                      </a:r>
                      <a:endParaRPr lang="zh-CN" altLang="en-US" b="1" dirty="0"/>
                    </a:p>
                  </a:txBody>
                  <a:tcPr/>
                </a:tc>
                <a:tc>
                  <a:txBody>
                    <a:bodyPr/>
                    <a:lstStyle/>
                    <a:p>
                      <a:pPr algn="ctr"/>
                      <a:endParaRPr lang="zh-CN" altLang="en-US" b="1" dirty="0"/>
                    </a:p>
                  </a:txBody>
                  <a:tcPr/>
                </a:tc>
              </a:tr>
              <a:tr h="350477">
                <a:tc>
                  <a:txBody>
                    <a:bodyPr/>
                    <a:lstStyle/>
                    <a:p>
                      <a:pPr algn="ctr"/>
                      <a:r>
                        <a:rPr lang="en-US" altLang="zh-CN" b="1" dirty="0"/>
                        <a:t>…</a:t>
                      </a:r>
                      <a:endParaRPr lang="zh-CN" altLang="en-US" b="1" dirty="0"/>
                    </a:p>
                  </a:txBody>
                  <a:tcPr/>
                </a:tc>
                <a:tc>
                  <a:txBody>
                    <a:bodyPr/>
                    <a:lstStyle/>
                    <a:p>
                      <a:pPr algn="ctr"/>
                      <a:r>
                        <a:rPr lang="en-US" altLang="zh-CN" b="1" dirty="0"/>
                        <a:t>…</a:t>
                      </a:r>
                      <a:endParaRPr lang="zh-CN" altLang="en-US" b="1" dirty="0"/>
                    </a:p>
                  </a:txBody>
                  <a:tcPr/>
                </a:tc>
                <a:tc>
                  <a:txBody>
                    <a:bodyPr/>
                    <a:lstStyle/>
                    <a:p>
                      <a:pPr algn="ctr"/>
                      <a:endParaRPr lang="zh-CN" altLang="en-US" b="1" dirty="0"/>
                    </a:p>
                  </a:txBody>
                  <a:tcPr/>
                </a:tc>
              </a:tr>
            </a:tbl>
          </a:graphicData>
        </a:graphic>
      </p:graphicFrame>
      <p:cxnSp>
        <p:nvCxnSpPr>
          <p:cNvPr id="6" name="直接箭头连接符 5"/>
          <p:cNvCxnSpPr/>
          <p:nvPr/>
        </p:nvCxnSpPr>
        <p:spPr>
          <a:xfrm>
            <a:off x="4603750" y="3708400"/>
            <a:ext cx="19939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603375" y="1275834"/>
            <a:ext cx="2251075" cy="369332"/>
          </a:xfrm>
          <a:prstGeom prst="rect">
            <a:avLst/>
          </a:prstGeom>
          <a:noFill/>
        </p:spPr>
        <p:txBody>
          <a:bodyPr wrap="square">
            <a:spAutoFit/>
          </a:bodyPr>
          <a:lstStyle/>
          <a:p>
            <a:r>
              <a:rPr lang="en-US" altLang="zh-CN" sz="1800" b="1" i="0" u="none" strike="noStrike" baseline="0" dirty="0">
                <a:latin typeface="Calibri-Bold"/>
              </a:rPr>
              <a:t>Branch History Table </a:t>
            </a:r>
            <a:endParaRPr lang="zh-CN" altLang="en-US" dirty="0"/>
          </a:p>
        </p:txBody>
      </p:sp>
      <p:sp>
        <p:nvSpPr>
          <p:cNvPr id="10" name="文本框 9"/>
          <p:cNvSpPr txBox="1"/>
          <p:nvPr/>
        </p:nvSpPr>
        <p:spPr>
          <a:xfrm>
            <a:off x="7583722" y="1275834"/>
            <a:ext cx="2339975" cy="369332"/>
          </a:xfrm>
          <a:prstGeom prst="rect">
            <a:avLst/>
          </a:prstGeom>
          <a:noFill/>
        </p:spPr>
        <p:txBody>
          <a:bodyPr wrap="square">
            <a:spAutoFit/>
          </a:bodyPr>
          <a:lstStyle/>
          <a:p>
            <a:r>
              <a:rPr lang="en-US" altLang="zh-CN" sz="1800" b="1" i="0" u="none" strike="noStrike" baseline="0" dirty="0">
                <a:latin typeface="Calibri-Bold"/>
              </a:rPr>
              <a:t>Branch-Target Buffers </a:t>
            </a: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分支预测如何实现</a:t>
            </a:r>
            <a:endParaRPr lang="zh-CN" altLang="en-US" dirty="0"/>
          </a:p>
        </p:txBody>
      </p:sp>
      <p:pic>
        <p:nvPicPr>
          <p:cNvPr id="3" name="图片 2"/>
          <p:cNvPicPr>
            <a:picLocks noChangeAspect="1"/>
          </p:cNvPicPr>
          <p:nvPr/>
        </p:nvPicPr>
        <p:blipFill>
          <a:blip r:embed="rId1"/>
          <a:stretch>
            <a:fillRect/>
          </a:stretch>
        </p:blipFill>
        <p:spPr>
          <a:xfrm>
            <a:off x="1049153" y="986107"/>
            <a:ext cx="10372590" cy="5871893"/>
          </a:xfrm>
          <a:prstGeom prst="rect">
            <a:avLst/>
          </a:prstGeom>
        </p:spPr>
      </p:pic>
      <p:sp>
        <p:nvSpPr>
          <p:cNvPr id="4" name="矩形 3"/>
          <p:cNvSpPr/>
          <p:nvPr/>
        </p:nvSpPr>
        <p:spPr>
          <a:xfrm>
            <a:off x="2282932" y="1971040"/>
            <a:ext cx="658388" cy="459177"/>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分支预测如何实现</a:t>
            </a:r>
            <a:endParaRPr lang="zh-CN" altLang="en-US" dirty="0"/>
          </a:p>
        </p:txBody>
      </p:sp>
      <p:sp>
        <p:nvSpPr>
          <p:cNvPr id="4" name="文本框 3"/>
          <p:cNvSpPr txBox="1"/>
          <p:nvPr/>
        </p:nvSpPr>
        <p:spPr>
          <a:xfrm>
            <a:off x="115503" y="1159601"/>
            <a:ext cx="12310712" cy="5078313"/>
          </a:xfrm>
          <a:prstGeom prst="rect">
            <a:avLst/>
          </a:prstGeom>
          <a:noFill/>
        </p:spPr>
        <p:txBody>
          <a:bodyPr wrap="square">
            <a:spAutoFit/>
          </a:bodyPr>
          <a:lstStyle/>
          <a:p>
            <a:r>
              <a:rPr lang="en-US" altLang="zh-CN" dirty="0">
                <a:latin typeface="Cascadia Code" panose="020B0609020000020004" pitchFamily="49" charset="0"/>
                <a:ea typeface="Cascadia Code" panose="020B0609020000020004" pitchFamily="49" charset="0"/>
                <a:cs typeface="Cascadia Code" panose="020B0609020000020004" pitchFamily="49" charset="0"/>
              </a:rPr>
              <a:t>module </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BranchPrediction</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 #(</a:t>
            </a:r>
            <a:endParaRPr lang="en-US" altLang="zh-CN"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dirty="0">
                <a:latin typeface="Cascadia Code" panose="020B0609020000020004" pitchFamily="49" charset="0"/>
                <a:ea typeface="Cascadia Code" panose="020B0609020000020004" pitchFamily="49" charset="0"/>
                <a:cs typeface="Cascadia Code" panose="020B0609020000020004" pitchFamily="49" charset="0"/>
              </a:rPr>
              <a:t>    parameter DEPTH      = 32,</a:t>
            </a:r>
            <a:endParaRPr lang="en-US" altLang="zh-CN"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dirty="0">
                <a:latin typeface="Cascadia Code" panose="020B0609020000020004" pitchFamily="49" charset="0"/>
                <a:ea typeface="Cascadia Code" panose="020B0609020000020004" pitchFamily="49" charset="0"/>
                <a:cs typeface="Cascadia Code" panose="020B0609020000020004" pitchFamily="49" charset="0"/>
              </a:rPr>
              <a:t>    parameter ADDR_WIDTH = 64,</a:t>
            </a:r>
            <a:endParaRPr lang="en-US" altLang="zh-CN"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dirty="0">
                <a:latin typeface="Cascadia Code" panose="020B0609020000020004" pitchFamily="49" charset="0"/>
                <a:ea typeface="Cascadia Code" panose="020B0609020000020004" pitchFamily="49" charset="0"/>
                <a:cs typeface="Cascadia Code" panose="020B0609020000020004" pitchFamily="49" charset="0"/>
              </a:rPr>
              <a:t>    parameter STATE_NUM  = 2</a:t>
            </a:r>
            <a:endParaRPr lang="en-US" altLang="zh-CN"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dirty="0">
                <a:latin typeface="Cascadia Code" panose="020B0609020000020004" pitchFamily="49" charset="0"/>
                <a:ea typeface="Cascadia Code" panose="020B0609020000020004" pitchFamily="49" charset="0"/>
                <a:cs typeface="Cascadia Code" panose="020B0609020000020004" pitchFamily="49" charset="0"/>
              </a:rPr>
              <a:t>) (</a:t>
            </a:r>
            <a:endParaRPr lang="en-US" altLang="zh-CN"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dirty="0">
                <a:latin typeface="Cascadia Code" panose="020B0609020000020004" pitchFamily="49" charset="0"/>
                <a:ea typeface="Cascadia Code" panose="020B0609020000020004" pitchFamily="49" charset="0"/>
                <a:cs typeface="Cascadia Code" panose="020B0609020000020004" pitchFamily="49" charset="0"/>
              </a:rPr>
              <a:t>    input                   </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clk</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a:t>
            </a:r>
            <a:endParaRPr lang="en-US" altLang="zh-CN"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dirty="0">
                <a:latin typeface="Cascadia Code" panose="020B0609020000020004" pitchFamily="49" charset="0"/>
                <a:ea typeface="Cascadia Code" panose="020B0609020000020004" pitchFamily="49" charset="0"/>
                <a:cs typeface="Cascadia Code" panose="020B0609020000020004" pitchFamily="49" charset="0"/>
              </a:rPr>
              <a:t>    input                   </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rst</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a:t>
            </a:r>
            <a:endParaRPr lang="en-US" altLang="zh-CN"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dirty="0">
                <a:latin typeface="Cascadia Code" panose="020B0609020000020004" pitchFamily="49" charset="0"/>
                <a:ea typeface="Cascadia Code" panose="020B0609020000020004" pitchFamily="49" charset="0"/>
                <a:cs typeface="Cascadia Code" panose="020B0609020000020004" pitchFamily="49" charset="0"/>
              </a:rPr>
              <a:t>    input  [ADDR_WIDTH-1:0] </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pc_if</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         //The current PC</a:t>
            </a:r>
            <a:r>
              <a:rPr lang="en-US" altLang="zh-CN" dirty="0">
                <a:latin typeface="Cascadia Code" panose="020B0609020000020004" pitchFamily="49" charset="0"/>
                <a:cs typeface="Cascadia Code" panose="020B0609020000020004" pitchFamily="49" charset="0"/>
              </a:rPr>
              <a:t>, </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indexing the table entrance</a:t>
            </a:r>
            <a:endParaRPr lang="en-US" altLang="zh-CN"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dirty="0">
                <a:latin typeface="Cascadia Code" panose="020B0609020000020004" pitchFamily="49" charset="0"/>
                <a:ea typeface="Cascadia Code" panose="020B0609020000020004" pitchFamily="49" charset="0"/>
                <a:cs typeface="Cascadia Code" panose="020B0609020000020004" pitchFamily="49" charset="0"/>
              </a:rPr>
              <a:t>    output                  </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jump_pred_if</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  //BHT predict to jump or not</a:t>
            </a:r>
            <a:endParaRPr lang="en-US" altLang="zh-CN"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dirty="0">
                <a:latin typeface="Cascadia Code" panose="020B0609020000020004" pitchFamily="49" charset="0"/>
                <a:ea typeface="Cascadia Code" panose="020B0609020000020004" pitchFamily="49" charset="0"/>
                <a:cs typeface="Cascadia Code" panose="020B0609020000020004" pitchFamily="49" charset="0"/>
              </a:rPr>
              <a:t>    output [ADDR_WIDTH-1:0] </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pc_target_if</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  //BHT gives the predicted target PC</a:t>
            </a:r>
            <a:endParaRPr lang="en-US" altLang="zh-CN" dirty="0">
              <a:latin typeface="Cascadia Code" panose="020B0609020000020004" pitchFamily="49" charset="0"/>
              <a:ea typeface="Cascadia Code" panose="020B0609020000020004" pitchFamily="49" charset="0"/>
              <a:cs typeface="Cascadia Code" panose="020B0609020000020004" pitchFamily="49" charset="0"/>
            </a:endParaRPr>
          </a:p>
          <a:p>
            <a:endParaRPr lang="en-US" altLang="zh-CN"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dirty="0">
                <a:latin typeface="Cascadia Code" panose="020B0609020000020004" pitchFamily="49" charset="0"/>
                <a:ea typeface="Cascadia Code" panose="020B0609020000020004" pitchFamily="49" charset="0"/>
                <a:cs typeface="Cascadia Code" panose="020B0609020000020004" pitchFamily="49" charset="0"/>
              </a:rPr>
              <a:t>    // The EXE phase carries out the confirmation and correction of jumps, </a:t>
            </a:r>
            <a:endParaRPr lang="en-US" altLang="zh-CN"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dirty="0">
                <a:latin typeface="Cascadia Code" panose="020B0609020000020004" pitchFamily="49" charset="0"/>
                <a:ea typeface="Cascadia Code" panose="020B0609020000020004" pitchFamily="49" charset="0"/>
                <a:cs typeface="Cascadia Code" panose="020B0609020000020004" pitchFamily="49" charset="0"/>
              </a:rPr>
              <a:t>    // and the update of BHT and BTB</a:t>
            </a:r>
            <a:endParaRPr lang="en-US" altLang="zh-CN"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dirty="0">
                <a:latin typeface="Cascadia Code" panose="020B0609020000020004" pitchFamily="49" charset="0"/>
                <a:ea typeface="Cascadia Code" panose="020B0609020000020004" pitchFamily="49" charset="0"/>
                <a:cs typeface="Cascadia Code" panose="020B0609020000020004" pitchFamily="49" charset="0"/>
              </a:rPr>
              <a:t>    input [ADDR_WIDTH-1:0] </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pc_exe</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          </a:t>
            </a:r>
            <a:endParaRPr lang="en-US" altLang="zh-CN"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dirty="0">
                <a:latin typeface="Cascadia Code" panose="020B0609020000020004" pitchFamily="49" charset="0"/>
                <a:ea typeface="Cascadia Code" panose="020B0609020000020004" pitchFamily="49" charset="0"/>
                <a:cs typeface="Cascadia Code" panose="020B0609020000020004" pitchFamily="49" charset="0"/>
              </a:rPr>
              <a:t>    input [ADDR_WIDTH-1:0] </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pc_target_exe</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  //The true target jump PC, for updating BTB</a:t>
            </a:r>
            <a:endParaRPr lang="en-US" altLang="zh-CN"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dirty="0">
                <a:latin typeface="Cascadia Code" panose="020B0609020000020004" pitchFamily="49" charset="0"/>
                <a:ea typeface="Cascadia Code" panose="020B0609020000020004" pitchFamily="49" charset="0"/>
                <a:cs typeface="Cascadia Code" panose="020B0609020000020004" pitchFamily="49" charset="0"/>
              </a:rPr>
              <a:t>    input                  </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is_jump_exe</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    //The true jumping result</a:t>
            </a:r>
            <a:r>
              <a:rPr lang="zh-CN" altLang="en-US" dirty="0">
                <a:latin typeface="Cascadia Code" panose="020B0609020000020004" pitchFamily="49" charset="0"/>
                <a:cs typeface="Cascadia Code" panose="020B0609020000020004" pitchFamily="49" charset="0"/>
              </a:rPr>
              <a:t>，</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for updating BHT</a:t>
            </a:r>
            <a:endParaRPr lang="en-US" altLang="zh-CN"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dirty="0">
                <a:latin typeface="Cascadia Code" panose="020B0609020000020004" pitchFamily="49" charset="0"/>
                <a:ea typeface="Cascadia Code" panose="020B0609020000020004" pitchFamily="49" charset="0"/>
                <a:cs typeface="Cascadia Code" panose="020B0609020000020004" pitchFamily="49" charset="0"/>
              </a:rPr>
              <a:t>    input                  </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inst_is_jump_exe</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//The </a:t>
            </a:r>
            <a:r>
              <a:rPr lang="en-US" altLang="zh-CN" dirty="0" err="1">
                <a:latin typeface="Cascadia Code" panose="020B0609020000020004" pitchFamily="49" charset="0"/>
                <a:ea typeface="Cascadia Code" panose="020B0609020000020004" pitchFamily="49" charset="0"/>
                <a:cs typeface="Cascadia Code" panose="020B0609020000020004" pitchFamily="49" charset="0"/>
              </a:rPr>
              <a:t>inst</a:t>
            </a:r>
            <a:r>
              <a:rPr lang="en-US" altLang="zh-CN" dirty="0">
                <a:latin typeface="Cascadia Code" panose="020B0609020000020004" pitchFamily="49" charset="0"/>
                <a:ea typeface="Cascadia Code" panose="020B0609020000020004" pitchFamily="49" charset="0"/>
                <a:cs typeface="Cascadia Code" panose="020B0609020000020004" pitchFamily="49" charset="0"/>
              </a:rPr>
              <a:t> whether a jump/branch or not</a:t>
            </a:r>
            <a:endParaRPr lang="en-US" altLang="zh-CN" dirty="0">
              <a:latin typeface="Cascadia Code" panose="020B0609020000020004" pitchFamily="49" charset="0"/>
              <a:ea typeface="Cascadia Code" panose="020B0609020000020004" pitchFamily="49" charset="0"/>
              <a:cs typeface="Cascadia Code" panose="020B0609020000020004" pitchFamily="49" charset="0"/>
            </a:endParaRPr>
          </a:p>
          <a:p>
            <a:r>
              <a:rPr lang="en-US" altLang="zh-CN" dirty="0">
                <a:latin typeface="Cascadia Code" panose="020B0609020000020004" pitchFamily="49" charset="0"/>
                <a:ea typeface="Cascadia Code" panose="020B0609020000020004" pitchFamily="49" charset="0"/>
                <a:cs typeface="Cascadia Code" panose="020B0609020000020004" pitchFamily="49" charset="0"/>
              </a:rPr>
              <a:t>);</a:t>
            </a:r>
            <a:endParaRPr lang="zh-CN" altLang="en-US" dirty="0">
              <a:latin typeface="Cascadia Code" panose="020B0609020000020004" pitchFamily="49" charset="0"/>
              <a:cs typeface="Cascadia Code" panose="020B0609020000020004" pitchFamily="49" charset="0"/>
            </a:endParaRPr>
          </a:p>
        </p:txBody>
      </p:sp>
      <p:cxnSp>
        <p:nvCxnSpPr>
          <p:cNvPr id="6" name="直接箭头连接符 5"/>
          <p:cNvCxnSpPr/>
          <p:nvPr/>
        </p:nvCxnSpPr>
        <p:spPr>
          <a:xfrm>
            <a:off x="4138862" y="2165684"/>
            <a:ext cx="2261937"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400799" y="1981018"/>
            <a:ext cx="1347537" cy="369332"/>
          </a:xfrm>
          <a:prstGeom prst="rect">
            <a:avLst/>
          </a:prstGeom>
          <a:noFill/>
        </p:spPr>
        <p:txBody>
          <a:bodyPr wrap="square" rtlCol="0">
            <a:spAutoFit/>
          </a:bodyPr>
          <a:lstStyle/>
          <a:p>
            <a:pPr algn="ctr"/>
            <a:r>
              <a:rPr lang="zh-CN" altLang="en-US" dirty="0"/>
              <a:t>预测比特数</a:t>
            </a:r>
            <a:endParaRPr lang="zh-CN" altLang="en-US" dirty="0"/>
          </a:p>
        </p:txBody>
      </p:sp>
      <p:cxnSp>
        <p:nvCxnSpPr>
          <p:cNvPr id="10" name="直接箭头连接符 9"/>
          <p:cNvCxnSpPr/>
          <p:nvPr/>
        </p:nvCxnSpPr>
        <p:spPr>
          <a:xfrm>
            <a:off x="4138862" y="1596190"/>
            <a:ext cx="2261937"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6400800" y="1372579"/>
            <a:ext cx="1848052" cy="369332"/>
          </a:xfrm>
          <a:prstGeom prst="rect">
            <a:avLst/>
          </a:prstGeom>
          <a:noFill/>
        </p:spPr>
        <p:txBody>
          <a:bodyPr wrap="square" rtlCol="0">
            <a:spAutoFit/>
          </a:bodyPr>
          <a:lstStyle/>
          <a:p>
            <a:pPr algn="ctr"/>
            <a:r>
              <a:rPr lang="zh-CN" altLang="en-US" dirty="0"/>
              <a:t>预测的地址条数</a:t>
            </a: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p:transition spd="slow">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2577</Words>
  <Application>WPS 文字</Application>
  <PresentationFormat>宽屏</PresentationFormat>
  <Paragraphs>181</Paragraphs>
  <Slides>8</Slides>
  <Notes>1</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8</vt:i4>
      </vt:variant>
    </vt:vector>
  </HeadingPairs>
  <TitlesOfParts>
    <vt:vector size="32" baseType="lpstr">
      <vt:lpstr>Arial</vt:lpstr>
      <vt:lpstr>宋体</vt:lpstr>
      <vt:lpstr>Wingdings</vt:lpstr>
      <vt:lpstr>方正粗雅宋简体</vt:lpstr>
      <vt:lpstr>汉仪书宋二KW</vt:lpstr>
      <vt:lpstr>JetBrains Mono</vt:lpstr>
      <vt:lpstr>Cascadia Code</vt:lpstr>
      <vt:lpstr>苹方-简</vt:lpstr>
      <vt:lpstr>Consolas</vt:lpstr>
      <vt:lpstr>Calibri-Bold</vt:lpstr>
      <vt:lpstr>Thonburi</vt:lpstr>
      <vt:lpstr>等线</vt:lpstr>
      <vt:lpstr>汉仪中等线KW</vt:lpstr>
      <vt:lpstr>微软雅黑</vt:lpstr>
      <vt:lpstr>汉仪旗黑</vt:lpstr>
      <vt:lpstr>宋体</vt:lpstr>
      <vt:lpstr>Arial Unicode MS</vt:lpstr>
      <vt:lpstr>等线 Light</vt:lpstr>
      <vt:lpstr>Calibri</vt:lpstr>
      <vt:lpstr>Helvetica Neue</vt:lpstr>
      <vt:lpstr>Calibri-Bold</vt:lpstr>
      <vt:lpstr>JetBrains Mono</vt:lpstr>
      <vt:lpstr>方正粗雅宋简体</vt:lpstr>
      <vt:lpstr>Office 主题​​</vt:lpstr>
      <vt:lpstr> </vt:lpstr>
      <vt:lpstr>分支预测是什么</vt:lpstr>
      <vt:lpstr>分支预测是什么</vt:lpstr>
      <vt:lpstr>分支预测是什么</vt:lpstr>
      <vt:lpstr>分支预测是什么</vt:lpstr>
      <vt:lpstr>分支预测是什么</vt:lpstr>
      <vt:lpstr>分支预测如何实现</vt:lpstr>
      <vt:lpstr>分支预测如何实现</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Xingzhi Zhang</dc:creator>
  <cp:lastModifiedBy>张书怀</cp:lastModifiedBy>
  <cp:revision>45</cp:revision>
  <dcterms:created xsi:type="dcterms:W3CDTF">2026-03-04T04:13:43Z</dcterms:created>
  <dcterms:modified xsi:type="dcterms:W3CDTF">2026-03-04T04:13:43Z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E08910E08608795230B1A7698F39BC55_42</vt:lpwstr>
  </property>
  <property fmtid="{D5CDD505-2E9C-101B-9397-08002B2CF9AE}" pid="3" name="KSOProductBuildVer">
    <vt:lpwstr>2052-12.1.24031.24031</vt:lpwstr>
  </property>
</Properties>
</file>