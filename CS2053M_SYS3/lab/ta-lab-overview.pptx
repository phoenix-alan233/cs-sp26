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58" r:id="rId3"/>
    <p:sldId id="359" r:id="rId5"/>
    <p:sldId id="360" r:id="rId6"/>
    <p:sldId id="362" r:id="rId7"/>
    <p:sldId id="363" r:id="rId8"/>
    <p:sldId id="364"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26"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EB0CC7-23B6-416D-8CC2-C5718ACC76C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58450-89CB-412A-9AA9-FE877EEE0DE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Start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5B42F4E-B7BB-451C-9A1E-0EFEAF4606C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718218" y="202011"/>
            <a:ext cx="8655953" cy="601075"/>
          </a:xfrm>
          <a:prstGeom prst="rect">
            <a:avLst/>
          </a:prstGeom>
        </p:spPr>
        <p:txBody>
          <a:bodyPr lIns="0" rIns="0" anchor="ctr">
            <a:normAutofit/>
          </a:bodyPr>
          <a:lstStyle>
            <a:lvl1pPr>
              <a:defRPr sz="28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endParaRPr lang="zh-CN" altLang="en-US" dirty="0"/>
          </a:p>
        </p:txBody>
      </p:sp>
      <p:sp>
        <p:nvSpPr>
          <p:cNvPr id="5" name="灯片编号占位符 4"/>
          <p:cNvSpPr>
            <a:spLocks noGrp="1"/>
          </p:cNvSpPr>
          <p:nvPr>
            <p:ph type="sldNum" sz="quarter" idx="12"/>
          </p:nvPr>
        </p:nvSpPr>
        <p:spPr>
          <a:xfrm>
            <a:off x="9137021" y="6494335"/>
            <a:ext cx="2743200" cy="341761"/>
          </a:xfrm>
          <a:prstGeom prst="rect">
            <a:avLst/>
          </a:prstGeom>
        </p:spPr>
        <p:txBody>
          <a:bodyPr/>
          <a:lstStyle>
            <a:lvl1pPr algn="r">
              <a:defRPr sz="1100" b="1" i="0">
                <a:solidFill>
                  <a:schemeClr val="accent1"/>
                </a:solidFill>
              </a:defRPr>
            </a:lvl1pPr>
          </a:lstStyle>
          <a:p>
            <a:fld id="{1AAC388E-FA9E-4A2C-95EA-1F6B3A07935A}" type="slidenum">
              <a:rPr lang="zh-CN" altLang="en-US" smtClean="0"/>
            </a:fld>
            <a:endParaRPr lang="zh-CN" altLang="en-US" dirty="0"/>
          </a:p>
        </p:txBody>
      </p:sp>
      <p:grpSp>
        <p:nvGrpSpPr>
          <p:cNvPr id="6" name="Group 74"/>
          <p:cNvGrpSpPr>
            <a:grpSpLocks noChangeAspect="1"/>
          </p:cNvGrpSpPr>
          <p:nvPr userDrawn="1"/>
        </p:nvGrpSpPr>
        <p:grpSpPr bwMode="auto">
          <a:xfrm>
            <a:off x="9961824" y="317195"/>
            <a:ext cx="1557337" cy="433207"/>
            <a:chOff x="954" y="660"/>
            <a:chExt cx="1269" cy="353"/>
          </a:xfrm>
        </p:grpSpPr>
        <p:sp>
          <p:nvSpPr>
            <p:cNvPr id="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4353" y="6468880"/>
            <a:ext cx="1865182" cy="3926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0C782F-F9D2-44A1-BC3F-04F6BB5CC08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88CC23-743B-4CDD-8A77-7335E521C2A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mtClean="0"/>
            </a:fld>
            <a:endParaRPr lang="zh-CN" altLang="en-US" dirty="0"/>
          </a:p>
        </p:txBody>
      </p:sp>
      <p:sp>
        <p:nvSpPr>
          <p:cNvPr id="6" name="矩形 5"/>
          <p:cNvSpPr/>
          <p:nvPr/>
        </p:nvSpPr>
        <p:spPr>
          <a:xfrm>
            <a:off x="930414" y="895898"/>
            <a:ext cx="877163" cy="923330"/>
          </a:xfrm>
          <a:prstGeom prst="rect">
            <a:avLst/>
          </a:prstGeom>
          <a:noFill/>
        </p:spPr>
        <p:txBody>
          <a:bodyPr wrap="none" lIns="91440" tIns="45720" rIns="91440" bIns="45720">
            <a:spAutoFit/>
          </a:bodyPr>
          <a:lstStyle/>
          <a:p>
            <a:pPr algn="ctr"/>
            <a:r>
              <a:rPr lang="zh-CN" altLang="en-US" sz="5400" b="1" cap="none" spc="0" dirty="0">
                <a:ln w="10160">
                  <a:noFill/>
                  <a:prstDash val="solid"/>
                </a:ln>
                <a:solidFill>
                  <a:schemeClr val="tx2"/>
                </a:solidFill>
                <a:effectLst>
                  <a:outerShdw blurRad="38100" dist="22860" dir="5400000" algn="tl" rotWithShape="0">
                    <a:srgbClr val="000000">
                      <a:alpha val="30000"/>
                    </a:srgbClr>
                  </a:outerShdw>
                </a:effectLst>
              </a:rPr>
              <a:t>“</a:t>
            </a:r>
            <a:endParaRPr lang="zh-CN" altLang="en-US" sz="5400" b="1" cap="none" spc="0" dirty="0">
              <a:ln w="10160">
                <a:noFill/>
                <a:prstDash val="solid"/>
              </a:ln>
              <a:solidFill>
                <a:schemeClr val="tx2"/>
              </a:solidFill>
              <a:effectLst>
                <a:outerShdw blurRad="38100" dist="22860" dir="5400000" algn="tl" rotWithShape="0">
                  <a:srgbClr val="000000">
                    <a:alpha val="30000"/>
                  </a:srgbClr>
                </a:outerShdw>
              </a:effectLst>
            </a:endParaRPr>
          </a:p>
        </p:txBody>
      </p:sp>
      <p:sp>
        <p:nvSpPr>
          <p:cNvPr id="7" name="矩形 14"/>
          <p:cNvSpPr/>
          <p:nvPr/>
        </p:nvSpPr>
        <p:spPr>
          <a:xfrm>
            <a:off x="670999" y="1203849"/>
            <a:ext cx="11045162" cy="5290485"/>
          </a:xfrm>
          <a:custGeom>
            <a:avLst/>
            <a:gdLst>
              <a:gd name="connsiteX0" fmla="*/ 0 w 9359758"/>
              <a:gd name="connsiteY0" fmla="*/ 0 h 3747053"/>
              <a:gd name="connsiteX1" fmla="*/ 9359758 w 9359758"/>
              <a:gd name="connsiteY1" fmla="*/ 0 h 3747053"/>
              <a:gd name="connsiteX2" fmla="*/ 9359758 w 9359758"/>
              <a:gd name="connsiteY2" fmla="*/ 3747053 h 3747053"/>
              <a:gd name="connsiteX3" fmla="*/ 0 w 9359758"/>
              <a:gd name="connsiteY3" fmla="*/ 3747053 h 3747053"/>
              <a:gd name="connsiteX4" fmla="*/ 0 w 9359758"/>
              <a:gd name="connsiteY4" fmla="*/ 0 h 3747053"/>
              <a:gd name="connsiteX0-1" fmla="*/ 0 w 9588358"/>
              <a:gd name="connsiteY0-2" fmla="*/ 0 h 3806688"/>
              <a:gd name="connsiteX1-3" fmla="*/ 9588358 w 9588358"/>
              <a:gd name="connsiteY1-4" fmla="*/ 59635 h 3806688"/>
              <a:gd name="connsiteX2-5" fmla="*/ 9588358 w 9588358"/>
              <a:gd name="connsiteY2-6" fmla="*/ 3806688 h 3806688"/>
              <a:gd name="connsiteX3-7" fmla="*/ 228600 w 9588358"/>
              <a:gd name="connsiteY3-8" fmla="*/ 3806688 h 3806688"/>
              <a:gd name="connsiteX4-9" fmla="*/ 0 w 9588358"/>
              <a:gd name="connsiteY4-10" fmla="*/ 0 h 3806688"/>
              <a:gd name="connsiteX0-11" fmla="*/ 0 w 9797080"/>
              <a:gd name="connsiteY0-12" fmla="*/ 0 h 3806688"/>
              <a:gd name="connsiteX1-13" fmla="*/ 9797080 w 9797080"/>
              <a:gd name="connsiteY1-14" fmla="*/ 39756 h 3806688"/>
              <a:gd name="connsiteX2-15" fmla="*/ 9588358 w 9797080"/>
              <a:gd name="connsiteY2-16" fmla="*/ 3806688 h 3806688"/>
              <a:gd name="connsiteX3-17" fmla="*/ 228600 w 9797080"/>
              <a:gd name="connsiteY3-18" fmla="*/ 3806688 h 3806688"/>
              <a:gd name="connsiteX4-19" fmla="*/ 0 w 9797080"/>
              <a:gd name="connsiteY4-20" fmla="*/ 0 h 3806688"/>
              <a:gd name="connsiteX0-21" fmla="*/ 0 w 9797080"/>
              <a:gd name="connsiteY0-22" fmla="*/ 0 h 3806688"/>
              <a:gd name="connsiteX1-23" fmla="*/ 9797080 w 9797080"/>
              <a:gd name="connsiteY1-24" fmla="*/ 39756 h 3806688"/>
              <a:gd name="connsiteX2-25" fmla="*/ 9588358 w 9797080"/>
              <a:gd name="connsiteY2-26" fmla="*/ 3806688 h 3806688"/>
              <a:gd name="connsiteX3-27" fmla="*/ 347870 w 9797080"/>
              <a:gd name="connsiteY3-28" fmla="*/ 3806688 h 3806688"/>
              <a:gd name="connsiteX4-29" fmla="*/ 0 w 9797080"/>
              <a:gd name="connsiteY4-30" fmla="*/ 0 h 3806688"/>
              <a:gd name="connsiteX0-31" fmla="*/ 0 w 9797080"/>
              <a:gd name="connsiteY0-32" fmla="*/ 0 h 3816627"/>
              <a:gd name="connsiteX1-33" fmla="*/ 9797080 w 9797080"/>
              <a:gd name="connsiteY1-34" fmla="*/ 39756 h 3816627"/>
              <a:gd name="connsiteX2-35" fmla="*/ 9479028 w 9797080"/>
              <a:gd name="connsiteY2-36" fmla="*/ 3816627 h 3816627"/>
              <a:gd name="connsiteX3-37" fmla="*/ 347870 w 9797080"/>
              <a:gd name="connsiteY3-38" fmla="*/ 3806688 h 3816627"/>
              <a:gd name="connsiteX4-39" fmla="*/ 0 w 9797080"/>
              <a:gd name="connsiteY4-40" fmla="*/ 0 h 3816627"/>
              <a:gd name="connsiteX0-41" fmla="*/ 0 w 9797080"/>
              <a:gd name="connsiteY0-42" fmla="*/ 0 h 3816627"/>
              <a:gd name="connsiteX1-43" fmla="*/ 9797080 w 9797080"/>
              <a:gd name="connsiteY1-44" fmla="*/ 39756 h 3816627"/>
              <a:gd name="connsiteX2-45" fmla="*/ 9479028 w 9797080"/>
              <a:gd name="connsiteY2-46" fmla="*/ 3816627 h 3816627"/>
              <a:gd name="connsiteX3-47" fmla="*/ 616227 w 9797080"/>
              <a:gd name="connsiteY3-48" fmla="*/ 3806688 h 3816627"/>
              <a:gd name="connsiteX4-49" fmla="*/ 0 w 9797080"/>
              <a:gd name="connsiteY4-50" fmla="*/ 0 h 3816627"/>
              <a:gd name="connsiteX0-51" fmla="*/ 0 w 10154889"/>
              <a:gd name="connsiteY0-52" fmla="*/ 0 h 3816627"/>
              <a:gd name="connsiteX1-53" fmla="*/ 10154889 w 10154889"/>
              <a:gd name="connsiteY1-54" fmla="*/ 377687 h 3816627"/>
              <a:gd name="connsiteX2-55" fmla="*/ 9479028 w 10154889"/>
              <a:gd name="connsiteY2-56" fmla="*/ 3816627 h 3816627"/>
              <a:gd name="connsiteX3-57" fmla="*/ 616227 w 10154889"/>
              <a:gd name="connsiteY3-58" fmla="*/ 3806688 h 3816627"/>
              <a:gd name="connsiteX4-59" fmla="*/ 0 w 10154889"/>
              <a:gd name="connsiteY4-60" fmla="*/ 0 h 3816627"/>
              <a:gd name="connsiteX0-61" fmla="*/ 0 w 10154889"/>
              <a:gd name="connsiteY0-62" fmla="*/ 0 h 4055166"/>
              <a:gd name="connsiteX1-63" fmla="*/ 10154889 w 10154889"/>
              <a:gd name="connsiteY1-64" fmla="*/ 377687 h 4055166"/>
              <a:gd name="connsiteX2-65" fmla="*/ 9359758 w 10154889"/>
              <a:gd name="connsiteY2-66" fmla="*/ 4055166 h 4055166"/>
              <a:gd name="connsiteX3-67" fmla="*/ 616227 w 10154889"/>
              <a:gd name="connsiteY3-68" fmla="*/ 3806688 h 4055166"/>
              <a:gd name="connsiteX4-69" fmla="*/ 0 w 10154889"/>
              <a:gd name="connsiteY4-70" fmla="*/ 0 h 405516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154889" h="4055166">
                <a:moveTo>
                  <a:pt x="0" y="0"/>
                </a:moveTo>
                <a:lnTo>
                  <a:pt x="10154889" y="377687"/>
                </a:lnTo>
                <a:lnTo>
                  <a:pt x="9359758" y="4055166"/>
                </a:lnTo>
                <a:lnTo>
                  <a:pt x="616227" y="3806688"/>
                </a:lnTo>
                <a:lnTo>
                  <a:pt x="0" y="0"/>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970049" y="2328125"/>
            <a:ext cx="7932234" cy="1508105"/>
          </a:xfrm>
          <a:prstGeom prst="rect">
            <a:avLst/>
          </a:prstGeom>
          <a:noFill/>
        </p:spPr>
        <p:txBody>
          <a:bodyPr wrap="square" rtlCol="0">
            <a:spAutoFit/>
          </a:bodyPr>
          <a:lstStyle/>
          <a:p>
            <a:pPr algn="ctr"/>
            <a:r>
              <a:rPr lang="en-US" altLang="zh-CN" sz="3600" b="1" dirty="0" err="1"/>
              <a:t>Lec</a:t>
            </a:r>
            <a:r>
              <a:rPr lang="en-US" altLang="zh-CN" sz="3600" b="1" dirty="0"/>
              <a:t> 0x1</a:t>
            </a:r>
            <a:endParaRPr lang="en-US" altLang="zh-CN" sz="3600" b="1" dirty="0"/>
          </a:p>
          <a:p>
            <a:pPr algn="ctr"/>
            <a:endParaRPr lang="en-US" altLang="zh-CN" sz="2800" b="1" dirty="0"/>
          </a:p>
          <a:p>
            <a:pPr algn="ctr"/>
            <a:r>
              <a:rPr lang="zh-CN" altLang="en-US" sz="2800" b="1" dirty="0"/>
              <a:t>总体实验介绍要求   注意事项</a:t>
            </a:r>
            <a:endParaRPr lang="zh-CN" altLang="en-US" sz="28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实验时间安排</a:t>
            </a:r>
            <a:endParaRPr lang="zh-CN" altLang="en-US" dirty="0"/>
          </a:p>
        </p:txBody>
      </p:sp>
      <p:sp>
        <p:nvSpPr>
          <p:cNvPr id="7" name="左大括号 6"/>
          <p:cNvSpPr/>
          <p:nvPr/>
        </p:nvSpPr>
        <p:spPr>
          <a:xfrm rot="5400000">
            <a:off x="6137937" y="649559"/>
            <a:ext cx="184108" cy="2968225"/>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左大括号 8"/>
          <p:cNvSpPr/>
          <p:nvPr/>
        </p:nvSpPr>
        <p:spPr>
          <a:xfrm rot="5400000">
            <a:off x="10847070" y="892810"/>
            <a:ext cx="227965" cy="2437765"/>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左大括号 9"/>
          <p:cNvSpPr/>
          <p:nvPr/>
        </p:nvSpPr>
        <p:spPr>
          <a:xfrm rot="5400000">
            <a:off x="8781415" y="829310"/>
            <a:ext cx="227965" cy="23622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p:cNvSpPr txBox="1"/>
          <p:nvPr/>
        </p:nvSpPr>
        <p:spPr>
          <a:xfrm>
            <a:off x="5645960" y="1681514"/>
            <a:ext cx="1166013" cy="369332"/>
          </a:xfrm>
          <a:prstGeom prst="rect">
            <a:avLst/>
          </a:prstGeom>
          <a:noFill/>
        </p:spPr>
        <p:txBody>
          <a:bodyPr wrap="square" rtlCol="0">
            <a:spAutoFit/>
          </a:bodyPr>
          <a:lstStyle/>
          <a:p>
            <a:pPr algn="ctr"/>
            <a:r>
              <a:rPr lang="zh-CN" altLang="en-US" b="1" dirty="0"/>
              <a:t>硬件实验</a:t>
            </a:r>
            <a:endParaRPr lang="zh-CN" altLang="en-US" b="1" dirty="0"/>
          </a:p>
        </p:txBody>
      </p:sp>
      <p:sp>
        <p:nvSpPr>
          <p:cNvPr id="12" name="文本框 11"/>
          <p:cNvSpPr txBox="1"/>
          <p:nvPr/>
        </p:nvSpPr>
        <p:spPr>
          <a:xfrm>
            <a:off x="10112375" y="1670685"/>
            <a:ext cx="1853565" cy="368300"/>
          </a:xfrm>
          <a:prstGeom prst="rect">
            <a:avLst/>
          </a:prstGeom>
          <a:noFill/>
        </p:spPr>
        <p:txBody>
          <a:bodyPr wrap="square" rtlCol="0">
            <a:spAutoFit/>
          </a:bodyPr>
          <a:lstStyle/>
          <a:p>
            <a:pPr algn="ctr"/>
            <a:r>
              <a:rPr lang="zh-CN" altLang="en-US" b="1" dirty="0"/>
              <a:t>软硬件</a:t>
            </a:r>
            <a:r>
              <a:rPr lang="zh-CN" altLang="en-US" b="1" dirty="0"/>
              <a:t>综合实验</a:t>
            </a:r>
            <a:endParaRPr lang="zh-CN" altLang="en-US" b="1" dirty="0"/>
          </a:p>
        </p:txBody>
      </p:sp>
      <p:sp>
        <p:nvSpPr>
          <p:cNvPr id="13" name="文本框 12"/>
          <p:cNvSpPr txBox="1"/>
          <p:nvPr/>
        </p:nvSpPr>
        <p:spPr>
          <a:xfrm>
            <a:off x="8045491" y="1526977"/>
            <a:ext cx="1166013" cy="369332"/>
          </a:xfrm>
          <a:prstGeom prst="rect">
            <a:avLst/>
          </a:prstGeom>
          <a:noFill/>
        </p:spPr>
        <p:txBody>
          <a:bodyPr wrap="square" rtlCol="0">
            <a:spAutoFit/>
          </a:bodyPr>
          <a:lstStyle/>
          <a:p>
            <a:pPr algn="ctr"/>
            <a:r>
              <a:rPr lang="zh-CN" altLang="en-US" b="1" dirty="0"/>
              <a:t>软件实验</a:t>
            </a:r>
            <a:endParaRPr lang="zh-CN" altLang="en-US" b="1" dirty="0"/>
          </a:p>
        </p:txBody>
      </p:sp>
      <p:pic>
        <p:nvPicPr>
          <p:cNvPr id="3" name="图片 2"/>
          <p:cNvPicPr>
            <a:picLocks noChangeAspect="1"/>
          </p:cNvPicPr>
          <p:nvPr/>
        </p:nvPicPr>
        <p:blipFill>
          <a:blip r:embed="rId1"/>
          <a:stretch>
            <a:fillRect/>
          </a:stretch>
        </p:blipFill>
        <p:spPr>
          <a:xfrm>
            <a:off x="0" y="2275840"/>
            <a:ext cx="12192000" cy="23056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实验分值及简介</a:t>
            </a:r>
            <a:endParaRPr lang="zh-CN" altLang="en-US" dirty="0"/>
          </a:p>
        </p:txBody>
      </p:sp>
      <p:sp>
        <p:nvSpPr>
          <p:cNvPr id="3" name="文本框 2"/>
          <p:cNvSpPr txBox="1"/>
          <p:nvPr/>
        </p:nvSpPr>
        <p:spPr>
          <a:xfrm>
            <a:off x="594731" y="1112741"/>
            <a:ext cx="11597269" cy="4092575"/>
          </a:xfrm>
          <a:prstGeom prst="rect">
            <a:avLst/>
          </a:prstGeom>
          <a:noFill/>
        </p:spPr>
        <p:txBody>
          <a:bodyPr wrap="square" rtlCol="0">
            <a:spAutoFit/>
          </a:bodyPr>
          <a:lstStyle/>
          <a:p>
            <a:r>
              <a:rPr lang="en-US" altLang="zh-CN" sz="2400" b="1" dirty="0"/>
              <a:t>Lab1</a:t>
            </a:r>
            <a:r>
              <a:rPr lang="zh-CN" altLang="en-US" sz="2400" b="1" dirty="0"/>
              <a:t>：</a:t>
            </a:r>
            <a:r>
              <a:rPr lang="zh-CN" altLang="en-US" sz="2400" b="1" dirty="0"/>
              <a:t>动态分支预测</a:t>
            </a:r>
            <a:r>
              <a:rPr lang="en-US" altLang="zh-CN" sz="2400" b="1" dirty="0"/>
              <a:t>								10  </a:t>
            </a:r>
            <a:r>
              <a:rPr lang="zh-CN" altLang="en-US" sz="2400" b="1" dirty="0"/>
              <a:t>分</a:t>
            </a:r>
            <a:endParaRPr lang="en-US" altLang="zh-CN" b="1" dirty="0"/>
          </a:p>
          <a:p>
            <a:r>
              <a:rPr lang="en-US" altLang="zh-CN" sz="2400" dirty="0"/>
              <a:t>	</a:t>
            </a:r>
            <a:r>
              <a:rPr lang="en-US" altLang="zh-CN" sz="2000" dirty="0"/>
              <a:t>——</a:t>
            </a:r>
            <a:r>
              <a:rPr lang="zh-CN" altLang="en-US" sz="2000" dirty="0"/>
              <a:t>在计算机系统二完成的五级流水线中加入分支预测</a:t>
            </a:r>
            <a:endParaRPr lang="en-US" altLang="zh-CN" sz="2000" dirty="0"/>
          </a:p>
          <a:p>
            <a:r>
              <a:rPr lang="en-US" altLang="zh-CN" sz="2400" b="1" dirty="0"/>
              <a:t>Lab2</a:t>
            </a:r>
            <a:r>
              <a:rPr lang="zh-CN" altLang="en-US" sz="2400" b="1" dirty="0"/>
              <a:t>：</a:t>
            </a:r>
            <a:r>
              <a:rPr lang="en-US" altLang="zh-CN" sz="2400" b="1" dirty="0"/>
              <a:t>Cache </a:t>
            </a:r>
            <a:r>
              <a:rPr lang="en-US" altLang="zh-CN" sz="2400" b="1" dirty="0"/>
              <a:t>Design								10  </a:t>
            </a:r>
            <a:r>
              <a:rPr lang="zh-CN" altLang="en-US" sz="2400" b="1" dirty="0"/>
              <a:t>分</a:t>
            </a:r>
            <a:endParaRPr lang="en-US" altLang="zh-CN" sz="2400" b="1" dirty="0"/>
          </a:p>
          <a:p>
            <a:r>
              <a:rPr lang="en-US" altLang="zh-CN" sz="2400" b="1" dirty="0"/>
              <a:t>	</a:t>
            </a:r>
            <a:r>
              <a:rPr lang="en-US" altLang="zh-CN" sz="2000" dirty="0"/>
              <a:t>——</a:t>
            </a:r>
            <a:r>
              <a:rPr lang="zh-CN" altLang="en-US" sz="2000" dirty="0"/>
              <a:t>在</a:t>
            </a:r>
            <a:r>
              <a:rPr lang="en-US" altLang="zh-CN" sz="2000" dirty="0"/>
              <a:t>（</a:t>
            </a:r>
            <a:r>
              <a:rPr lang="zh-CN" altLang="en-US" sz="2000" dirty="0"/>
              <a:t>上一个实验的</a:t>
            </a:r>
            <a:r>
              <a:rPr lang="en-US" altLang="zh-CN" sz="2000" dirty="0"/>
              <a:t>）</a:t>
            </a:r>
            <a:r>
              <a:rPr lang="zh-CN" altLang="en-US" sz="2000" dirty="0"/>
              <a:t>五级流水线中加入</a:t>
            </a:r>
            <a:r>
              <a:rPr lang="en-US" altLang="zh-CN" sz="2000" dirty="0"/>
              <a:t>Cache</a:t>
            </a:r>
            <a:endParaRPr lang="en-US" altLang="zh-CN" sz="2000" dirty="0"/>
          </a:p>
          <a:p>
            <a:r>
              <a:rPr lang="en-US" altLang="zh-CN" sz="2400" b="1" dirty="0"/>
              <a:t>Lab3</a:t>
            </a:r>
            <a:r>
              <a:rPr lang="zh-CN" altLang="en-US" sz="2400" b="1" dirty="0"/>
              <a:t>：虚拟内存</a:t>
            </a:r>
            <a:r>
              <a:rPr lang="en-US" altLang="zh-CN" sz="2400" b="1" dirty="0"/>
              <a:t>								8   </a:t>
            </a:r>
            <a:r>
              <a:rPr lang="zh-CN" altLang="en-US" sz="2400" b="1" dirty="0"/>
              <a:t>分</a:t>
            </a:r>
            <a:endParaRPr lang="en-US" altLang="zh-CN" sz="2400" b="1" dirty="0"/>
          </a:p>
          <a:p>
            <a:r>
              <a:rPr lang="en-US" altLang="zh-CN" sz="2400" b="1" dirty="0"/>
              <a:t>	</a:t>
            </a:r>
            <a:r>
              <a:rPr lang="en-US" altLang="zh-CN" sz="2000" dirty="0"/>
              <a:t>——OS</a:t>
            </a:r>
            <a:r>
              <a:rPr lang="zh-CN" altLang="en-US" sz="2000" dirty="0"/>
              <a:t>实现虚拟地址到物理地址的映射</a:t>
            </a:r>
            <a:endParaRPr lang="en-US" altLang="zh-CN" sz="2400" b="1" dirty="0"/>
          </a:p>
          <a:p>
            <a:r>
              <a:rPr lang="en-US" altLang="zh-CN" sz="2400" b="1" dirty="0"/>
              <a:t>Lab4</a:t>
            </a:r>
            <a:r>
              <a:rPr lang="zh-CN" altLang="en-US" sz="2400" b="1" dirty="0"/>
              <a:t>：用户模式</a:t>
            </a:r>
            <a:r>
              <a:rPr lang="en-US" altLang="zh-CN" sz="2400" b="1" dirty="0"/>
              <a:t>								8   </a:t>
            </a:r>
            <a:r>
              <a:rPr lang="zh-CN" altLang="en-US" sz="2400" b="1" dirty="0"/>
              <a:t>分</a:t>
            </a:r>
            <a:endParaRPr lang="en-US" altLang="zh-CN" sz="2400" b="1" dirty="0"/>
          </a:p>
          <a:p>
            <a:r>
              <a:rPr lang="en-US" altLang="zh-CN" sz="2000" dirty="0"/>
              <a:t>	——OS</a:t>
            </a:r>
            <a:r>
              <a:rPr lang="zh-CN" altLang="en-US" sz="2000" dirty="0"/>
              <a:t>支持特权态的隔离</a:t>
            </a:r>
            <a:endParaRPr lang="en-US" altLang="zh-CN" sz="2000" dirty="0"/>
          </a:p>
          <a:p>
            <a:r>
              <a:rPr lang="en-US" altLang="zh-CN" sz="2400" b="1" dirty="0"/>
              <a:t>Lab5</a:t>
            </a:r>
            <a:r>
              <a:rPr lang="zh-CN" altLang="en-US" sz="2400" b="1" dirty="0"/>
              <a:t>：</a:t>
            </a:r>
            <a:r>
              <a:rPr lang="en-US" altLang="zh-CN" sz="2400" b="1" dirty="0"/>
              <a:t>kernel </a:t>
            </a:r>
            <a:r>
              <a:rPr lang="zh-CN" altLang="en-US" sz="2400" b="1" dirty="0"/>
              <a:t>缺页</a:t>
            </a:r>
            <a:r>
              <a:rPr lang="en-US" altLang="zh-CN" sz="2400" b="1" dirty="0"/>
              <a:t>+fork							10  </a:t>
            </a:r>
            <a:r>
              <a:rPr lang="zh-CN" altLang="en-US" sz="2400" b="1" dirty="0"/>
              <a:t>分</a:t>
            </a:r>
            <a:endParaRPr lang="en-US" altLang="zh-CN" sz="2400" b="1" dirty="0"/>
          </a:p>
          <a:p>
            <a:r>
              <a:rPr lang="en-US" altLang="zh-CN" sz="2400" b="1" dirty="0"/>
              <a:t>	</a:t>
            </a:r>
            <a:r>
              <a:rPr lang="en-US" altLang="zh-CN" sz="2000" dirty="0"/>
              <a:t>——OS</a:t>
            </a:r>
            <a:r>
              <a:rPr lang="zh-CN" altLang="en-US" sz="2000" dirty="0"/>
              <a:t>实现</a:t>
            </a:r>
            <a:r>
              <a:rPr lang="en-US" altLang="zh-CN" sz="2000" dirty="0"/>
              <a:t>fork</a:t>
            </a:r>
            <a:r>
              <a:rPr lang="zh-CN" altLang="en-US" sz="2000" dirty="0"/>
              <a:t>系统调用与缺页异常处理</a:t>
            </a:r>
            <a:endParaRPr lang="en-US" altLang="zh-CN" sz="2400" b="1" dirty="0"/>
          </a:p>
          <a:p>
            <a:r>
              <a:rPr lang="en-US" altLang="zh-CN" sz="2400" b="1" dirty="0"/>
              <a:t>Project</a:t>
            </a:r>
            <a:r>
              <a:rPr lang="zh-CN" altLang="en-US" sz="2400" b="1" dirty="0"/>
              <a:t>：</a:t>
            </a:r>
            <a:r>
              <a:rPr lang="en-US" altLang="zh-CN" sz="2400" b="1" dirty="0"/>
              <a:t>TBD									14  </a:t>
            </a:r>
            <a:r>
              <a:rPr lang="zh-CN" altLang="en-US" sz="2400" b="1" dirty="0"/>
              <a:t>分</a:t>
            </a:r>
            <a:endParaRPr lang="en-US" altLang="zh-CN" sz="2000" dirty="0"/>
          </a:p>
        </p:txBody>
      </p:sp>
      <p:sp>
        <p:nvSpPr>
          <p:cNvPr id="4" name="文本框 3"/>
          <p:cNvSpPr txBox="1"/>
          <p:nvPr/>
        </p:nvSpPr>
        <p:spPr>
          <a:xfrm>
            <a:off x="8794594" y="5570200"/>
            <a:ext cx="2899317" cy="460375"/>
          </a:xfrm>
          <a:prstGeom prst="rect">
            <a:avLst/>
          </a:prstGeom>
          <a:noFill/>
        </p:spPr>
        <p:txBody>
          <a:bodyPr wrap="square" rtlCol="0">
            <a:spAutoFit/>
          </a:bodyPr>
          <a:lstStyle/>
          <a:p>
            <a:pPr algn="ctr"/>
            <a:r>
              <a:rPr lang="en-US" altLang="zh-CN" sz="2400" b="1" dirty="0"/>
              <a:t>SUM = 60’</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注意事项</a:t>
            </a:r>
            <a:r>
              <a:rPr lang="en-US" altLang="zh-CN" dirty="0"/>
              <a:t>-</a:t>
            </a:r>
            <a:r>
              <a:rPr lang="zh-CN" altLang="en-US" dirty="0"/>
              <a:t>作业要求</a:t>
            </a:r>
            <a:endParaRPr lang="zh-CN" altLang="en-US" dirty="0"/>
          </a:p>
        </p:txBody>
      </p:sp>
      <p:sp>
        <p:nvSpPr>
          <p:cNvPr id="4" name="文本框 3"/>
          <p:cNvSpPr txBox="1"/>
          <p:nvPr/>
        </p:nvSpPr>
        <p:spPr>
          <a:xfrm>
            <a:off x="594731" y="1153129"/>
            <a:ext cx="11530361" cy="5200650"/>
          </a:xfrm>
          <a:prstGeom prst="rect">
            <a:avLst/>
          </a:prstGeom>
          <a:noFill/>
        </p:spPr>
        <p:txBody>
          <a:bodyPr wrap="square">
            <a:spAutoFit/>
          </a:bodyPr>
          <a:lstStyle/>
          <a:p>
            <a:r>
              <a:rPr lang="zh-CN" altLang="en-US" sz="2800" b="1" dirty="0"/>
              <a:t>作业提交要求：</a:t>
            </a:r>
            <a:endParaRPr lang="en-US" altLang="zh-CN" sz="2800" b="1" dirty="0"/>
          </a:p>
          <a:p>
            <a:r>
              <a:rPr lang="zh-CN" altLang="en-US" sz="2000" dirty="0"/>
              <a:t>命名要求见实验指导的</a:t>
            </a:r>
            <a:r>
              <a:rPr lang="zh-CN" altLang="en-US" sz="2000" dirty="0"/>
              <a:t>实验提交部分</a:t>
            </a:r>
            <a:endParaRPr lang="en-US" altLang="zh-CN" sz="2000" dirty="0"/>
          </a:p>
          <a:p>
            <a:endParaRPr lang="en-US" altLang="zh-CN" sz="2000" dirty="0"/>
          </a:p>
          <a:p>
            <a:r>
              <a:rPr lang="zh-CN" altLang="en-US" sz="2800" b="1" dirty="0"/>
              <a:t>验收标准：</a:t>
            </a:r>
            <a:endParaRPr lang="en-US" altLang="zh-CN" sz="2800" b="1" dirty="0"/>
          </a:p>
          <a:p>
            <a:r>
              <a:rPr lang="zh-CN" altLang="en-US" sz="2000" dirty="0"/>
              <a:t>在验收时，助教会提出与实验相关的问题，如代码设计、实现细节及遇到的问题等。</a:t>
            </a:r>
            <a:endParaRPr lang="zh-CN" altLang="en-US" sz="2000" dirty="0"/>
          </a:p>
          <a:p>
            <a:endParaRPr lang="zh-CN" altLang="en-US" sz="2000" dirty="0"/>
          </a:p>
          <a:p>
            <a:r>
              <a:rPr lang="zh-CN" altLang="en-US" sz="2000" dirty="0"/>
              <a:t>回答问题不通过则验收不通过，但仍然可以下次继续验收，直到通过为止。并且不会有刁钻问题，请无需有压力。</a:t>
            </a:r>
            <a:r>
              <a:rPr lang="zh-CN" altLang="en-US" sz="2000" b="1" dirty="0">
                <a:latin typeface="Arial Bold" panose="020B0604020202090204" charset="0"/>
              </a:rPr>
              <a:t>但请务必认真对待验收问题</a:t>
            </a:r>
            <a:r>
              <a:rPr lang="en-US" altLang="zh-CN" sz="2000" b="1" dirty="0">
                <a:latin typeface="Arial Bold" panose="020B0604020202090204" charset="0"/>
              </a:rPr>
              <a:t>，</a:t>
            </a:r>
            <a:r>
              <a:rPr lang="zh-CN" altLang="en-US" sz="2000" b="1" dirty="0">
                <a:latin typeface="Arial Bold" panose="020B0604020202090204" charset="0"/>
              </a:rPr>
              <a:t>你的验收分数将与你对于相关问题的回答正确程度以及完整程度强相关。</a:t>
            </a:r>
            <a:endParaRPr lang="zh-CN" altLang="en-US" sz="2000" b="1" dirty="0">
              <a:latin typeface="Arial Bold" panose="020B0604020202090204" charset="0"/>
            </a:endParaRPr>
          </a:p>
          <a:p>
            <a:endParaRPr lang="zh-CN" altLang="en-US" sz="2000" b="1" dirty="0">
              <a:latin typeface="Arial Bold" panose="020B0604020202090204" charset="0"/>
            </a:endParaRPr>
          </a:p>
          <a:p>
            <a:r>
              <a:rPr lang="zh-CN" altLang="en-US" sz="2800" b="1" dirty="0">
                <a:latin typeface="Arial Bold" panose="020B0604020202090204" charset="0"/>
              </a:rPr>
              <a:t>迟交惩罚</a:t>
            </a:r>
            <a:r>
              <a:rPr lang="en-US" altLang="zh-CN" sz="2800" b="1" dirty="0">
                <a:latin typeface="Arial Bold" panose="020B0604020202090204" charset="0"/>
              </a:rPr>
              <a:t>：</a:t>
            </a:r>
            <a:endParaRPr lang="en-US" altLang="zh-CN" sz="2800" b="1" dirty="0">
              <a:latin typeface="Arial Bold" panose="020B0604020202090204" charset="0"/>
            </a:endParaRPr>
          </a:p>
          <a:p>
            <a:r>
              <a:rPr lang="zh-CN" altLang="en-US" sz="2000" dirty="0"/>
              <a:t>所有迟交的实验将按照超过截止日期</a:t>
            </a:r>
            <a:r>
              <a:rPr lang="en-US" altLang="zh-CN" sz="2000" dirty="0"/>
              <a:t> </a:t>
            </a:r>
            <a:r>
              <a:rPr lang="en-US" altLang="zh-CN" sz="2000" b="1" dirty="0"/>
              <a:t>10%/ </a:t>
            </a:r>
            <a:r>
              <a:rPr lang="zh-CN" altLang="en-US" sz="2000" b="1" dirty="0"/>
              <a:t>天</a:t>
            </a:r>
            <a:r>
              <a:rPr lang="en-US" altLang="zh-CN" sz="2000" dirty="0"/>
              <a:t> </a:t>
            </a:r>
            <a:r>
              <a:rPr lang="zh-CN" altLang="en-US" sz="2000" dirty="0"/>
              <a:t>的标准扣除相应分数。</a:t>
            </a:r>
            <a:endParaRPr lang="zh-CN" altLang="en-US" sz="2800" b="1" dirty="0"/>
          </a:p>
          <a:p>
            <a:endParaRPr lang="zh-CN" altLang="en-US" sz="2000" dirty="0"/>
          </a:p>
          <a:p>
            <a:r>
              <a:rPr lang="en-US" altLang="zh-CN" sz="2800" b="1" dirty="0"/>
              <a:t>Issue </a:t>
            </a:r>
            <a:r>
              <a:rPr lang="zh-CN" altLang="en-US" sz="2800" b="1" dirty="0"/>
              <a:t>管理与激励措施：</a:t>
            </a:r>
            <a:endParaRPr lang="en-US" altLang="zh-CN" sz="2800" b="1" dirty="0"/>
          </a:p>
          <a:p>
            <a:r>
              <a:rPr lang="zh-CN" altLang="en-US" sz="2000" dirty="0"/>
              <a:t>在助教回答问题之后，我们希望你可以将问题描述和解决方法发布在</a:t>
            </a:r>
            <a:r>
              <a:rPr lang="en-US" altLang="zh-CN" sz="2000" dirty="0"/>
              <a:t>Issue</a:t>
            </a:r>
            <a:r>
              <a:rPr lang="zh-CN" altLang="en-US" sz="2000" dirty="0"/>
              <a:t>上</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注意事项</a:t>
            </a:r>
            <a:r>
              <a:rPr lang="en-US" altLang="zh-CN" dirty="0"/>
              <a:t>-</a:t>
            </a:r>
            <a:r>
              <a:rPr lang="zh-CN" altLang="en-US" dirty="0"/>
              <a:t>实验报告规范</a:t>
            </a:r>
            <a:endParaRPr lang="zh-CN" altLang="en-US" dirty="0"/>
          </a:p>
        </p:txBody>
      </p:sp>
      <p:sp>
        <p:nvSpPr>
          <p:cNvPr id="4" name="文本框 3"/>
          <p:cNvSpPr txBox="1"/>
          <p:nvPr/>
        </p:nvSpPr>
        <p:spPr>
          <a:xfrm>
            <a:off x="564995" y="1036360"/>
            <a:ext cx="11537796" cy="5200650"/>
          </a:xfrm>
          <a:prstGeom prst="rect">
            <a:avLst/>
          </a:prstGeom>
          <a:noFill/>
        </p:spPr>
        <p:txBody>
          <a:bodyPr wrap="square">
            <a:spAutoFit/>
          </a:bodyPr>
          <a:lstStyle/>
          <a:p>
            <a:r>
              <a:rPr lang="zh-CN" altLang="en-US" dirty="0"/>
              <a:t>报告包含以下部分：</a:t>
            </a:r>
            <a:endParaRPr lang="en-US" altLang="zh-CN" dirty="0"/>
          </a:p>
          <a:p>
            <a:endParaRPr lang="zh-CN" altLang="en-US" dirty="0"/>
          </a:p>
          <a:p>
            <a:r>
              <a:rPr lang="zh-CN" altLang="en-US" sz="2000" b="1" dirty="0"/>
              <a:t>实验目的：</a:t>
            </a:r>
            <a:endParaRPr lang="zh-CN" altLang="en-US" sz="2000" b="1" dirty="0"/>
          </a:p>
          <a:p>
            <a:r>
              <a:rPr lang="en-US" altLang="zh-CN" dirty="0"/>
              <a:t>	</a:t>
            </a:r>
            <a:r>
              <a:rPr lang="zh-CN" altLang="en-US" dirty="0"/>
              <a:t>用简短概括性的一句或几句话讲讲你所理解的本次实验想要你学会什么。</a:t>
            </a:r>
            <a:endParaRPr lang="en-US" altLang="zh-CN" dirty="0"/>
          </a:p>
          <a:p>
            <a:endParaRPr lang="zh-CN" altLang="en-US" dirty="0"/>
          </a:p>
          <a:p>
            <a:r>
              <a:rPr lang="zh-CN" altLang="en-US" sz="2000" b="1" dirty="0"/>
              <a:t>实验过程：</a:t>
            </a:r>
            <a:endParaRPr lang="zh-CN" altLang="en-US" sz="2000" b="1" dirty="0"/>
          </a:p>
          <a:p>
            <a:r>
              <a:rPr lang="en-US" altLang="zh-CN" dirty="0"/>
              <a:t>	</a:t>
            </a:r>
            <a:r>
              <a:rPr lang="zh-CN" altLang="en-US" dirty="0"/>
              <a:t>记录完成实验过程中的遇到的问题及其解决方案。我们鼓励讲述</a:t>
            </a:r>
            <a:r>
              <a:rPr lang="en-US" altLang="zh-CN" dirty="0"/>
              <a:t> debug </a:t>
            </a:r>
            <a:r>
              <a:rPr lang="zh-CN" altLang="en-US" dirty="0"/>
              <a:t>的过程，以及解决</a:t>
            </a:r>
            <a:r>
              <a:rPr lang="en-US" altLang="zh-CN" dirty="0"/>
              <a:t> bug </a:t>
            </a:r>
            <a:r>
              <a:rPr lang="zh-CN" altLang="en-US" dirty="0"/>
              <a:t>的方法。</a:t>
            </a:r>
            <a:endParaRPr lang="zh-CN" altLang="en-US" dirty="0"/>
          </a:p>
          <a:p>
            <a:endParaRPr lang="zh-CN" altLang="en-US" dirty="0"/>
          </a:p>
          <a:p>
            <a:r>
              <a:rPr lang="zh-CN" altLang="en-US" sz="2000" b="1" dirty="0"/>
              <a:t>思考题：</a:t>
            </a:r>
            <a:endParaRPr lang="zh-CN" altLang="en-US" sz="2000" b="1" dirty="0"/>
          </a:p>
          <a:p>
            <a:r>
              <a:rPr lang="en-US" altLang="zh-CN" dirty="0"/>
              <a:t>	</a:t>
            </a:r>
            <a:r>
              <a:rPr lang="zh-CN" altLang="en-US" dirty="0"/>
              <a:t>请不要直接使用</a:t>
            </a:r>
            <a:r>
              <a:rPr lang="en-US" altLang="zh-CN" dirty="0"/>
              <a:t> LLM </a:t>
            </a:r>
            <a:r>
              <a:rPr lang="zh-CN" altLang="en-US" dirty="0"/>
              <a:t>完成我们提供的思考题，使用</a:t>
            </a:r>
            <a:r>
              <a:rPr lang="en-US" altLang="zh-CN" dirty="0"/>
              <a:t> AI </a:t>
            </a:r>
            <a:r>
              <a:rPr lang="zh-CN" altLang="en-US" dirty="0"/>
              <a:t>帮助学习是被鼓励的，但是有明显</a:t>
            </a:r>
            <a:r>
              <a:rPr lang="en-US" altLang="zh-CN" dirty="0"/>
              <a:t> LLM </a:t>
            </a:r>
            <a:r>
              <a:rPr lang="zh-CN" altLang="en-US" dirty="0"/>
              <a:t>风格的回答将被扣除相应分数。</a:t>
            </a:r>
            <a:endParaRPr lang="zh-CN" altLang="en-US" dirty="0"/>
          </a:p>
          <a:p>
            <a:endParaRPr lang="zh-CN" altLang="en-US" dirty="0"/>
          </a:p>
          <a:p>
            <a:r>
              <a:rPr lang="zh-CN" altLang="en-US" sz="2000" b="1" dirty="0"/>
              <a:t>心得体会：</a:t>
            </a:r>
            <a:endParaRPr lang="zh-CN" altLang="en-US" sz="2000" b="1" dirty="0"/>
          </a:p>
          <a:p>
            <a:r>
              <a:rPr lang="en-US" altLang="zh-CN" b="1" dirty="0">
                <a:solidFill>
                  <a:srgbClr val="FF0000"/>
                </a:solidFill>
              </a:rPr>
              <a:t>	</a:t>
            </a:r>
            <a:r>
              <a:rPr lang="zh-CN" altLang="en-US" b="1" dirty="0">
                <a:solidFill>
                  <a:srgbClr val="FF0000"/>
                </a:solidFill>
              </a:rPr>
              <a:t>我们十分鼓励表达你真实的感受与想法</a:t>
            </a:r>
            <a:r>
              <a:rPr lang="zh-CN" altLang="en-US" dirty="0"/>
              <a:t>，而不是如</a:t>
            </a:r>
            <a:r>
              <a:rPr lang="en-US" altLang="zh-CN" dirty="0"/>
              <a:t>****</a:t>
            </a:r>
            <a:r>
              <a:rPr lang="zh-CN" altLang="en-US" dirty="0"/>
              <a:t>报告上写的官方而正确的废话。你既可以反思实验中遇到的挑战和收获，也</a:t>
            </a:r>
            <a:r>
              <a:rPr lang="zh-CN" altLang="en-US" b="1" dirty="0">
                <a:solidFill>
                  <a:srgbClr val="FF0000"/>
                </a:solidFill>
              </a:rPr>
              <a:t>可以表达对这次实验设计的吐槽与攻击，也可以表达对助教工作的不足与未来的改进，请尽可能畅所欲言。</a:t>
            </a:r>
            <a:endParaRPr lang="zh-CN" altLang="en-US" b="1" dirty="0">
              <a:solidFill>
                <a:srgbClr val="FF0000"/>
              </a:solidFill>
            </a:endParaRPr>
          </a:p>
          <a:p>
            <a:r>
              <a:rPr lang="en-US" altLang="zh-CN" dirty="0"/>
              <a:t>	</a:t>
            </a:r>
            <a:r>
              <a:rPr lang="zh-CN" altLang="en-US" dirty="0"/>
              <a:t>我们不希望实验报告成为程式化的重复性任务。为了减轻大家的负担，大家</a:t>
            </a:r>
            <a:r>
              <a:rPr lang="zh-CN" altLang="en-US" b="1" dirty="0">
                <a:solidFill>
                  <a:srgbClr val="FF0000"/>
                </a:solidFill>
              </a:rPr>
              <a:t>不需要在实验报告上卷字数，页数，美观 。只要符合基本要求都能拿到高分数</a:t>
            </a:r>
            <a:r>
              <a:rPr lang="zh-CN" altLang="en-US" dirty="0"/>
              <a:t>。但还是希望大家表达真实想法。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实验前环境</a:t>
            </a:r>
            <a:r>
              <a:rPr lang="zh-CN" altLang="en-US" dirty="0"/>
              <a:t>准备</a:t>
            </a:r>
            <a:endParaRPr lang="zh-CN" altLang="en-US" dirty="0"/>
          </a:p>
        </p:txBody>
      </p:sp>
      <p:sp>
        <p:nvSpPr>
          <p:cNvPr id="5" name="文本框 4"/>
          <p:cNvSpPr txBox="1"/>
          <p:nvPr/>
        </p:nvSpPr>
        <p:spPr>
          <a:xfrm>
            <a:off x="337530" y="1324755"/>
            <a:ext cx="11518985" cy="4092575"/>
          </a:xfrm>
          <a:prstGeom prst="rect">
            <a:avLst/>
          </a:prstGeom>
          <a:noFill/>
        </p:spPr>
        <p:txBody>
          <a:bodyPr wrap="square" rtlCol="0">
            <a:spAutoFit/>
          </a:bodyPr>
          <a:lstStyle/>
          <a:p>
            <a:r>
              <a:rPr lang="zh-CN" altLang="en-US" sz="2000" dirty="0"/>
              <a:t>理论上延续系统二的实验环境即可</a:t>
            </a:r>
            <a:r>
              <a:rPr lang="en-US" altLang="zh-CN" sz="2000" dirty="0"/>
              <a:t>，</a:t>
            </a:r>
            <a:r>
              <a:rPr lang="zh-CN" altLang="en-US" sz="2000" dirty="0"/>
              <a:t>没有新增环境要求</a:t>
            </a:r>
            <a:r>
              <a:rPr lang="en-US" altLang="zh-CN" sz="2000" dirty="0"/>
              <a:t>。</a:t>
            </a:r>
            <a:endParaRPr lang="en-US" altLang="zh-CN" sz="2000" dirty="0"/>
          </a:p>
          <a:p>
            <a:endParaRPr lang="en-US" altLang="zh-CN" sz="2000" dirty="0"/>
          </a:p>
          <a:p>
            <a:r>
              <a:rPr lang="zh-CN" altLang="en-US" sz="2000" dirty="0"/>
              <a:t>对于之前没有做过系统一二的同学，或者想要重新配置环境的同学，你至少需要完成以下环境配置：</a:t>
            </a:r>
            <a:endParaRPr lang="zh-CN" altLang="en-US" sz="2000" dirty="0"/>
          </a:p>
          <a:p>
            <a:endParaRPr lang="zh-CN" altLang="en-US" sz="2000" dirty="0"/>
          </a:p>
          <a:p>
            <a:r>
              <a:rPr lang="en-US" altLang="zh-CN" sz="2000" dirty="0"/>
              <a:t>1.</a:t>
            </a:r>
            <a:r>
              <a:rPr lang="zh-CN" altLang="en-US" sz="2000" dirty="0"/>
              <a:t>编译</a:t>
            </a:r>
            <a:r>
              <a:rPr lang="en-US" altLang="zh-CN" sz="2000" dirty="0"/>
              <a:t>Verilator</a:t>
            </a:r>
            <a:endParaRPr lang="en-US" altLang="zh-CN" sz="2000" dirty="0"/>
          </a:p>
          <a:p>
            <a:r>
              <a:rPr lang="en-US" altLang="zh-CN" sz="2000" dirty="0"/>
              <a:t>2.</a:t>
            </a:r>
            <a:r>
              <a:rPr lang="zh-CN" altLang="en-US" sz="2000" dirty="0"/>
              <a:t>编译</a:t>
            </a:r>
            <a:r>
              <a:rPr lang="en-US" altLang="zh-CN" sz="2000" dirty="0"/>
              <a:t> riscv-unknown-elf- </a:t>
            </a:r>
            <a:r>
              <a:rPr lang="zh-CN" altLang="en-US" sz="2000" dirty="0"/>
              <a:t>工具链</a:t>
            </a:r>
            <a:r>
              <a:rPr lang="en-US" altLang="zh-CN" sz="2000" dirty="0"/>
              <a:t> （</a:t>
            </a:r>
            <a:r>
              <a:rPr lang="zh-CN" altLang="en-US" sz="2000" dirty="0"/>
              <a:t>最好统一使用</a:t>
            </a:r>
            <a:r>
              <a:rPr lang="en-US" altLang="zh-CN" sz="2000" dirty="0"/>
              <a:t> riscv-unknown-elf-）</a:t>
            </a:r>
            <a:endParaRPr lang="en-US" altLang="zh-CN" sz="2000" dirty="0"/>
          </a:p>
          <a:p>
            <a:pPr indent="457200"/>
            <a:r>
              <a:rPr lang="en-US" altLang="zh-CN" sz="2000" dirty="0"/>
              <a:t>- </a:t>
            </a:r>
            <a:r>
              <a:rPr lang="zh-CN" altLang="en-US" sz="2000" dirty="0"/>
              <a:t>对于</a:t>
            </a:r>
            <a:r>
              <a:rPr lang="en-US" altLang="zh-CN" sz="2000" dirty="0"/>
              <a:t>Ubuntu24.04</a:t>
            </a:r>
            <a:r>
              <a:rPr lang="zh-CN" altLang="en-US" sz="2000" dirty="0"/>
              <a:t>以上版本的同学</a:t>
            </a:r>
            <a:r>
              <a:rPr lang="en-US" altLang="zh-CN" sz="2000" dirty="0"/>
              <a:t>，</a:t>
            </a:r>
            <a:r>
              <a:rPr lang="zh-CN" altLang="en-US" sz="2000" dirty="0"/>
              <a:t>可以直接通过</a:t>
            </a:r>
            <a:r>
              <a:rPr lang="en-US" altLang="zh-CN" sz="2000" dirty="0"/>
              <a:t>apt</a:t>
            </a:r>
            <a:r>
              <a:rPr lang="zh-CN" altLang="en-US" sz="2000" dirty="0"/>
              <a:t>包管理器安装</a:t>
            </a:r>
            <a:endParaRPr lang="zh-CN" altLang="en-US" sz="2000" dirty="0"/>
          </a:p>
          <a:p>
            <a:pPr indent="457200"/>
            <a:r>
              <a:rPr lang="en-US" altLang="zh-CN" sz="2000" dirty="0"/>
              <a:t>- </a:t>
            </a:r>
            <a:r>
              <a:rPr lang="zh-CN" altLang="en-US" sz="2000" dirty="0"/>
              <a:t>对于</a:t>
            </a:r>
            <a:r>
              <a:rPr lang="en-US" altLang="zh-CN" sz="2000" dirty="0"/>
              <a:t>Ubuntu22.04</a:t>
            </a:r>
            <a:r>
              <a:rPr lang="zh-CN" altLang="en-US" sz="2000" dirty="0"/>
              <a:t>版本的同学，包管理器安装版本过旧</a:t>
            </a:r>
            <a:r>
              <a:rPr lang="en-US" altLang="zh-CN" sz="2000" dirty="0"/>
              <a:t>，</a:t>
            </a:r>
            <a:r>
              <a:rPr lang="zh-CN" altLang="en-US" sz="2000" dirty="0"/>
              <a:t>务必手动编译工具链</a:t>
            </a:r>
            <a:endParaRPr lang="en-US" altLang="zh-CN" sz="2000" dirty="0"/>
          </a:p>
          <a:p>
            <a:r>
              <a:rPr lang="en-US" altLang="zh-CN" sz="2000" dirty="0"/>
              <a:t>3.</a:t>
            </a:r>
            <a:r>
              <a:rPr lang="zh-CN" altLang="en-US" sz="2000" dirty="0"/>
              <a:t>编译</a:t>
            </a:r>
            <a:r>
              <a:rPr lang="en-US" altLang="zh-CN" sz="2000" dirty="0"/>
              <a:t>OpenSBI,Spike</a:t>
            </a:r>
            <a:endParaRPr lang="en-US" altLang="zh-CN" sz="2000" dirty="0"/>
          </a:p>
          <a:p>
            <a:r>
              <a:rPr lang="en-US" altLang="zh-CN" sz="2000" dirty="0"/>
              <a:t>4.</a:t>
            </a:r>
            <a:r>
              <a:rPr lang="zh-CN" altLang="en-US" sz="2000" dirty="0"/>
              <a:t>编译</a:t>
            </a:r>
            <a:r>
              <a:rPr lang="en-US" altLang="zh-CN" sz="2000" dirty="0"/>
              <a:t>QEMU</a:t>
            </a:r>
            <a:endParaRPr lang="en-US" altLang="zh-CN" sz="2000" dirty="0"/>
          </a:p>
          <a:p>
            <a:endParaRPr lang="en-US" altLang="zh-CN" sz="2000" dirty="0"/>
          </a:p>
          <a:p>
            <a:r>
              <a:rPr lang="zh-CN" altLang="en-US" sz="2000" dirty="0"/>
              <a:t>环境配置文档见</a:t>
            </a:r>
            <a:r>
              <a:rPr lang="en-US" altLang="zh-CN" sz="2000" dirty="0"/>
              <a:t>：https://zju-sys.pages.zjusct.io/sys3/sys3-sp26/env/</a:t>
            </a:r>
            <a:endParaRPr lang="en-US" altLang="zh-CN" sz="2000" dirty="0"/>
          </a:p>
          <a:p>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1265</Words>
  <Application>WPS 文字</Application>
  <PresentationFormat>宽屏</PresentationFormat>
  <Paragraphs>83</Paragraphs>
  <Slides>6</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6</vt:i4>
      </vt:variant>
    </vt:vector>
  </HeadingPairs>
  <TitlesOfParts>
    <vt:vector size="23" baseType="lpstr">
      <vt:lpstr>Arial</vt:lpstr>
      <vt:lpstr>宋体</vt:lpstr>
      <vt:lpstr>Wingdings</vt:lpstr>
      <vt:lpstr>方正粗雅宋简体</vt:lpstr>
      <vt:lpstr>汉仪书宋二KW</vt:lpstr>
      <vt:lpstr>Arial Bold</vt:lpstr>
      <vt:lpstr>等线</vt:lpstr>
      <vt:lpstr>汉仪中等线KW</vt:lpstr>
      <vt:lpstr>微软雅黑</vt:lpstr>
      <vt:lpstr>汉仪旗黑</vt:lpstr>
      <vt:lpstr>宋体</vt:lpstr>
      <vt:lpstr>Arial Unicode MS</vt:lpstr>
      <vt:lpstr>等线 Light</vt:lpstr>
      <vt:lpstr>Calibri</vt:lpstr>
      <vt:lpstr>Helvetica Neue</vt:lpstr>
      <vt:lpstr>方正粗雅宋简体</vt:lpstr>
      <vt:lpstr>Office 主题​​</vt:lpstr>
      <vt:lpstr> </vt:lpstr>
      <vt:lpstr>实验时间安排</vt:lpstr>
      <vt:lpstr>实验分值及简介</vt:lpstr>
      <vt:lpstr>注意事项-作业要求</vt:lpstr>
      <vt:lpstr>注意事项-实验报告规范</vt:lpstr>
      <vt:lpstr>实验前环境准备</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Xingzhi Zhang</dc:creator>
  <cp:lastModifiedBy>张书怀</cp:lastModifiedBy>
  <cp:revision>26</cp:revision>
  <dcterms:created xsi:type="dcterms:W3CDTF">2026-03-04T05:10:58Z</dcterms:created>
  <dcterms:modified xsi:type="dcterms:W3CDTF">2026-03-04T05:10:58Z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CF4EE06FB0B0758E7CB1A7698C5E1B0C_42</vt:lpwstr>
  </property>
  <property fmtid="{D5CDD505-2E9C-101B-9397-08002B2CF9AE}" pid="3" name="KSOProductBuildVer">
    <vt:lpwstr>2052-12.1.24031.24031</vt:lpwstr>
  </property>
</Properties>
</file>