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9" r:id="rId6"/>
    <p:sldId id="275" r:id="rId7"/>
    <p:sldId id="273" r:id="rId8"/>
    <p:sldId id="272" r:id="rId9"/>
    <p:sldId id="274" r:id="rId10"/>
    <p:sldId id="276" r:id="rId11"/>
    <p:sldId id="279" r:id="rId12"/>
    <p:sldId id="277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2"/>
    <p:restoredTop sz="88675"/>
  </p:normalViewPr>
  <p:slideViewPr>
    <p:cSldViewPr snapToGrid="0">
      <p:cViewPr>
        <p:scale>
          <a:sx n="84" d="100"/>
          <a:sy n="84" d="100"/>
        </p:scale>
        <p:origin x="6208" y="2616"/>
      </p:cViewPr>
      <p:guideLst/>
    </p:cSldViewPr>
  </p:slid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DE195-31E1-F341-BDAF-D84DA7A60D42}" type="datetimeFigureOut">
              <a:rPr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B078B-B495-434F-BBCF-3FC380F8FA06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B078B-B495-434F-BBCF-3FC380F8FA06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lab4 </a:t>
            </a:r>
            <a:r>
              <a:rPr lang="zh-CN" altLang="en-US"/>
              <a:t>是怎么处理用户态程序的</a:t>
            </a:r>
            <a:r>
              <a:rPr lang="en-US" altLang="zh-CN"/>
              <a:t>？</a:t>
            </a:r>
            <a:endParaRPr lang="en-US" altLang="zh-CN"/>
          </a:p>
          <a:p>
            <a:r>
              <a:rPr lang="zh-CN" altLang="en-US"/>
              <a:t>无文件系统</a:t>
            </a:r>
            <a:r>
              <a:rPr lang="en-US" altLang="zh-CN"/>
              <a:t>-&gt;</a:t>
            </a:r>
            <a:r>
              <a:rPr lang="zh-CN" altLang="en-US"/>
              <a:t>物理内存模拟磁盘</a:t>
            </a:r>
            <a:r>
              <a:rPr lang="en-US" altLang="zh-CN"/>
              <a:t>，</a:t>
            </a:r>
            <a:r>
              <a:rPr lang="zh-CN" altLang="en-US"/>
              <a:t>把</a:t>
            </a:r>
            <a:r>
              <a:rPr lang="en-US" altLang="zh-CN"/>
              <a:t>uapp.o </a:t>
            </a:r>
            <a:r>
              <a:rPr lang="zh-CN" altLang="en-US"/>
              <a:t>嵌入</a:t>
            </a:r>
            <a:r>
              <a:rPr lang="en-US" altLang="zh-CN"/>
              <a:t>kernel data</a:t>
            </a:r>
            <a:r>
              <a:rPr lang="zh-CN" altLang="en-US"/>
              <a:t>段</a:t>
            </a:r>
            <a:endParaRPr lang="zh-CN" altLang="en-US"/>
          </a:p>
          <a:p>
            <a:r>
              <a:rPr lang="zh-CN" altLang="en-US"/>
              <a:t>每一个用户态进程初始化时</a:t>
            </a:r>
            <a:r>
              <a:rPr lang="en-US" altLang="zh-CN"/>
              <a:t>，</a:t>
            </a:r>
            <a:r>
              <a:rPr lang="zh-CN" altLang="en-US"/>
              <a:t>分配</a:t>
            </a:r>
            <a:r>
              <a:rPr lang="en-US" altLang="zh-CN"/>
              <a:t>uapp</a:t>
            </a:r>
            <a:r>
              <a:rPr lang="zh-CN" altLang="en-US"/>
              <a:t>大小的物理页</a:t>
            </a:r>
            <a:r>
              <a:rPr lang="en-US" altLang="zh-CN"/>
              <a:t>，</a:t>
            </a:r>
            <a:r>
              <a:rPr lang="zh-CN" altLang="en-US"/>
              <a:t>建立一个映射</a:t>
            </a:r>
            <a:r>
              <a:rPr lang="en-US" altLang="zh-CN"/>
              <a:t>（</a:t>
            </a:r>
            <a:r>
              <a:rPr lang="zh-CN" altLang="en-US"/>
              <a:t>当然还有用户态栈</a:t>
            </a:r>
            <a:r>
              <a:rPr lang="en-US" altLang="zh-CN"/>
              <a:t>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主要解决第一个</a:t>
            </a:r>
            <a:r>
              <a:rPr lang="zh-CN" altLang="en-US"/>
              <a:t>问题</a:t>
            </a:r>
            <a:endParaRPr lang="zh-CN" altLang="en-US"/>
          </a:p>
          <a:p>
            <a:r>
              <a:rPr lang="zh-CN" altLang="en-US"/>
              <a:t>第二个问题可以通过</a:t>
            </a:r>
            <a:r>
              <a:rPr lang="en-US" altLang="zh-CN"/>
              <a:t>ELF loading </a:t>
            </a:r>
            <a:r>
              <a:rPr lang="zh-CN" altLang="en-US"/>
              <a:t>解决</a:t>
            </a:r>
            <a:r>
              <a:rPr lang="en-US" altLang="zh-CN"/>
              <a:t>（</a:t>
            </a:r>
            <a:r>
              <a:rPr lang="zh-CN" altLang="en-US"/>
              <a:t>非</a:t>
            </a:r>
            <a:r>
              <a:rPr lang="en-US" altLang="zh-CN"/>
              <a:t>lab5</a:t>
            </a:r>
            <a:r>
              <a:rPr lang="zh-CN" altLang="en-US"/>
              <a:t>内容</a:t>
            </a:r>
            <a:r>
              <a:rPr lang="en-US" altLang="zh-CN"/>
              <a:t>，</a:t>
            </a:r>
            <a:r>
              <a:rPr lang="zh-CN" altLang="en-US"/>
              <a:t>可自行尝试解决</a:t>
            </a:r>
            <a:r>
              <a:rPr lang="en-US" altLang="zh-CN"/>
              <a:t>）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正常</a:t>
            </a:r>
            <a:r>
              <a:rPr lang="en-US" altLang="zh-CN"/>
              <a:t>OS：</a:t>
            </a:r>
            <a:r>
              <a:rPr lang="zh-CN" altLang="en-US"/>
              <a:t>磁盘</a:t>
            </a:r>
            <a:r>
              <a:rPr lang="en-US" altLang="zh-CN"/>
              <a:t>；lab：</a:t>
            </a:r>
            <a:r>
              <a:rPr lang="zh-CN" altLang="en-US"/>
              <a:t>用户程序内容暂存在</a:t>
            </a:r>
            <a:r>
              <a:rPr lang="en-US" altLang="zh-CN"/>
              <a:t> _suapp ~ _euapp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第一次访问时再复制到新物理页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区分</a:t>
            </a:r>
            <a:r>
              <a:rPr lang="en-US" altLang="zh-CN"/>
              <a:t>spec, stval </a:t>
            </a:r>
            <a:r>
              <a:rPr lang="zh-CN" altLang="en-US"/>
              <a:t>中的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en-US" altLang="zh-CN"/>
              <a:t>CSR</a:t>
            </a:r>
            <a:r>
              <a:rPr lang="zh-CN" altLang="en-US"/>
              <a:t>的设置由硬件</a:t>
            </a:r>
            <a:r>
              <a:rPr lang="zh-CN" altLang="en-US"/>
              <a:t>完成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每个用户态进程的内核页表部分都是一样的</a:t>
            </a:r>
            <a:r>
              <a:rPr lang="en-US" altLang="zh-CN">
                <a:sym typeface="+mn-ea"/>
              </a:rPr>
              <a:t>。</a:t>
            </a:r>
            <a:r>
              <a:rPr lang="zh-CN" altLang="en-US">
                <a:sym typeface="+mn-ea"/>
              </a:rPr>
              <a:t>用户态页表有不同的实现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由于记录了</a:t>
            </a:r>
            <a:r>
              <a:rPr lang="en-US" altLang="zh-CN">
                <a:sym typeface="+mn-ea"/>
              </a:rPr>
              <a:t>VMA，</a:t>
            </a:r>
            <a:r>
              <a:rPr lang="zh-CN" altLang="en-US">
                <a:sym typeface="+mn-ea"/>
              </a:rPr>
              <a:t>可以从空开始一步一步由</a:t>
            </a:r>
            <a:r>
              <a:rPr lang="en-US" altLang="zh-CN">
                <a:sym typeface="+mn-ea"/>
              </a:rPr>
              <a:t>PF</a:t>
            </a:r>
            <a:r>
              <a:rPr lang="zh-CN" altLang="en-US">
                <a:sym typeface="+mn-ea"/>
              </a:rPr>
              <a:t>创建</a:t>
            </a:r>
            <a:r>
              <a:rPr lang="en-US" altLang="zh-CN">
                <a:sym typeface="+mn-ea"/>
              </a:rPr>
              <a:t>；</a:t>
            </a:r>
            <a:r>
              <a:rPr lang="zh-CN" altLang="en-US">
                <a:sym typeface="+mn-ea"/>
              </a:rPr>
              <a:t>也可以引入</a:t>
            </a:r>
            <a:r>
              <a:rPr lang="en-US" altLang="zh-CN">
                <a:sym typeface="+mn-ea"/>
              </a:rPr>
              <a:t>CoW，</a:t>
            </a:r>
            <a:r>
              <a:rPr lang="zh-CN" altLang="en-US">
                <a:sym typeface="+mn-ea"/>
              </a:rPr>
              <a:t>直接</a:t>
            </a:r>
            <a:r>
              <a:rPr lang="zh-CN" altLang="en-US">
                <a:sym typeface="+mn-ea"/>
              </a:rPr>
              <a:t>共享父页表内容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A22CD-01FC-5747-982D-7D1CF94D61B1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9C28A-3622-B344-98A9-BD964218D813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A22CD-01FC-5747-982D-7D1CF94D61B1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Lab5: Page Fault &amp; Fork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ZJU Sys3 @z3phyr / Lou Siyu</a:t>
            </a:r>
            <a:endParaRPr lang="en-US"/>
          </a:p>
          <a:p>
            <a:r>
              <a:rPr lang="en-US"/>
              <a:t>May.6 2026</a:t>
            </a:r>
            <a:endParaRPr lang="en-US"/>
          </a:p>
        </p:txBody>
      </p:sp>
      <p:pic>
        <p:nvPicPr>
          <p:cNvPr id="4" name="Picture 3" descr="A blue logo with a bird and text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4866" y="282223"/>
            <a:ext cx="1230489" cy="12304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Lab5 solve</a:t>
            </a:r>
            <a:r>
              <a:rPr lang="en-US" altLang="zh-CN"/>
              <a:t>？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97865" y="1691005"/>
            <a:ext cx="6689725" cy="3490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Lab4 :</a:t>
            </a:r>
            <a:endParaRPr lang="en-US" altLang="zh-CN"/>
          </a:p>
          <a:p>
            <a:r>
              <a:rPr lang="en-US" altLang="zh-CN"/>
              <a:t>task_init Pre-map user program and user stack</a:t>
            </a:r>
            <a:endParaRPr lang="en-US" altLang="zh-CN"/>
          </a:p>
          <a:p>
            <a:r>
              <a:rPr lang="en-US" altLang="zh-CN"/>
              <a:t>with program RWX and stack RW 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Problem？</a:t>
            </a:r>
            <a:endParaRPr lang="en-US" altLang="zh-CN"/>
          </a:p>
          <a:p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large user program occupies too much physical memory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coarse</a:t>
            </a:r>
            <a:r>
              <a:rPr lang="en-US" altLang="zh-CN"/>
              <a:t> granularity of permission division, .text writable,  .data executable, low security 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...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Solution: Demand Paging</a:t>
            </a: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9125" y="1691005"/>
            <a:ext cx="5683885" cy="4159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965200" y="492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Demand Paging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26745" y="1691005"/>
            <a:ext cx="5981065" cy="4811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页表初始为空</a:t>
            </a:r>
            <a:r>
              <a:rPr lang="en-US" altLang="zh-CN"/>
              <a:t>，</a:t>
            </a:r>
            <a:r>
              <a:rPr lang="zh-CN" altLang="en-US"/>
              <a:t>只加载需要用到的页，其余内容仍在磁盘中。若后续访问到未被载入的页时，</a:t>
            </a:r>
            <a:r>
              <a:rPr lang="en-US" altLang="zh-CN"/>
              <a:t>MMU</a:t>
            </a:r>
            <a:r>
              <a:rPr lang="zh-CN" altLang="en-US"/>
              <a:t>在硬件上触发缺页异常，内核的异常处理程序去加载对应的页，建立映射，用户态继续执行</a:t>
            </a:r>
            <a:r>
              <a:rPr lang="en-US" altLang="zh-CN"/>
              <a:t> 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Problem？</a:t>
            </a:r>
            <a:endParaRPr lang="en-US" altLang="zh-CN"/>
          </a:p>
          <a:p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“</a:t>
            </a:r>
            <a:r>
              <a:rPr lang="zh-CN" altLang="en-US"/>
              <a:t>由于</a:t>
            </a:r>
            <a:r>
              <a:rPr lang="en-US" altLang="zh-CN"/>
              <a:t>demand paging</a:t>
            </a:r>
            <a:r>
              <a:rPr lang="zh-CN" altLang="en-US"/>
              <a:t>引入的缺页异常</a:t>
            </a:r>
            <a:r>
              <a:rPr lang="en-US" altLang="zh-CN"/>
              <a:t>” </a:t>
            </a: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   		vs </a:t>
            </a:r>
            <a:endParaRPr lang="en-US" altLang="zh-CN"/>
          </a:p>
          <a:p>
            <a:pPr indent="457200">
              <a:buFont typeface="Arial" panose="020B0604020202090204" pitchFamily="34" charset="0"/>
              <a:buNone/>
            </a:pPr>
            <a:r>
              <a:rPr lang="en-US" altLang="zh-CN"/>
              <a:t>   “</a:t>
            </a:r>
            <a:r>
              <a:rPr lang="zh-CN" altLang="en-US"/>
              <a:t>非法地址访问的缺页异常</a:t>
            </a:r>
            <a:r>
              <a:rPr lang="en-US" altLang="zh-CN"/>
              <a:t>”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en-US"/>
              <a:t>Their handler should be different, how to distinguish?</a:t>
            </a:r>
            <a:endParaRPr lang="en-US"/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Solution: VMA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880" y="1188085"/>
            <a:ext cx="5546725" cy="17252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880" y="3201035"/>
            <a:ext cx="5401310" cy="17259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VMA (Virtual Memory Area)</a:t>
            </a:r>
            <a:endParaRPr lang="en-US" altLang="zh-CN"/>
          </a:p>
        </p:txBody>
      </p:sp>
      <p:pic>
        <p:nvPicPr>
          <p:cNvPr id="5" name="图片 4" descr="memoryDescriptorAndMemoryAre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0530" y="1635125"/>
            <a:ext cx="4573270" cy="41535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79830" y="1940560"/>
            <a:ext cx="491617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per process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file-backed / anonymous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created when init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created by mmap / stack growth ...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distinguish legal/illegal page faults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used by find_vma() in page fault handler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87140"/>
            <a:ext cx="5570855" cy="2564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Data Structure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5395" y="1421130"/>
            <a:ext cx="5005070" cy="25006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395" y="3973830"/>
            <a:ext cx="5149850" cy="262318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43610" y="1482090"/>
            <a:ext cx="527621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Your Task: Implement </a:t>
            </a:r>
            <a:r>
              <a:rPr lang="en-US" altLang="zh-CN" b="1">
                <a:sym typeface="+mn-ea"/>
              </a:rPr>
              <a:t>vm_area_struct</a:t>
            </a:r>
            <a:endParaRPr lang="zh-CN" altLang="en-US" b="1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Doubly linked list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Supported operations：</a:t>
            </a:r>
            <a:endParaRPr lang="en-US" altLang="zh-CN"/>
          </a:p>
          <a:p>
            <a:pPr marL="800100" lvl="1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find_vma</a:t>
            </a:r>
            <a:endParaRPr lang="en-US" altLang="zh-CN"/>
          </a:p>
          <a:p>
            <a:pPr marL="800100" lvl="1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do_mmap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b="1">
                <a:sym typeface="+mn-ea"/>
              </a:rPr>
              <a:t>Your Task: create VMA for all tasks when init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tip: VMA flags ≠ PTE flags</a:t>
            </a:r>
            <a:endParaRPr lang="en-US" altLang="zh-CN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10" y="4343400"/>
            <a:ext cx="4338955" cy="26371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RISC-V Page Fault Handling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159510" y="1416050"/>
            <a:ext cx="43065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scause hints Page Fault Types: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12: Instruction page fault (execution)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13: Load page fault (read)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15: Store/AMO page fault (write)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sepc hints faulting instruction PC</a:t>
            </a: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stval hints Page Fault Address</a:t>
            </a: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b="1"/>
              <a:t>Your Task: Implement do_page_fault</a:t>
            </a:r>
            <a:endParaRPr lang="en-US" altLang="zh-CN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6405" y="1482725"/>
            <a:ext cx="5001895" cy="45789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35" y="3723005"/>
            <a:ext cx="5487670" cy="3016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Fork Syscall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5115" y="553085"/>
            <a:ext cx="4962525" cy="58870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0" y="1637030"/>
            <a:ext cx="5946775" cy="4803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altLang="zh-CN" b="1"/>
              <a:t>fork semantics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parent returns child pid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child returns 0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both continue after fork()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b="1"/>
              <a:t>both memory spaces have the same content</a:t>
            </a:r>
            <a:endParaRPr lang="en-US" altLang="zh-CN" b="1"/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b="1"/>
              <a:t>kernel needs to copy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task_struct + kernel stack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thread context / pt_regs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mm_struct / VMA list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user page table</a:t>
            </a: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b="1"/>
              <a:t>syscall entry</a:t>
            </a:r>
            <a:endParaRPr lang="en-US" altLang="zh-CN" b="1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if regs-&gt;a7 == __NR_clone, call sys_clone( )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sys_clone </a:t>
            </a:r>
            <a:r>
              <a:rPr lang="en-US" altLang="en-US"/>
              <a:t>→</a:t>
            </a:r>
            <a:r>
              <a:rPr lang="en-US" altLang="zh-CN"/>
              <a:t> do_fork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do_fork: what to do in detail?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838200" y="1447800"/>
            <a:ext cx="7117080" cy="5291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Kernel State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allocate one page for child task_struct + kernel stack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copy parent task page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assign child pid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set child counter = 0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set child thread.ra = ret_from_fork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set child thread.sp = copied kernel stack position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set child pt_regs-&gt;a0 = 0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parent returns child pid</a:t>
            </a: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User State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copy mm , VMA linked list (deep copy)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 altLang="zh-CN"/>
              <a:t>copy page table (empty or copy with CoW)</a:t>
            </a: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Why Child process returns from ret_from_fork?</a:t>
            </a: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b="1"/>
              <a:t>Parent Process and Child Process have the Same State</a:t>
            </a:r>
            <a:endParaRPr lang="en-US" altLang="zh-CN" b="1"/>
          </a:p>
          <a:p>
            <a:pPr indent="0">
              <a:buFont typeface="Arial" panose="020B0604020202090204" pitchFamily="34" charset="0"/>
              <a:buNone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Parent: do_fork -&gt; sys_clone -&gt; trap_handler -&gt; _traps -&gt; $sepc</a:t>
            </a: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/>
              <a:t>Child: __switch_to -&gt; ret_from_fork -&gt; ... -&gt; $sepc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Copy On Write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90195" y="1610360"/>
            <a:ext cx="697611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Why CoW (Copy On Write) ? What’s the insight?</a:t>
            </a:r>
            <a:endParaRPr lang="en-US" altLang="zh-CN"/>
          </a:p>
          <a:p>
            <a:endParaRPr lang="en-US" altLang="zh-CN"/>
          </a:p>
          <a:p>
            <a:r>
              <a:rPr lang="en-US" altLang="zh-CN" b="1"/>
              <a:t>Read-only memory does not need to be copied.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/>
              <a:t>How to implement?</a:t>
            </a:r>
            <a:endParaRPr lang="en-US" altLang="zh-CN"/>
          </a:p>
          <a:p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add ref count and new API in physical memory management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maintain ref counts when handling </a:t>
            </a:r>
            <a:r>
              <a:rPr lang="en-US" altLang="zh-CN"/>
              <a:t>fork and page fault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add shared bit in PTE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change writable pages to read-only and shared when fork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When a referenced party needs to write, create a new page table entry and allocate a new page, then call deref_page()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When </a:t>
            </a:r>
            <a:r>
              <a:rPr lang="en-US" altLang="zh-CN">
                <a:sym typeface="+mn-ea"/>
              </a:rPr>
              <a:t>a referenced party needs to write, </a:t>
            </a:r>
            <a:r>
              <a:rPr lang="en-US" altLang="zh-CN"/>
              <a:t>If it’s the last one using the page, just change shared page back to writable </a:t>
            </a:r>
            <a:endParaRPr lang="en-US" altLang="zh-CN"/>
          </a:p>
          <a:p>
            <a:endParaRPr lang="en-US" altLang="zh-CN"/>
          </a:p>
          <a:p>
            <a:r>
              <a:rPr lang="en-US" altLang="zh-CN" b="1"/>
              <a:t>Your Task: Implement fork syscall with CoW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/>
              <a:t>tip: Both parent and child PTEs must be changed to R+S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425" y="3781425"/>
            <a:ext cx="5422265" cy="28378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530" y="851535"/>
            <a:ext cx="5001895" cy="29298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Testing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21665" y="1374140"/>
            <a:ext cx="671893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PFH1:</a:t>
            </a:r>
            <a:endParaRPr lang="en-US" altLang="zh-CN"/>
          </a:p>
          <a:p>
            <a:r>
              <a:rPr lang="en-US" altLang="zh-CN"/>
              <a:t>• first instruction </a:t>
            </a:r>
            <a:r>
              <a:rPr lang="en-US" altLang="en-US"/>
              <a:t>→</a:t>
            </a:r>
            <a:r>
              <a:rPr lang="en-US" altLang="zh-CN"/>
              <a:t> Instruction page fault</a:t>
            </a:r>
            <a:endParaRPr lang="en-US" altLang="zh-CN"/>
          </a:p>
          <a:p>
            <a:r>
              <a:rPr lang="en-US" altLang="zh-CN"/>
              <a:t>• first stack write </a:t>
            </a:r>
            <a:r>
              <a:rPr lang="en-US" altLang="en-US"/>
              <a:t>→</a:t>
            </a:r>
            <a:r>
              <a:rPr lang="en-US" altLang="zh-CN"/>
              <a:t> Store/AMO page fault</a:t>
            </a:r>
            <a:endParaRPr lang="en-US" altLang="zh-CN"/>
          </a:p>
          <a:p>
            <a:r>
              <a:rPr lang="en-US" altLang="zh-CN"/>
              <a:t>• new code page </a:t>
            </a:r>
            <a:r>
              <a:rPr lang="en-US" altLang="en-US"/>
              <a:t>→</a:t>
            </a:r>
            <a:r>
              <a:rPr lang="en-US" altLang="zh-CN"/>
              <a:t> Instruction page fault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PFH2:</a:t>
            </a:r>
            <a:endParaRPr lang="en-US" altLang="zh-CN"/>
          </a:p>
          <a:p>
            <a:r>
              <a:rPr lang="en-US" altLang="zh-CN"/>
              <a:t>• space crosses page boundaries</a:t>
            </a:r>
            <a:endParaRPr lang="en-US" altLang="zh-CN"/>
          </a:p>
          <a:p>
            <a:r>
              <a:rPr lang="en-US" altLang="zh-CN"/>
              <a:t>• every new 4 KiB page may trigger Store/AMO PF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FORK1 / FORK2:</a:t>
            </a:r>
            <a:endParaRPr lang="en-US" altLang="zh-CN"/>
          </a:p>
          <a:p>
            <a:r>
              <a:rPr lang="en-US" altLang="zh-CN"/>
              <a:t>• parent and child have independent var</a:t>
            </a:r>
            <a:endParaRPr lang="en-US" altLang="zh-CN"/>
          </a:p>
          <a:p>
            <a:r>
              <a:rPr lang="en-US" altLang="zh-CN"/>
              <a:t>• child inherits stack / data contents at fork time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FORK3:</a:t>
            </a:r>
            <a:endParaRPr lang="en-US" altLang="zh-CN"/>
          </a:p>
          <a:p>
            <a:r>
              <a:rPr lang="en-US" altLang="zh-CN"/>
              <a:t>• 3 forks </a:t>
            </a:r>
            <a:r>
              <a:rPr lang="en-US" altLang="en-US"/>
              <a:t>→</a:t>
            </a:r>
            <a:r>
              <a:rPr lang="en-US" altLang="zh-CN"/>
              <a:t> up to 8 user execution flows</a:t>
            </a:r>
            <a:endParaRPr lang="en-US" altLang="zh-CN"/>
          </a:p>
          <a:p>
            <a:r>
              <a:rPr lang="en-US" altLang="zh-CN"/>
              <a:t>• draw process tree and CoW sharing relation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FORK4:</a:t>
            </a:r>
            <a:endParaRPr lang="en-US" altLang="zh-CN"/>
          </a:p>
          <a:p>
            <a:r>
              <a:rPr lang="en-US" altLang="zh-CN"/>
              <a:t>• parent and child Fibonacci sequences evolve independently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556500" y="5699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Your Final Task: Pass All the Tests</a:t>
            </a:r>
            <a:endParaRPr lang="en-US" altLang="zh-CN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3219</Words>
  <Application>WPS 演示</Application>
  <PresentationFormat>Widescreen</PresentationFormat>
  <Paragraphs>151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汉仪书宋二KW</vt:lpstr>
      <vt:lpstr>Aptos Display</vt:lpstr>
      <vt:lpstr>Helvetica Neue</vt:lpstr>
      <vt:lpstr>Aptos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等线 Light</vt:lpstr>
      <vt:lpstr>Office Theme</vt:lpstr>
      <vt:lpstr>1_Office Theme</vt:lpstr>
      <vt:lpstr>Lab5: Page Fault &amp; Fork</vt:lpstr>
      <vt:lpstr>What does Lab5 solve？</vt:lpstr>
      <vt:lpstr>PowerPoint 演示文稿</vt:lpstr>
      <vt:lpstr>VMA (Virtual Memory Area)</vt:lpstr>
      <vt:lpstr>Data Structure</vt:lpstr>
      <vt:lpstr>RISC-V Page Fault Handling</vt:lpstr>
      <vt:lpstr>Fork Syscall</vt:lpstr>
      <vt:lpstr>do_fork: what to do in detail?</vt:lpstr>
      <vt:lpstr>Copy On Write</vt:lpstr>
      <vt:lpstr>Testing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Baolin Zhu</dc:creator>
  <cp:lastModifiedBy>张书怀</cp:lastModifiedBy>
  <cp:revision>58</cp:revision>
  <dcterms:created xsi:type="dcterms:W3CDTF">2026-05-06T09:08:36Z</dcterms:created>
  <dcterms:modified xsi:type="dcterms:W3CDTF">2026-05-06T09:08:36Z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2CBAE46A6752B234D19EF869BDD27933_42</vt:lpwstr>
  </property>
  <property fmtid="{D5CDD505-2E9C-101B-9397-08002B2CF9AE}" pid="3" name="KSOProductBuildVer">
    <vt:lpwstr>2052-12.1.24031.24031</vt:lpwstr>
  </property>
</Properties>
</file>